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7"/>
  </p:notesMasterIdLst>
  <p:sldIdLst>
    <p:sldId id="256" r:id="rId2"/>
    <p:sldId id="257" r:id="rId3"/>
    <p:sldId id="259" r:id="rId4"/>
    <p:sldId id="260" r:id="rId5"/>
    <p:sldId id="267" r:id="rId6"/>
    <p:sldId id="268" r:id="rId7"/>
    <p:sldId id="269" r:id="rId8"/>
    <p:sldId id="270" r:id="rId9"/>
    <p:sldId id="271" r:id="rId10"/>
    <p:sldId id="272" r:id="rId11"/>
    <p:sldId id="273" r:id="rId12"/>
    <p:sldId id="274" r:id="rId13"/>
    <p:sldId id="275" r:id="rId14"/>
    <p:sldId id="276" r:id="rId15"/>
    <p:sldId id="277" r:id="rId16"/>
    <p:sldId id="278" r:id="rId17"/>
    <p:sldId id="279" r:id="rId18"/>
    <p:sldId id="280" r:id="rId19"/>
    <p:sldId id="281" r:id="rId20"/>
    <p:sldId id="282" r:id="rId21"/>
    <p:sldId id="283" r:id="rId22"/>
    <p:sldId id="284" r:id="rId23"/>
    <p:sldId id="285" r:id="rId24"/>
    <p:sldId id="286" r:id="rId25"/>
    <p:sldId id="287" r:id="rId26"/>
    <p:sldId id="288" r:id="rId27"/>
    <p:sldId id="289" r:id="rId28"/>
    <p:sldId id="290" r:id="rId29"/>
    <p:sldId id="291" r:id="rId30"/>
    <p:sldId id="292" r:id="rId31"/>
    <p:sldId id="293" r:id="rId32"/>
    <p:sldId id="294" r:id="rId33"/>
    <p:sldId id="296" r:id="rId34"/>
    <p:sldId id="295" r:id="rId35"/>
    <p:sldId id="297" r:id="rId36"/>
    <p:sldId id="298" r:id="rId37"/>
    <p:sldId id="299" r:id="rId38"/>
    <p:sldId id="301" r:id="rId39"/>
    <p:sldId id="302" r:id="rId40"/>
    <p:sldId id="303" r:id="rId41"/>
    <p:sldId id="304" r:id="rId42"/>
    <p:sldId id="305" r:id="rId43"/>
    <p:sldId id="306" r:id="rId44"/>
    <p:sldId id="307" r:id="rId45"/>
    <p:sldId id="308" r:id="rId46"/>
    <p:sldId id="309" r:id="rId47"/>
    <p:sldId id="310" r:id="rId48"/>
    <p:sldId id="311" r:id="rId49"/>
    <p:sldId id="312" r:id="rId50"/>
    <p:sldId id="313" r:id="rId51"/>
    <p:sldId id="314" r:id="rId52"/>
    <p:sldId id="315" r:id="rId53"/>
    <p:sldId id="316" r:id="rId54"/>
    <p:sldId id="317" r:id="rId55"/>
    <p:sldId id="318" r:id="rId56"/>
    <p:sldId id="319" r:id="rId57"/>
    <p:sldId id="320" r:id="rId58"/>
    <p:sldId id="321" r:id="rId59"/>
    <p:sldId id="322" r:id="rId60"/>
    <p:sldId id="324" r:id="rId61"/>
    <p:sldId id="325" r:id="rId62"/>
    <p:sldId id="326" r:id="rId63"/>
    <p:sldId id="327" r:id="rId64"/>
    <p:sldId id="328" r:id="rId65"/>
    <p:sldId id="329" r:id="rId66"/>
    <p:sldId id="330" r:id="rId67"/>
    <p:sldId id="331" r:id="rId68"/>
    <p:sldId id="332" r:id="rId69"/>
    <p:sldId id="333" r:id="rId70"/>
    <p:sldId id="334" r:id="rId71"/>
    <p:sldId id="337" r:id="rId72"/>
    <p:sldId id="336" r:id="rId73"/>
    <p:sldId id="335" r:id="rId74"/>
    <p:sldId id="338" r:id="rId75"/>
    <p:sldId id="346" r:id="rId76"/>
    <p:sldId id="339" r:id="rId77"/>
    <p:sldId id="340" r:id="rId78"/>
    <p:sldId id="341" r:id="rId79"/>
    <p:sldId id="342" r:id="rId80"/>
    <p:sldId id="343" r:id="rId81"/>
    <p:sldId id="344" r:id="rId82"/>
    <p:sldId id="345" r:id="rId83"/>
    <p:sldId id="347" r:id="rId84"/>
    <p:sldId id="348" r:id="rId85"/>
    <p:sldId id="349" r:id="rId86"/>
    <p:sldId id="350" r:id="rId87"/>
    <p:sldId id="351" r:id="rId88"/>
    <p:sldId id="352" r:id="rId89"/>
    <p:sldId id="353" r:id="rId90"/>
    <p:sldId id="354" r:id="rId91"/>
    <p:sldId id="355" r:id="rId92"/>
    <p:sldId id="356" r:id="rId93"/>
    <p:sldId id="357" r:id="rId94"/>
    <p:sldId id="358" r:id="rId95"/>
    <p:sldId id="359" r:id="rId9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025" autoAdjust="0"/>
    <p:restoredTop sz="94660"/>
  </p:normalViewPr>
  <p:slideViewPr>
    <p:cSldViewPr snapToGrid="0">
      <p:cViewPr varScale="1">
        <p:scale>
          <a:sx n="95" d="100"/>
          <a:sy n="95" d="100"/>
        </p:scale>
        <p:origin x="67" y="2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viewProps" Target="viewProps.xml"/><Relationship Id="rId10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presProps" Target="presProps.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7AC7904-5F3D-4E25-A0A5-9172DF3F922F}" type="datetimeFigureOut">
              <a:rPr lang="en-IN" smtClean="0"/>
              <a:t>26-07-2026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C36D861-7547-493D-8F6B-C4E05B90DEDF}" type="slidenum">
              <a:rPr lang="en-IN" smtClean="0"/>
              <a:t>‹#›</a:t>
            </a:fld>
            <a:endParaRPr lang="en-IN"/>
          </a:p>
        </p:txBody>
      </p:sp>
    </p:spTree>
    <p:extLst>
      <p:ext uri="{BB962C8B-B14F-4D97-AF65-F5344CB8AC3E}">
        <p14:creationId xmlns:p14="http://schemas.microsoft.com/office/powerpoint/2010/main" val="33081949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C36D861-7547-493D-8F6B-C4E05B90DEDF}" type="slidenum">
              <a:rPr lang="en-IN" smtClean="0"/>
              <a:t>13</a:t>
            </a:fld>
            <a:endParaRPr lang="en-IN"/>
          </a:p>
        </p:txBody>
      </p:sp>
    </p:spTree>
    <p:extLst>
      <p:ext uri="{BB962C8B-B14F-4D97-AF65-F5344CB8AC3E}">
        <p14:creationId xmlns:p14="http://schemas.microsoft.com/office/powerpoint/2010/main" val="25448078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CF3CB-1A22-28DF-9E06-A483BEBAC4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446F82-8B0C-ABB1-085D-411F82BF48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1D7FBF-21A4-B029-08FC-8474AF19B16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3BA1369-28AD-2645-E97F-A8479A836ED9}"/>
              </a:ext>
            </a:extLst>
          </p:cNvPr>
          <p:cNvSpPr>
            <a:spLocks noGrp="1"/>
          </p:cNvSpPr>
          <p:nvPr>
            <p:ph type="sldNum" sz="quarter" idx="5"/>
          </p:nvPr>
        </p:nvSpPr>
        <p:spPr/>
        <p:txBody>
          <a:bodyPr/>
          <a:lstStyle/>
          <a:p>
            <a:fld id="{CC36D861-7547-493D-8F6B-C4E05B90DEDF}" type="slidenum">
              <a:rPr lang="en-IN" smtClean="0"/>
              <a:t>14</a:t>
            </a:fld>
            <a:endParaRPr lang="en-IN"/>
          </a:p>
        </p:txBody>
      </p:sp>
    </p:spTree>
    <p:extLst>
      <p:ext uri="{BB962C8B-B14F-4D97-AF65-F5344CB8AC3E}">
        <p14:creationId xmlns:p14="http://schemas.microsoft.com/office/powerpoint/2010/main" val="39687899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0497EA-3889-FC60-418E-1CB874A1CE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05B4DA-689E-04EE-2BFC-66A836F996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CDBBB5-AEA1-54DF-DC75-ACED92E6F27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392986D-F327-3FAC-9A85-E9B1A4FB68D0}"/>
              </a:ext>
            </a:extLst>
          </p:cNvPr>
          <p:cNvSpPr>
            <a:spLocks noGrp="1"/>
          </p:cNvSpPr>
          <p:nvPr>
            <p:ph type="sldNum" sz="quarter" idx="5"/>
          </p:nvPr>
        </p:nvSpPr>
        <p:spPr/>
        <p:txBody>
          <a:bodyPr/>
          <a:lstStyle/>
          <a:p>
            <a:fld id="{CC36D861-7547-493D-8F6B-C4E05B90DEDF}" type="slidenum">
              <a:rPr lang="en-IN" smtClean="0"/>
              <a:t>15</a:t>
            </a:fld>
            <a:endParaRPr lang="en-IN"/>
          </a:p>
        </p:txBody>
      </p:sp>
    </p:spTree>
    <p:extLst>
      <p:ext uri="{BB962C8B-B14F-4D97-AF65-F5344CB8AC3E}">
        <p14:creationId xmlns:p14="http://schemas.microsoft.com/office/powerpoint/2010/main" val="42447524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271A46-E0E1-04E6-08F0-5E79C1750A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202D14-C6D9-FAD8-5940-A4FCB14D15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AD3101-5B27-8AC6-C21F-2409EDB2883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54A0BEC-E38A-71DC-D660-B555CFCDB034}"/>
              </a:ext>
            </a:extLst>
          </p:cNvPr>
          <p:cNvSpPr>
            <a:spLocks noGrp="1"/>
          </p:cNvSpPr>
          <p:nvPr>
            <p:ph type="sldNum" sz="quarter" idx="5"/>
          </p:nvPr>
        </p:nvSpPr>
        <p:spPr/>
        <p:txBody>
          <a:bodyPr/>
          <a:lstStyle/>
          <a:p>
            <a:fld id="{CC36D861-7547-493D-8F6B-C4E05B90DEDF}" type="slidenum">
              <a:rPr lang="en-IN" smtClean="0"/>
              <a:t>16</a:t>
            </a:fld>
            <a:endParaRPr lang="en-IN"/>
          </a:p>
        </p:txBody>
      </p:sp>
    </p:spTree>
    <p:extLst>
      <p:ext uri="{BB962C8B-B14F-4D97-AF65-F5344CB8AC3E}">
        <p14:creationId xmlns:p14="http://schemas.microsoft.com/office/powerpoint/2010/main" val="11822242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6B9B8-6551-9CF6-4C7B-69FDDFF85E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4B2026-C983-D617-D055-642C891174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D6C814-AE66-B3CD-EFDA-99E1D370470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80D92D7-3B61-BDB6-DD82-0DD824071994}"/>
              </a:ext>
            </a:extLst>
          </p:cNvPr>
          <p:cNvSpPr>
            <a:spLocks noGrp="1"/>
          </p:cNvSpPr>
          <p:nvPr>
            <p:ph type="sldNum" sz="quarter" idx="5"/>
          </p:nvPr>
        </p:nvSpPr>
        <p:spPr/>
        <p:txBody>
          <a:bodyPr/>
          <a:lstStyle/>
          <a:p>
            <a:fld id="{CC36D861-7547-493D-8F6B-C4E05B90DEDF}" type="slidenum">
              <a:rPr lang="en-IN" smtClean="0"/>
              <a:t>17</a:t>
            </a:fld>
            <a:endParaRPr lang="en-IN"/>
          </a:p>
        </p:txBody>
      </p:sp>
    </p:spTree>
    <p:extLst>
      <p:ext uri="{BB962C8B-B14F-4D97-AF65-F5344CB8AC3E}">
        <p14:creationId xmlns:p14="http://schemas.microsoft.com/office/powerpoint/2010/main" val="39622631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0185C-3B23-F553-4E2A-50B18163E7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343EEF-F383-225C-B8DE-3A12BB1EA5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87C2D8-6FB8-8576-F838-A97443C1338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DAEE9E6-EDA9-21F5-439C-2284DB3B5EC6}"/>
              </a:ext>
            </a:extLst>
          </p:cNvPr>
          <p:cNvSpPr>
            <a:spLocks noGrp="1"/>
          </p:cNvSpPr>
          <p:nvPr>
            <p:ph type="sldNum" sz="quarter" idx="5"/>
          </p:nvPr>
        </p:nvSpPr>
        <p:spPr/>
        <p:txBody>
          <a:bodyPr/>
          <a:lstStyle/>
          <a:p>
            <a:fld id="{CC36D861-7547-493D-8F6B-C4E05B90DEDF}" type="slidenum">
              <a:rPr lang="en-IN" smtClean="0"/>
              <a:t>18</a:t>
            </a:fld>
            <a:endParaRPr lang="en-IN"/>
          </a:p>
        </p:txBody>
      </p:sp>
    </p:spTree>
    <p:extLst>
      <p:ext uri="{BB962C8B-B14F-4D97-AF65-F5344CB8AC3E}">
        <p14:creationId xmlns:p14="http://schemas.microsoft.com/office/powerpoint/2010/main" val="27541914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E2FC27-E863-6E7C-1CBC-FE39094DF4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8A4739-7D37-3B0E-6D60-EDF99ED0B4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783BD0-700E-9529-DDC6-366A3EDA7FF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C39D6EC-4DB7-924F-DB70-60B45EF2C7E7}"/>
              </a:ext>
            </a:extLst>
          </p:cNvPr>
          <p:cNvSpPr>
            <a:spLocks noGrp="1"/>
          </p:cNvSpPr>
          <p:nvPr>
            <p:ph type="sldNum" sz="quarter" idx="5"/>
          </p:nvPr>
        </p:nvSpPr>
        <p:spPr/>
        <p:txBody>
          <a:bodyPr/>
          <a:lstStyle/>
          <a:p>
            <a:fld id="{CC36D861-7547-493D-8F6B-C4E05B90DEDF}" type="slidenum">
              <a:rPr lang="en-IN" smtClean="0"/>
              <a:t>19</a:t>
            </a:fld>
            <a:endParaRPr lang="en-IN"/>
          </a:p>
        </p:txBody>
      </p:sp>
    </p:spTree>
    <p:extLst>
      <p:ext uri="{BB962C8B-B14F-4D97-AF65-F5344CB8AC3E}">
        <p14:creationId xmlns:p14="http://schemas.microsoft.com/office/powerpoint/2010/main" val="7378259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21B365-2EFF-EF74-825D-DB05DA9F0D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415D2D-D734-6FA9-07A3-B367ABEDBA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740BF9-C5DA-6734-3902-477FCA2C9AC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162C804-4108-F165-37D9-A9237D1E6888}"/>
              </a:ext>
            </a:extLst>
          </p:cNvPr>
          <p:cNvSpPr>
            <a:spLocks noGrp="1"/>
          </p:cNvSpPr>
          <p:nvPr>
            <p:ph type="sldNum" sz="quarter" idx="5"/>
          </p:nvPr>
        </p:nvSpPr>
        <p:spPr/>
        <p:txBody>
          <a:bodyPr/>
          <a:lstStyle/>
          <a:p>
            <a:fld id="{CC36D861-7547-493D-8F6B-C4E05B90DEDF}" type="slidenum">
              <a:rPr lang="en-IN" smtClean="0"/>
              <a:t>20</a:t>
            </a:fld>
            <a:endParaRPr lang="en-IN"/>
          </a:p>
        </p:txBody>
      </p:sp>
    </p:spTree>
    <p:extLst>
      <p:ext uri="{BB962C8B-B14F-4D97-AF65-F5344CB8AC3E}">
        <p14:creationId xmlns:p14="http://schemas.microsoft.com/office/powerpoint/2010/main" val="19020102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FCC24B-2F17-7581-89E5-26A1277078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5F5F97-ABEB-7349-ED23-5B7D395FD5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8817C3-20C0-722D-4A39-BB027FFCB4A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3B25ED3-27E5-0C93-BFE9-1BDE59CBF25A}"/>
              </a:ext>
            </a:extLst>
          </p:cNvPr>
          <p:cNvSpPr>
            <a:spLocks noGrp="1"/>
          </p:cNvSpPr>
          <p:nvPr>
            <p:ph type="sldNum" sz="quarter" idx="5"/>
          </p:nvPr>
        </p:nvSpPr>
        <p:spPr/>
        <p:txBody>
          <a:bodyPr/>
          <a:lstStyle/>
          <a:p>
            <a:fld id="{CC36D861-7547-493D-8F6B-C4E05B90DEDF}" type="slidenum">
              <a:rPr lang="en-IN" smtClean="0"/>
              <a:t>21</a:t>
            </a:fld>
            <a:endParaRPr lang="en-IN"/>
          </a:p>
        </p:txBody>
      </p:sp>
    </p:spTree>
    <p:extLst>
      <p:ext uri="{BB962C8B-B14F-4D97-AF65-F5344CB8AC3E}">
        <p14:creationId xmlns:p14="http://schemas.microsoft.com/office/powerpoint/2010/main" val="201361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25A5D-92FA-9C53-C98B-C6428358EC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C0E4F0-44D5-72BB-24C8-F42661E5D1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21F462-111F-D945-D43E-A3998C47A0E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B191A2D-253A-D628-A7E5-8CB79A1A4EB1}"/>
              </a:ext>
            </a:extLst>
          </p:cNvPr>
          <p:cNvSpPr>
            <a:spLocks noGrp="1"/>
          </p:cNvSpPr>
          <p:nvPr>
            <p:ph type="sldNum" sz="quarter" idx="5"/>
          </p:nvPr>
        </p:nvSpPr>
        <p:spPr/>
        <p:txBody>
          <a:bodyPr/>
          <a:lstStyle/>
          <a:p>
            <a:fld id="{CC36D861-7547-493D-8F6B-C4E05B90DEDF}" type="slidenum">
              <a:rPr lang="en-IN" smtClean="0"/>
              <a:t>22</a:t>
            </a:fld>
            <a:endParaRPr lang="en-IN"/>
          </a:p>
        </p:txBody>
      </p:sp>
    </p:spTree>
    <p:extLst>
      <p:ext uri="{BB962C8B-B14F-4D97-AF65-F5344CB8AC3E}">
        <p14:creationId xmlns:p14="http://schemas.microsoft.com/office/powerpoint/2010/main" val="39320190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EF9B9C-8742-1CF3-BEFD-B9D63FF016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46F358-21DE-3989-A1DC-6B9D0343FB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750E9F-E4D5-EB15-E7F0-D2CD2177D6C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439D75C-AC93-5FCF-18D3-C084C3F2BAB9}"/>
              </a:ext>
            </a:extLst>
          </p:cNvPr>
          <p:cNvSpPr>
            <a:spLocks noGrp="1"/>
          </p:cNvSpPr>
          <p:nvPr>
            <p:ph type="sldNum" sz="quarter" idx="5"/>
          </p:nvPr>
        </p:nvSpPr>
        <p:spPr/>
        <p:txBody>
          <a:bodyPr/>
          <a:lstStyle/>
          <a:p>
            <a:fld id="{CC36D861-7547-493D-8F6B-C4E05B90DEDF}" type="slidenum">
              <a:rPr lang="en-IN" smtClean="0"/>
              <a:t>23</a:t>
            </a:fld>
            <a:endParaRPr lang="en-IN"/>
          </a:p>
        </p:txBody>
      </p:sp>
    </p:spTree>
    <p:extLst>
      <p:ext uri="{BB962C8B-B14F-4D97-AF65-F5344CB8AC3E}">
        <p14:creationId xmlns:p14="http://schemas.microsoft.com/office/powerpoint/2010/main" val="7689984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D8FC47-41D3-4A9F-20EE-32C3F2F41C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CAF784-1E7C-6893-1A9A-AA30F0C69D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7EF3E8-7A5F-6D5D-08F4-52E10A3061D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C2D8FB2-1B8D-BDED-BD11-359D752B53D7}"/>
              </a:ext>
            </a:extLst>
          </p:cNvPr>
          <p:cNvSpPr>
            <a:spLocks noGrp="1"/>
          </p:cNvSpPr>
          <p:nvPr>
            <p:ph type="sldNum" sz="quarter" idx="5"/>
          </p:nvPr>
        </p:nvSpPr>
        <p:spPr/>
        <p:txBody>
          <a:bodyPr/>
          <a:lstStyle/>
          <a:p>
            <a:fld id="{CC36D861-7547-493D-8F6B-C4E05B90DEDF}" type="slidenum">
              <a:rPr lang="en-IN" smtClean="0"/>
              <a:t>24</a:t>
            </a:fld>
            <a:endParaRPr lang="en-IN"/>
          </a:p>
        </p:txBody>
      </p:sp>
    </p:spTree>
    <p:extLst>
      <p:ext uri="{BB962C8B-B14F-4D97-AF65-F5344CB8AC3E}">
        <p14:creationId xmlns:p14="http://schemas.microsoft.com/office/powerpoint/2010/main" val="21608561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30ED98-8C6E-4BA0-DEBA-A2953F52CF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9A376B-02EF-0C07-E901-95D4887F4A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64D5D3-92FD-3055-2727-EDEEA37AC90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C597BBE-8C8A-6AA9-1777-FBCB3685039F}"/>
              </a:ext>
            </a:extLst>
          </p:cNvPr>
          <p:cNvSpPr>
            <a:spLocks noGrp="1"/>
          </p:cNvSpPr>
          <p:nvPr>
            <p:ph type="sldNum" sz="quarter" idx="5"/>
          </p:nvPr>
        </p:nvSpPr>
        <p:spPr/>
        <p:txBody>
          <a:bodyPr/>
          <a:lstStyle/>
          <a:p>
            <a:fld id="{CC36D861-7547-493D-8F6B-C4E05B90DEDF}" type="slidenum">
              <a:rPr lang="en-IN" smtClean="0"/>
              <a:t>25</a:t>
            </a:fld>
            <a:endParaRPr lang="en-IN"/>
          </a:p>
        </p:txBody>
      </p:sp>
    </p:spTree>
    <p:extLst>
      <p:ext uri="{BB962C8B-B14F-4D97-AF65-F5344CB8AC3E}">
        <p14:creationId xmlns:p14="http://schemas.microsoft.com/office/powerpoint/2010/main" val="23896592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D6DDCA-0346-26F9-D9C1-17B6D447C1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141184-5F92-E728-051E-2D102801E2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38A211-126C-8DC7-3732-A8552DB68AB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3ED3CFC-5C01-9D5D-75AC-1AF89D68F6DB}"/>
              </a:ext>
            </a:extLst>
          </p:cNvPr>
          <p:cNvSpPr>
            <a:spLocks noGrp="1"/>
          </p:cNvSpPr>
          <p:nvPr>
            <p:ph type="sldNum" sz="quarter" idx="5"/>
          </p:nvPr>
        </p:nvSpPr>
        <p:spPr/>
        <p:txBody>
          <a:bodyPr/>
          <a:lstStyle/>
          <a:p>
            <a:fld id="{CC36D861-7547-493D-8F6B-C4E05B90DEDF}" type="slidenum">
              <a:rPr lang="en-IN" smtClean="0"/>
              <a:t>26</a:t>
            </a:fld>
            <a:endParaRPr lang="en-IN"/>
          </a:p>
        </p:txBody>
      </p:sp>
    </p:spTree>
    <p:extLst>
      <p:ext uri="{BB962C8B-B14F-4D97-AF65-F5344CB8AC3E}">
        <p14:creationId xmlns:p14="http://schemas.microsoft.com/office/powerpoint/2010/main" val="2518250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62903E-2739-18E7-BE08-B9E51BA8EB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E530F7-B3C5-84B5-AB6A-9BD7B98296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82BCD5-FDB8-01A9-95B3-9E592DB4637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3E000CE-A279-B1E2-53E7-24B41CF5C7AB}"/>
              </a:ext>
            </a:extLst>
          </p:cNvPr>
          <p:cNvSpPr>
            <a:spLocks noGrp="1"/>
          </p:cNvSpPr>
          <p:nvPr>
            <p:ph type="sldNum" sz="quarter" idx="5"/>
          </p:nvPr>
        </p:nvSpPr>
        <p:spPr/>
        <p:txBody>
          <a:bodyPr/>
          <a:lstStyle/>
          <a:p>
            <a:fld id="{CC36D861-7547-493D-8F6B-C4E05B90DEDF}" type="slidenum">
              <a:rPr lang="en-IN" smtClean="0"/>
              <a:t>27</a:t>
            </a:fld>
            <a:endParaRPr lang="en-IN"/>
          </a:p>
        </p:txBody>
      </p:sp>
    </p:spTree>
    <p:extLst>
      <p:ext uri="{BB962C8B-B14F-4D97-AF65-F5344CB8AC3E}">
        <p14:creationId xmlns:p14="http://schemas.microsoft.com/office/powerpoint/2010/main" val="15958016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F30ACC-1D79-8AAD-76A7-845B358BA5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B7FFD2-9861-DC98-40EA-DA0DF85126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3320AA-6D89-B927-2952-31E74EE18F2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E9AED22-4933-C82F-8B0D-CE2BD33606A2}"/>
              </a:ext>
            </a:extLst>
          </p:cNvPr>
          <p:cNvSpPr>
            <a:spLocks noGrp="1"/>
          </p:cNvSpPr>
          <p:nvPr>
            <p:ph type="sldNum" sz="quarter" idx="5"/>
          </p:nvPr>
        </p:nvSpPr>
        <p:spPr/>
        <p:txBody>
          <a:bodyPr/>
          <a:lstStyle/>
          <a:p>
            <a:fld id="{CC36D861-7547-493D-8F6B-C4E05B90DEDF}" type="slidenum">
              <a:rPr lang="en-IN" smtClean="0"/>
              <a:t>28</a:t>
            </a:fld>
            <a:endParaRPr lang="en-IN"/>
          </a:p>
        </p:txBody>
      </p:sp>
    </p:spTree>
    <p:extLst>
      <p:ext uri="{BB962C8B-B14F-4D97-AF65-F5344CB8AC3E}">
        <p14:creationId xmlns:p14="http://schemas.microsoft.com/office/powerpoint/2010/main" val="10942314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E40095-B1E3-DBB3-0E28-13A26113AF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D27E9D-8F2C-A803-4E21-BFA1B699AE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B00AAC-2BB4-06C6-E4CF-B16126CF503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C355B2E-60A0-8107-FEC4-32D1960F1A58}"/>
              </a:ext>
            </a:extLst>
          </p:cNvPr>
          <p:cNvSpPr>
            <a:spLocks noGrp="1"/>
          </p:cNvSpPr>
          <p:nvPr>
            <p:ph type="sldNum" sz="quarter" idx="5"/>
          </p:nvPr>
        </p:nvSpPr>
        <p:spPr/>
        <p:txBody>
          <a:bodyPr/>
          <a:lstStyle/>
          <a:p>
            <a:fld id="{CC36D861-7547-493D-8F6B-C4E05B90DEDF}" type="slidenum">
              <a:rPr lang="en-IN" smtClean="0"/>
              <a:t>29</a:t>
            </a:fld>
            <a:endParaRPr lang="en-IN"/>
          </a:p>
        </p:txBody>
      </p:sp>
    </p:spTree>
    <p:extLst>
      <p:ext uri="{BB962C8B-B14F-4D97-AF65-F5344CB8AC3E}">
        <p14:creationId xmlns:p14="http://schemas.microsoft.com/office/powerpoint/2010/main" val="11498937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D40E2B-43D0-D1DA-0E26-B3F2098C71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ECF262-B536-57B9-2FA7-2ACE4F50A3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C2592D-A23B-B93A-6A75-B29B843CC8B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8E31C52-ECBE-9DC2-609E-B6EF32FC2BF0}"/>
              </a:ext>
            </a:extLst>
          </p:cNvPr>
          <p:cNvSpPr>
            <a:spLocks noGrp="1"/>
          </p:cNvSpPr>
          <p:nvPr>
            <p:ph type="sldNum" sz="quarter" idx="5"/>
          </p:nvPr>
        </p:nvSpPr>
        <p:spPr/>
        <p:txBody>
          <a:bodyPr/>
          <a:lstStyle/>
          <a:p>
            <a:fld id="{CC36D861-7547-493D-8F6B-C4E05B90DEDF}" type="slidenum">
              <a:rPr lang="en-IN" smtClean="0"/>
              <a:t>30</a:t>
            </a:fld>
            <a:endParaRPr lang="en-IN"/>
          </a:p>
        </p:txBody>
      </p:sp>
    </p:spTree>
    <p:extLst>
      <p:ext uri="{BB962C8B-B14F-4D97-AF65-F5344CB8AC3E}">
        <p14:creationId xmlns:p14="http://schemas.microsoft.com/office/powerpoint/2010/main" val="423636300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E8F915-4B74-F9ED-4D31-FCA0B6F2AE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8041A4-A637-31F6-E7F9-31187C2E13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91BB95-C0CF-186C-5816-706E9FB9A0A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1CB4254-C52A-9576-33F9-494B65701A65}"/>
              </a:ext>
            </a:extLst>
          </p:cNvPr>
          <p:cNvSpPr>
            <a:spLocks noGrp="1"/>
          </p:cNvSpPr>
          <p:nvPr>
            <p:ph type="sldNum" sz="quarter" idx="5"/>
          </p:nvPr>
        </p:nvSpPr>
        <p:spPr/>
        <p:txBody>
          <a:bodyPr/>
          <a:lstStyle/>
          <a:p>
            <a:fld id="{CC36D861-7547-493D-8F6B-C4E05B90DEDF}" type="slidenum">
              <a:rPr lang="en-IN" smtClean="0"/>
              <a:t>31</a:t>
            </a:fld>
            <a:endParaRPr lang="en-IN"/>
          </a:p>
        </p:txBody>
      </p:sp>
    </p:spTree>
    <p:extLst>
      <p:ext uri="{BB962C8B-B14F-4D97-AF65-F5344CB8AC3E}">
        <p14:creationId xmlns:p14="http://schemas.microsoft.com/office/powerpoint/2010/main" val="325626908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7C3CE0-F662-71E1-5C2B-1EAECCDF0F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B3FEF6-DEF9-4596-E634-04ABD41B68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79803C-5655-647A-A754-5BEA10E293B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C194722-97EE-A962-C231-0EFBCE443B51}"/>
              </a:ext>
            </a:extLst>
          </p:cNvPr>
          <p:cNvSpPr>
            <a:spLocks noGrp="1"/>
          </p:cNvSpPr>
          <p:nvPr>
            <p:ph type="sldNum" sz="quarter" idx="5"/>
          </p:nvPr>
        </p:nvSpPr>
        <p:spPr/>
        <p:txBody>
          <a:bodyPr/>
          <a:lstStyle/>
          <a:p>
            <a:fld id="{CC36D861-7547-493D-8F6B-C4E05B90DEDF}" type="slidenum">
              <a:rPr lang="en-IN" smtClean="0"/>
              <a:t>32</a:t>
            </a:fld>
            <a:endParaRPr lang="en-IN"/>
          </a:p>
        </p:txBody>
      </p:sp>
    </p:spTree>
    <p:extLst>
      <p:ext uri="{BB962C8B-B14F-4D97-AF65-F5344CB8AC3E}">
        <p14:creationId xmlns:p14="http://schemas.microsoft.com/office/powerpoint/2010/main" val="5698747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72007-D06E-DE41-C1A3-7D7E9F6943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D13B4E-9F3A-9BCE-AD52-E99F7ABEFB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7198E6-5F6A-2B4C-996C-CE233A56170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1D195FC-0983-266C-C1DA-A7EDDFB058D6}"/>
              </a:ext>
            </a:extLst>
          </p:cNvPr>
          <p:cNvSpPr>
            <a:spLocks noGrp="1"/>
          </p:cNvSpPr>
          <p:nvPr>
            <p:ph type="sldNum" sz="quarter" idx="5"/>
          </p:nvPr>
        </p:nvSpPr>
        <p:spPr/>
        <p:txBody>
          <a:bodyPr/>
          <a:lstStyle/>
          <a:p>
            <a:fld id="{CC36D861-7547-493D-8F6B-C4E05B90DEDF}" type="slidenum">
              <a:rPr lang="en-IN" smtClean="0"/>
              <a:t>33</a:t>
            </a:fld>
            <a:endParaRPr lang="en-IN"/>
          </a:p>
        </p:txBody>
      </p:sp>
    </p:spTree>
    <p:extLst>
      <p:ext uri="{BB962C8B-B14F-4D97-AF65-F5344CB8AC3E}">
        <p14:creationId xmlns:p14="http://schemas.microsoft.com/office/powerpoint/2010/main" val="244608379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37BDA3-A3B7-089A-AF45-4594053F49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052761-C694-1E32-9EBC-4F39232048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A5C243-D968-FD38-843B-D0BEF31E9D7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C24C2B0-4AD2-51DB-F7A9-7DAE5C1627BF}"/>
              </a:ext>
            </a:extLst>
          </p:cNvPr>
          <p:cNvSpPr>
            <a:spLocks noGrp="1"/>
          </p:cNvSpPr>
          <p:nvPr>
            <p:ph type="sldNum" sz="quarter" idx="5"/>
          </p:nvPr>
        </p:nvSpPr>
        <p:spPr/>
        <p:txBody>
          <a:bodyPr/>
          <a:lstStyle/>
          <a:p>
            <a:fld id="{CC36D861-7547-493D-8F6B-C4E05B90DEDF}" type="slidenum">
              <a:rPr lang="en-IN" smtClean="0"/>
              <a:t>34</a:t>
            </a:fld>
            <a:endParaRPr lang="en-IN"/>
          </a:p>
        </p:txBody>
      </p:sp>
    </p:spTree>
    <p:extLst>
      <p:ext uri="{BB962C8B-B14F-4D97-AF65-F5344CB8AC3E}">
        <p14:creationId xmlns:p14="http://schemas.microsoft.com/office/powerpoint/2010/main" val="307912110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D774E5-6103-AE65-3699-3C96A0D01A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16053A-062F-5CB8-C775-105FBA587A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0BDD12-EC5B-EA34-0433-8E62D77D121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BFA360C-428F-41B3-1794-81CAA08D7FC0}"/>
              </a:ext>
            </a:extLst>
          </p:cNvPr>
          <p:cNvSpPr>
            <a:spLocks noGrp="1"/>
          </p:cNvSpPr>
          <p:nvPr>
            <p:ph type="sldNum" sz="quarter" idx="5"/>
          </p:nvPr>
        </p:nvSpPr>
        <p:spPr/>
        <p:txBody>
          <a:bodyPr/>
          <a:lstStyle/>
          <a:p>
            <a:fld id="{CC36D861-7547-493D-8F6B-C4E05B90DEDF}" type="slidenum">
              <a:rPr lang="en-IN" smtClean="0"/>
              <a:t>35</a:t>
            </a:fld>
            <a:endParaRPr lang="en-IN"/>
          </a:p>
        </p:txBody>
      </p:sp>
    </p:spTree>
    <p:extLst>
      <p:ext uri="{BB962C8B-B14F-4D97-AF65-F5344CB8AC3E}">
        <p14:creationId xmlns:p14="http://schemas.microsoft.com/office/powerpoint/2010/main" val="183350646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799E13-ACA6-18DD-C8A3-FC2E347FDF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06F7FD-51E8-8F0D-E0F5-167A17C721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99B417-1AC8-4A02-830A-C17F6A40766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F75F405-C06E-AD15-CB5A-85070FA142E0}"/>
              </a:ext>
            </a:extLst>
          </p:cNvPr>
          <p:cNvSpPr>
            <a:spLocks noGrp="1"/>
          </p:cNvSpPr>
          <p:nvPr>
            <p:ph type="sldNum" sz="quarter" idx="5"/>
          </p:nvPr>
        </p:nvSpPr>
        <p:spPr/>
        <p:txBody>
          <a:bodyPr/>
          <a:lstStyle/>
          <a:p>
            <a:fld id="{CC36D861-7547-493D-8F6B-C4E05B90DEDF}" type="slidenum">
              <a:rPr lang="en-IN" smtClean="0"/>
              <a:t>36</a:t>
            </a:fld>
            <a:endParaRPr lang="en-IN"/>
          </a:p>
        </p:txBody>
      </p:sp>
    </p:spTree>
    <p:extLst>
      <p:ext uri="{BB962C8B-B14F-4D97-AF65-F5344CB8AC3E}">
        <p14:creationId xmlns:p14="http://schemas.microsoft.com/office/powerpoint/2010/main" val="262184006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6F5AF-BA60-B315-22B2-E86BF7B8B1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2560FD-E69C-7EA9-4794-F8BD3E688E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8AED06-B414-1A3E-A391-AB540041CC9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C7CD2FA-CEFD-A408-F5E2-ED2300F41889}"/>
              </a:ext>
            </a:extLst>
          </p:cNvPr>
          <p:cNvSpPr>
            <a:spLocks noGrp="1"/>
          </p:cNvSpPr>
          <p:nvPr>
            <p:ph type="sldNum" sz="quarter" idx="5"/>
          </p:nvPr>
        </p:nvSpPr>
        <p:spPr/>
        <p:txBody>
          <a:bodyPr/>
          <a:lstStyle/>
          <a:p>
            <a:fld id="{CC36D861-7547-493D-8F6B-C4E05B90DEDF}" type="slidenum">
              <a:rPr lang="en-IN" smtClean="0"/>
              <a:t>37</a:t>
            </a:fld>
            <a:endParaRPr lang="en-IN"/>
          </a:p>
        </p:txBody>
      </p:sp>
    </p:spTree>
    <p:extLst>
      <p:ext uri="{BB962C8B-B14F-4D97-AF65-F5344CB8AC3E}">
        <p14:creationId xmlns:p14="http://schemas.microsoft.com/office/powerpoint/2010/main" val="277289076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1077A-0E95-ED3C-E9A9-40A8EEBE9C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F152F5-FBDA-EDF5-A4AF-1EA0DC3E68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539556-BDEA-18F9-75C9-3BBE8362F81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FEBA412-785C-E405-B0F6-2E727B13A17C}"/>
              </a:ext>
            </a:extLst>
          </p:cNvPr>
          <p:cNvSpPr>
            <a:spLocks noGrp="1"/>
          </p:cNvSpPr>
          <p:nvPr>
            <p:ph type="sldNum" sz="quarter" idx="5"/>
          </p:nvPr>
        </p:nvSpPr>
        <p:spPr/>
        <p:txBody>
          <a:bodyPr/>
          <a:lstStyle/>
          <a:p>
            <a:fld id="{CC36D861-7547-493D-8F6B-C4E05B90DEDF}" type="slidenum">
              <a:rPr lang="en-IN" smtClean="0"/>
              <a:t>38</a:t>
            </a:fld>
            <a:endParaRPr lang="en-IN"/>
          </a:p>
        </p:txBody>
      </p:sp>
    </p:spTree>
    <p:extLst>
      <p:ext uri="{BB962C8B-B14F-4D97-AF65-F5344CB8AC3E}">
        <p14:creationId xmlns:p14="http://schemas.microsoft.com/office/powerpoint/2010/main" val="251426376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7E9A29-B6EA-E2D3-7E0A-2424126CFF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356F0A-ABDC-A093-6A57-C62AA2D26F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878747-195A-8779-BD61-DC251CFFE77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DC05944-0EC0-A547-0295-1BB1768713F1}"/>
              </a:ext>
            </a:extLst>
          </p:cNvPr>
          <p:cNvSpPr>
            <a:spLocks noGrp="1"/>
          </p:cNvSpPr>
          <p:nvPr>
            <p:ph type="sldNum" sz="quarter" idx="5"/>
          </p:nvPr>
        </p:nvSpPr>
        <p:spPr/>
        <p:txBody>
          <a:bodyPr/>
          <a:lstStyle/>
          <a:p>
            <a:fld id="{CC36D861-7547-493D-8F6B-C4E05B90DEDF}" type="slidenum">
              <a:rPr lang="en-IN" smtClean="0"/>
              <a:t>39</a:t>
            </a:fld>
            <a:endParaRPr lang="en-IN"/>
          </a:p>
        </p:txBody>
      </p:sp>
    </p:spTree>
    <p:extLst>
      <p:ext uri="{BB962C8B-B14F-4D97-AF65-F5344CB8AC3E}">
        <p14:creationId xmlns:p14="http://schemas.microsoft.com/office/powerpoint/2010/main" val="319942838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C1135C-4C91-3CA2-FEB5-069C11A414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115E35-3DBE-6883-DD71-4E3AE2D4C8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799F3E-7F10-93A2-4DB7-5D3A6506AC9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6195101-96A9-19A5-CE48-2D0B3FE3EB98}"/>
              </a:ext>
            </a:extLst>
          </p:cNvPr>
          <p:cNvSpPr>
            <a:spLocks noGrp="1"/>
          </p:cNvSpPr>
          <p:nvPr>
            <p:ph type="sldNum" sz="quarter" idx="5"/>
          </p:nvPr>
        </p:nvSpPr>
        <p:spPr/>
        <p:txBody>
          <a:bodyPr/>
          <a:lstStyle/>
          <a:p>
            <a:fld id="{CC36D861-7547-493D-8F6B-C4E05B90DEDF}" type="slidenum">
              <a:rPr lang="en-IN" smtClean="0"/>
              <a:t>40</a:t>
            </a:fld>
            <a:endParaRPr lang="en-IN"/>
          </a:p>
        </p:txBody>
      </p:sp>
    </p:spTree>
    <p:extLst>
      <p:ext uri="{BB962C8B-B14F-4D97-AF65-F5344CB8AC3E}">
        <p14:creationId xmlns:p14="http://schemas.microsoft.com/office/powerpoint/2010/main" val="248963934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69E01-A280-7F43-B159-237DDD4BE8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3DF241-7F65-8E04-7C93-0ECAE798BE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C56695-27BC-277E-DBF6-6AA5D10D983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C3D11AD-90A5-6974-9059-DF17D6B0F310}"/>
              </a:ext>
            </a:extLst>
          </p:cNvPr>
          <p:cNvSpPr>
            <a:spLocks noGrp="1"/>
          </p:cNvSpPr>
          <p:nvPr>
            <p:ph type="sldNum" sz="quarter" idx="5"/>
          </p:nvPr>
        </p:nvSpPr>
        <p:spPr/>
        <p:txBody>
          <a:bodyPr/>
          <a:lstStyle/>
          <a:p>
            <a:fld id="{CC36D861-7547-493D-8F6B-C4E05B90DEDF}" type="slidenum">
              <a:rPr lang="en-IN" smtClean="0"/>
              <a:t>41</a:t>
            </a:fld>
            <a:endParaRPr lang="en-IN"/>
          </a:p>
        </p:txBody>
      </p:sp>
    </p:spTree>
    <p:extLst>
      <p:ext uri="{BB962C8B-B14F-4D97-AF65-F5344CB8AC3E}">
        <p14:creationId xmlns:p14="http://schemas.microsoft.com/office/powerpoint/2010/main" val="170572669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2B0CA5-5105-AC39-5328-2254241028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5BB3EE-DE7F-77DA-1D73-94FBBDBA8F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3EAE06-0170-1980-42A2-0305BAB1E99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1346D96-8B6B-A7A5-6D4B-976FDAC14763}"/>
              </a:ext>
            </a:extLst>
          </p:cNvPr>
          <p:cNvSpPr>
            <a:spLocks noGrp="1"/>
          </p:cNvSpPr>
          <p:nvPr>
            <p:ph type="sldNum" sz="quarter" idx="5"/>
          </p:nvPr>
        </p:nvSpPr>
        <p:spPr/>
        <p:txBody>
          <a:bodyPr/>
          <a:lstStyle/>
          <a:p>
            <a:fld id="{CC36D861-7547-493D-8F6B-C4E05B90DEDF}" type="slidenum">
              <a:rPr lang="en-IN" smtClean="0"/>
              <a:t>42</a:t>
            </a:fld>
            <a:endParaRPr lang="en-IN"/>
          </a:p>
        </p:txBody>
      </p:sp>
    </p:spTree>
    <p:extLst>
      <p:ext uri="{BB962C8B-B14F-4D97-AF65-F5344CB8AC3E}">
        <p14:creationId xmlns:p14="http://schemas.microsoft.com/office/powerpoint/2010/main" val="132386808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32A20D-F4ED-309D-AD69-A777572ADF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0D8114-CBA9-1C96-09D4-2D2A11222C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7F7404-0382-67E7-FE5E-C808102DBE9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A2E0B44-CC60-A5CB-0B49-6D225DB99891}"/>
              </a:ext>
            </a:extLst>
          </p:cNvPr>
          <p:cNvSpPr>
            <a:spLocks noGrp="1"/>
          </p:cNvSpPr>
          <p:nvPr>
            <p:ph type="sldNum" sz="quarter" idx="5"/>
          </p:nvPr>
        </p:nvSpPr>
        <p:spPr/>
        <p:txBody>
          <a:bodyPr/>
          <a:lstStyle/>
          <a:p>
            <a:fld id="{CC36D861-7547-493D-8F6B-C4E05B90DEDF}" type="slidenum">
              <a:rPr lang="en-IN" smtClean="0"/>
              <a:t>43</a:t>
            </a:fld>
            <a:endParaRPr lang="en-IN"/>
          </a:p>
        </p:txBody>
      </p:sp>
    </p:spTree>
    <p:extLst>
      <p:ext uri="{BB962C8B-B14F-4D97-AF65-F5344CB8AC3E}">
        <p14:creationId xmlns:p14="http://schemas.microsoft.com/office/powerpoint/2010/main" val="219837216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13BB6D-53C2-679C-836B-C9F50B2280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6F15B9-0E67-E281-B3BB-B5DD98894F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DF1D84-EE2B-D08D-0261-AA527AF3902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3C49C27-6232-6FC4-B1E2-1CAF8417ED04}"/>
              </a:ext>
            </a:extLst>
          </p:cNvPr>
          <p:cNvSpPr>
            <a:spLocks noGrp="1"/>
          </p:cNvSpPr>
          <p:nvPr>
            <p:ph type="sldNum" sz="quarter" idx="5"/>
          </p:nvPr>
        </p:nvSpPr>
        <p:spPr/>
        <p:txBody>
          <a:bodyPr/>
          <a:lstStyle/>
          <a:p>
            <a:fld id="{CC36D861-7547-493D-8F6B-C4E05B90DEDF}" type="slidenum">
              <a:rPr lang="en-IN" smtClean="0"/>
              <a:t>44</a:t>
            </a:fld>
            <a:endParaRPr lang="en-IN"/>
          </a:p>
        </p:txBody>
      </p:sp>
    </p:spTree>
    <p:extLst>
      <p:ext uri="{BB962C8B-B14F-4D97-AF65-F5344CB8AC3E}">
        <p14:creationId xmlns:p14="http://schemas.microsoft.com/office/powerpoint/2010/main" val="57418120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C0C5E-308D-0B5C-69B6-221C53515B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BE0564-FEEA-42CF-F678-98D00868F8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E4B946-E2D1-A707-2686-B871BD74CB9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E66E4C3-AF6A-5C10-3FF7-D5FE37B9989F}"/>
              </a:ext>
            </a:extLst>
          </p:cNvPr>
          <p:cNvSpPr>
            <a:spLocks noGrp="1"/>
          </p:cNvSpPr>
          <p:nvPr>
            <p:ph type="sldNum" sz="quarter" idx="5"/>
          </p:nvPr>
        </p:nvSpPr>
        <p:spPr/>
        <p:txBody>
          <a:bodyPr/>
          <a:lstStyle/>
          <a:p>
            <a:fld id="{CC36D861-7547-493D-8F6B-C4E05B90DEDF}" type="slidenum">
              <a:rPr lang="en-IN" smtClean="0"/>
              <a:t>45</a:t>
            </a:fld>
            <a:endParaRPr lang="en-IN"/>
          </a:p>
        </p:txBody>
      </p:sp>
    </p:spTree>
    <p:extLst>
      <p:ext uri="{BB962C8B-B14F-4D97-AF65-F5344CB8AC3E}">
        <p14:creationId xmlns:p14="http://schemas.microsoft.com/office/powerpoint/2010/main" val="72978904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764EA-F0FE-B40C-59AF-47DA3F0ACC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BA6BE7-8209-3A1A-BAC5-BBBA70F615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6EE507-CDF6-5357-D8BE-C8ECD0E22AC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F9D6DD6-02C1-F387-57BE-61877FEAD370}"/>
              </a:ext>
            </a:extLst>
          </p:cNvPr>
          <p:cNvSpPr>
            <a:spLocks noGrp="1"/>
          </p:cNvSpPr>
          <p:nvPr>
            <p:ph type="sldNum" sz="quarter" idx="5"/>
          </p:nvPr>
        </p:nvSpPr>
        <p:spPr/>
        <p:txBody>
          <a:bodyPr/>
          <a:lstStyle/>
          <a:p>
            <a:fld id="{CC36D861-7547-493D-8F6B-C4E05B90DEDF}" type="slidenum">
              <a:rPr lang="en-IN" smtClean="0"/>
              <a:t>46</a:t>
            </a:fld>
            <a:endParaRPr lang="en-IN"/>
          </a:p>
        </p:txBody>
      </p:sp>
    </p:spTree>
    <p:extLst>
      <p:ext uri="{BB962C8B-B14F-4D97-AF65-F5344CB8AC3E}">
        <p14:creationId xmlns:p14="http://schemas.microsoft.com/office/powerpoint/2010/main" val="67460618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FD27C3-D406-FA37-EA01-AAC71EEE84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D6E521-C68B-12C7-7336-C9A94E5AAB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38C9C4-C896-D684-2558-CAE0E03D7BA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36F8205-F5BE-12F9-6DC0-7D4507280C50}"/>
              </a:ext>
            </a:extLst>
          </p:cNvPr>
          <p:cNvSpPr>
            <a:spLocks noGrp="1"/>
          </p:cNvSpPr>
          <p:nvPr>
            <p:ph type="sldNum" sz="quarter" idx="5"/>
          </p:nvPr>
        </p:nvSpPr>
        <p:spPr/>
        <p:txBody>
          <a:bodyPr/>
          <a:lstStyle/>
          <a:p>
            <a:fld id="{CC36D861-7547-493D-8F6B-C4E05B90DEDF}" type="slidenum">
              <a:rPr lang="en-IN" smtClean="0"/>
              <a:t>47</a:t>
            </a:fld>
            <a:endParaRPr lang="en-IN"/>
          </a:p>
        </p:txBody>
      </p:sp>
    </p:spTree>
    <p:extLst>
      <p:ext uri="{BB962C8B-B14F-4D97-AF65-F5344CB8AC3E}">
        <p14:creationId xmlns:p14="http://schemas.microsoft.com/office/powerpoint/2010/main" val="15968722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7C9499-CD84-FD97-1236-D0446C8132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0FC337-1DF5-5997-2018-5BF31F64EF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A23783-47FB-541C-0E8D-E05C6881EA8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26B8D6B-FDD6-4EAF-9C68-78F81158A21A}"/>
              </a:ext>
            </a:extLst>
          </p:cNvPr>
          <p:cNvSpPr>
            <a:spLocks noGrp="1"/>
          </p:cNvSpPr>
          <p:nvPr>
            <p:ph type="sldNum" sz="quarter" idx="5"/>
          </p:nvPr>
        </p:nvSpPr>
        <p:spPr/>
        <p:txBody>
          <a:bodyPr/>
          <a:lstStyle/>
          <a:p>
            <a:fld id="{CC36D861-7547-493D-8F6B-C4E05B90DEDF}" type="slidenum">
              <a:rPr lang="en-IN" smtClean="0"/>
              <a:t>48</a:t>
            </a:fld>
            <a:endParaRPr lang="en-IN"/>
          </a:p>
        </p:txBody>
      </p:sp>
    </p:spTree>
    <p:extLst>
      <p:ext uri="{BB962C8B-B14F-4D97-AF65-F5344CB8AC3E}">
        <p14:creationId xmlns:p14="http://schemas.microsoft.com/office/powerpoint/2010/main" val="393401136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3DC64D-88FD-AB09-17FF-93E772A26E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F179B8-4E7A-1E54-7D48-134EAC7316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42D9DF-95EF-238C-71B4-49B781A6C77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BFE6D7A-FDFA-8860-A78A-07E6EFB6742A}"/>
              </a:ext>
            </a:extLst>
          </p:cNvPr>
          <p:cNvSpPr>
            <a:spLocks noGrp="1"/>
          </p:cNvSpPr>
          <p:nvPr>
            <p:ph type="sldNum" sz="quarter" idx="5"/>
          </p:nvPr>
        </p:nvSpPr>
        <p:spPr/>
        <p:txBody>
          <a:bodyPr/>
          <a:lstStyle/>
          <a:p>
            <a:fld id="{CC36D861-7547-493D-8F6B-C4E05B90DEDF}" type="slidenum">
              <a:rPr lang="en-IN" smtClean="0"/>
              <a:t>49</a:t>
            </a:fld>
            <a:endParaRPr lang="en-IN"/>
          </a:p>
        </p:txBody>
      </p:sp>
    </p:spTree>
    <p:extLst>
      <p:ext uri="{BB962C8B-B14F-4D97-AF65-F5344CB8AC3E}">
        <p14:creationId xmlns:p14="http://schemas.microsoft.com/office/powerpoint/2010/main" val="110894490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605620-E2CE-EA1D-A51A-C94C7B5156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BCC0DE-67D2-7C3E-9547-93DB2530EB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AEEFED-1B67-75C5-CCCB-38B5D31314D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C9CC029-1327-731F-D6DF-B361B472651D}"/>
              </a:ext>
            </a:extLst>
          </p:cNvPr>
          <p:cNvSpPr>
            <a:spLocks noGrp="1"/>
          </p:cNvSpPr>
          <p:nvPr>
            <p:ph type="sldNum" sz="quarter" idx="5"/>
          </p:nvPr>
        </p:nvSpPr>
        <p:spPr/>
        <p:txBody>
          <a:bodyPr/>
          <a:lstStyle/>
          <a:p>
            <a:fld id="{CC36D861-7547-493D-8F6B-C4E05B90DEDF}" type="slidenum">
              <a:rPr lang="en-IN" smtClean="0"/>
              <a:t>50</a:t>
            </a:fld>
            <a:endParaRPr lang="en-IN"/>
          </a:p>
        </p:txBody>
      </p:sp>
    </p:spTree>
    <p:extLst>
      <p:ext uri="{BB962C8B-B14F-4D97-AF65-F5344CB8AC3E}">
        <p14:creationId xmlns:p14="http://schemas.microsoft.com/office/powerpoint/2010/main" val="384763303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C33C3B-1591-A9C7-9571-9532FC1532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121297-0AC2-A652-5DB6-928C53060F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2164D2-AEA4-E32F-F0BC-61A6F6CC7C7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375F886-6FE2-143C-7F08-E7F979AB56FF}"/>
              </a:ext>
            </a:extLst>
          </p:cNvPr>
          <p:cNvSpPr>
            <a:spLocks noGrp="1"/>
          </p:cNvSpPr>
          <p:nvPr>
            <p:ph type="sldNum" sz="quarter" idx="5"/>
          </p:nvPr>
        </p:nvSpPr>
        <p:spPr/>
        <p:txBody>
          <a:bodyPr/>
          <a:lstStyle/>
          <a:p>
            <a:fld id="{CC36D861-7547-493D-8F6B-C4E05B90DEDF}" type="slidenum">
              <a:rPr lang="en-IN" smtClean="0"/>
              <a:t>51</a:t>
            </a:fld>
            <a:endParaRPr lang="en-IN"/>
          </a:p>
        </p:txBody>
      </p:sp>
    </p:spTree>
    <p:extLst>
      <p:ext uri="{BB962C8B-B14F-4D97-AF65-F5344CB8AC3E}">
        <p14:creationId xmlns:p14="http://schemas.microsoft.com/office/powerpoint/2010/main" val="181202916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648DC6-8954-6D76-B8D0-11427F51D7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6BBDC6-C414-5ECE-0062-F7E8C41CF8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71FB03-C07A-896E-1391-017112BD19A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3B6E574-003B-57DA-FA0C-B3A3F31E3C84}"/>
              </a:ext>
            </a:extLst>
          </p:cNvPr>
          <p:cNvSpPr>
            <a:spLocks noGrp="1"/>
          </p:cNvSpPr>
          <p:nvPr>
            <p:ph type="sldNum" sz="quarter" idx="5"/>
          </p:nvPr>
        </p:nvSpPr>
        <p:spPr/>
        <p:txBody>
          <a:bodyPr/>
          <a:lstStyle/>
          <a:p>
            <a:fld id="{CC36D861-7547-493D-8F6B-C4E05B90DEDF}" type="slidenum">
              <a:rPr lang="en-IN" smtClean="0"/>
              <a:t>52</a:t>
            </a:fld>
            <a:endParaRPr lang="en-IN"/>
          </a:p>
        </p:txBody>
      </p:sp>
    </p:spTree>
    <p:extLst>
      <p:ext uri="{BB962C8B-B14F-4D97-AF65-F5344CB8AC3E}">
        <p14:creationId xmlns:p14="http://schemas.microsoft.com/office/powerpoint/2010/main" val="242325094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03ACCB-019F-0DDF-8138-E10A7DD2A0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63D896-DB30-EA73-492A-E6437C4980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31EDF4-D6BC-1F5B-0FF7-A5290E0DAC3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84E4546-C764-9599-E162-D7FF2031CC28}"/>
              </a:ext>
            </a:extLst>
          </p:cNvPr>
          <p:cNvSpPr>
            <a:spLocks noGrp="1"/>
          </p:cNvSpPr>
          <p:nvPr>
            <p:ph type="sldNum" sz="quarter" idx="5"/>
          </p:nvPr>
        </p:nvSpPr>
        <p:spPr/>
        <p:txBody>
          <a:bodyPr/>
          <a:lstStyle/>
          <a:p>
            <a:fld id="{CC36D861-7547-493D-8F6B-C4E05B90DEDF}" type="slidenum">
              <a:rPr lang="en-IN" smtClean="0"/>
              <a:t>53</a:t>
            </a:fld>
            <a:endParaRPr lang="en-IN"/>
          </a:p>
        </p:txBody>
      </p:sp>
    </p:spTree>
    <p:extLst>
      <p:ext uri="{BB962C8B-B14F-4D97-AF65-F5344CB8AC3E}">
        <p14:creationId xmlns:p14="http://schemas.microsoft.com/office/powerpoint/2010/main" val="38139321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7A804-8301-FE8F-7BAB-6ED6A1A5771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4C6EC27-A688-47F2-CF26-1E252133A24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BE0BA2D-6E34-B061-6EDD-671C6CE2C861}"/>
              </a:ext>
            </a:extLst>
          </p:cNvPr>
          <p:cNvSpPr>
            <a:spLocks noGrp="1"/>
          </p:cNvSpPr>
          <p:nvPr>
            <p:ph type="dt" sz="half" idx="10"/>
          </p:nvPr>
        </p:nvSpPr>
        <p:spPr/>
        <p:txBody>
          <a:bodyPr/>
          <a:lstStyle/>
          <a:p>
            <a:fld id="{DDC68D98-131E-4B4B-88DA-50EC04E71892}" type="datetimeFigureOut">
              <a:rPr lang="en-IN" smtClean="0"/>
              <a:t>26-07-2026</a:t>
            </a:fld>
            <a:endParaRPr lang="en-IN"/>
          </a:p>
        </p:txBody>
      </p:sp>
      <p:sp>
        <p:nvSpPr>
          <p:cNvPr id="5" name="Footer Placeholder 4">
            <a:extLst>
              <a:ext uri="{FF2B5EF4-FFF2-40B4-BE49-F238E27FC236}">
                <a16:creationId xmlns:a16="http://schemas.microsoft.com/office/drawing/2014/main" id="{1E2C1426-C47C-EC2E-611F-6554DAC10A1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C433356-922A-5057-7673-4ADC64FD8D24}"/>
              </a:ext>
            </a:extLst>
          </p:cNvPr>
          <p:cNvSpPr>
            <a:spLocks noGrp="1"/>
          </p:cNvSpPr>
          <p:nvPr>
            <p:ph type="sldNum" sz="quarter" idx="12"/>
          </p:nvPr>
        </p:nvSpPr>
        <p:spPr/>
        <p:txBody>
          <a:bodyPr/>
          <a:lstStyle/>
          <a:p>
            <a:fld id="{012D98F9-EA0C-4BD7-96E4-5A0D6C300BED}" type="slidenum">
              <a:rPr lang="en-IN" smtClean="0"/>
              <a:t>‹#›</a:t>
            </a:fld>
            <a:endParaRPr lang="en-IN"/>
          </a:p>
        </p:txBody>
      </p:sp>
    </p:spTree>
    <p:extLst>
      <p:ext uri="{BB962C8B-B14F-4D97-AF65-F5344CB8AC3E}">
        <p14:creationId xmlns:p14="http://schemas.microsoft.com/office/powerpoint/2010/main" val="28196194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266EBE-69A3-6B82-1D02-528288457DC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E673864-3DE8-16DC-A2CF-2CDFBCE1A7F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EB3A94D-5308-AF8B-A5AD-A39CE10F63C9}"/>
              </a:ext>
            </a:extLst>
          </p:cNvPr>
          <p:cNvSpPr>
            <a:spLocks noGrp="1"/>
          </p:cNvSpPr>
          <p:nvPr>
            <p:ph type="dt" sz="half" idx="10"/>
          </p:nvPr>
        </p:nvSpPr>
        <p:spPr/>
        <p:txBody>
          <a:bodyPr/>
          <a:lstStyle/>
          <a:p>
            <a:fld id="{DDC68D98-131E-4B4B-88DA-50EC04E71892}" type="datetimeFigureOut">
              <a:rPr lang="en-IN" smtClean="0"/>
              <a:t>26-07-2026</a:t>
            </a:fld>
            <a:endParaRPr lang="en-IN"/>
          </a:p>
        </p:txBody>
      </p:sp>
      <p:sp>
        <p:nvSpPr>
          <p:cNvPr id="5" name="Footer Placeholder 4">
            <a:extLst>
              <a:ext uri="{FF2B5EF4-FFF2-40B4-BE49-F238E27FC236}">
                <a16:creationId xmlns:a16="http://schemas.microsoft.com/office/drawing/2014/main" id="{E6152AD7-5032-780D-C050-083B5CF0865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58001DF-29A4-C345-4BCD-5E9685AA745C}"/>
              </a:ext>
            </a:extLst>
          </p:cNvPr>
          <p:cNvSpPr>
            <a:spLocks noGrp="1"/>
          </p:cNvSpPr>
          <p:nvPr>
            <p:ph type="sldNum" sz="quarter" idx="12"/>
          </p:nvPr>
        </p:nvSpPr>
        <p:spPr/>
        <p:txBody>
          <a:bodyPr/>
          <a:lstStyle/>
          <a:p>
            <a:fld id="{012D98F9-EA0C-4BD7-96E4-5A0D6C300BED}" type="slidenum">
              <a:rPr lang="en-IN" smtClean="0"/>
              <a:t>‹#›</a:t>
            </a:fld>
            <a:endParaRPr lang="en-IN"/>
          </a:p>
        </p:txBody>
      </p:sp>
    </p:spTree>
    <p:extLst>
      <p:ext uri="{BB962C8B-B14F-4D97-AF65-F5344CB8AC3E}">
        <p14:creationId xmlns:p14="http://schemas.microsoft.com/office/powerpoint/2010/main" val="3138778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B260C-E548-866E-F5C7-2EF1B1BF659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BC549E9-B59B-7929-5BA1-5029A2D24E1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AD061B6-F423-7D90-CD60-8BC4CCAE8F3A}"/>
              </a:ext>
            </a:extLst>
          </p:cNvPr>
          <p:cNvSpPr>
            <a:spLocks noGrp="1"/>
          </p:cNvSpPr>
          <p:nvPr>
            <p:ph type="dt" sz="half" idx="10"/>
          </p:nvPr>
        </p:nvSpPr>
        <p:spPr/>
        <p:txBody>
          <a:bodyPr/>
          <a:lstStyle/>
          <a:p>
            <a:fld id="{DDC68D98-131E-4B4B-88DA-50EC04E71892}" type="datetimeFigureOut">
              <a:rPr lang="en-IN" smtClean="0"/>
              <a:t>26-07-2026</a:t>
            </a:fld>
            <a:endParaRPr lang="en-IN"/>
          </a:p>
        </p:txBody>
      </p:sp>
      <p:sp>
        <p:nvSpPr>
          <p:cNvPr id="5" name="Footer Placeholder 4">
            <a:extLst>
              <a:ext uri="{FF2B5EF4-FFF2-40B4-BE49-F238E27FC236}">
                <a16:creationId xmlns:a16="http://schemas.microsoft.com/office/drawing/2014/main" id="{CDFCC350-E599-4E12-9E4B-D6C5BBFAB5B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687CF31-747E-DE6C-4FA3-BF9319D320DE}"/>
              </a:ext>
            </a:extLst>
          </p:cNvPr>
          <p:cNvSpPr>
            <a:spLocks noGrp="1"/>
          </p:cNvSpPr>
          <p:nvPr>
            <p:ph type="sldNum" sz="quarter" idx="12"/>
          </p:nvPr>
        </p:nvSpPr>
        <p:spPr/>
        <p:txBody>
          <a:bodyPr/>
          <a:lstStyle/>
          <a:p>
            <a:fld id="{012D98F9-EA0C-4BD7-96E4-5A0D6C300BED}" type="slidenum">
              <a:rPr lang="en-IN" smtClean="0"/>
              <a:t>‹#›</a:t>
            </a:fld>
            <a:endParaRPr lang="en-IN"/>
          </a:p>
        </p:txBody>
      </p:sp>
    </p:spTree>
    <p:extLst>
      <p:ext uri="{BB962C8B-B14F-4D97-AF65-F5344CB8AC3E}">
        <p14:creationId xmlns:p14="http://schemas.microsoft.com/office/powerpoint/2010/main" val="22456849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D5667F-B907-E8B3-AEE0-5B9D322812D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E183A41-78F4-D5D3-601F-0C5C22BF046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8F8937D-F81E-7F7F-E4F4-BB27E67AA56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061ED39-34B9-7890-F199-19E1C7538D3A}"/>
              </a:ext>
            </a:extLst>
          </p:cNvPr>
          <p:cNvSpPr>
            <a:spLocks noGrp="1"/>
          </p:cNvSpPr>
          <p:nvPr>
            <p:ph type="dt" sz="half" idx="10"/>
          </p:nvPr>
        </p:nvSpPr>
        <p:spPr/>
        <p:txBody>
          <a:bodyPr/>
          <a:lstStyle/>
          <a:p>
            <a:fld id="{DDC68D98-131E-4B4B-88DA-50EC04E71892}" type="datetimeFigureOut">
              <a:rPr lang="en-IN" smtClean="0"/>
              <a:t>26-07-2026</a:t>
            </a:fld>
            <a:endParaRPr lang="en-IN"/>
          </a:p>
        </p:txBody>
      </p:sp>
      <p:sp>
        <p:nvSpPr>
          <p:cNvPr id="6" name="Footer Placeholder 5">
            <a:extLst>
              <a:ext uri="{FF2B5EF4-FFF2-40B4-BE49-F238E27FC236}">
                <a16:creationId xmlns:a16="http://schemas.microsoft.com/office/drawing/2014/main" id="{55A90FB9-EC7B-F828-CE34-793D5021E3C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707A6CA-BCD6-495D-3789-AF67DECDDD7B}"/>
              </a:ext>
            </a:extLst>
          </p:cNvPr>
          <p:cNvSpPr>
            <a:spLocks noGrp="1"/>
          </p:cNvSpPr>
          <p:nvPr>
            <p:ph type="sldNum" sz="quarter" idx="12"/>
          </p:nvPr>
        </p:nvSpPr>
        <p:spPr/>
        <p:txBody>
          <a:bodyPr/>
          <a:lstStyle/>
          <a:p>
            <a:fld id="{012D98F9-EA0C-4BD7-96E4-5A0D6C300BED}" type="slidenum">
              <a:rPr lang="en-IN" smtClean="0"/>
              <a:t>‹#›</a:t>
            </a:fld>
            <a:endParaRPr lang="en-IN"/>
          </a:p>
        </p:txBody>
      </p:sp>
    </p:spTree>
    <p:extLst>
      <p:ext uri="{BB962C8B-B14F-4D97-AF65-F5344CB8AC3E}">
        <p14:creationId xmlns:p14="http://schemas.microsoft.com/office/powerpoint/2010/main" val="1508021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376179-4656-7053-A1E2-0F85BE8DC3F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A15C226-EAE3-732E-0BF3-4C0C2EFC8AF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518E52E-5BA8-9297-F0B4-0A9F197B5CA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ABE721E-5CC3-5008-05E7-D7B4B824CFC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C196564-5826-6431-279A-3DF055772CF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5518603-47FC-7070-95FE-061FEA79E504}"/>
              </a:ext>
            </a:extLst>
          </p:cNvPr>
          <p:cNvSpPr>
            <a:spLocks noGrp="1"/>
          </p:cNvSpPr>
          <p:nvPr>
            <p:ph type="dt" sz="half" idx="10"/>
          </p:nvPr>
        </p:nvSpPr>
        <p:spPr/>
        <p:txBody>
          <a:bodyPr/>
          <a:lstStyle/>
          <a:p>
            <a:fld id="{DDC68D98-131E-4B4B-88DA-50EC04E71892}" type="datetimeFigureOut">
              <a:rPr lang="en-IN" smtClean="0"/>
              <a:t>26-07-2026</a:t>
            </a:fld>
            <a:endParaRPr lang="en-IN"/>
          </a:p>
        </p:txBody>
      </p:sp>
      <p:sp>
        <p:nvSpPr>
          <p:cNvPr id="8" name="Footer Placeholder 7">
            <a:extLst>
              <a:ext uri="{FF2B5EF4-FFF2-40B4-BE49-F238E27FC236}">
                <a16:creationId xmlns:a16="http://schemas.microsoft.com/office/drawing/2014/main" id="{40061971-8D3B-D89D-9653-F3F884E53AC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87CBDD7-966A-B2A9-FFED-440063F0D32E}"/>
              </a:ext>
            </a:extLst>
          </p:cNvPr>
          <p:cNvSpPr>
            <a:spLocks noGrp="1"/>
          </p:cNvSpPr>
          <p:nvPr>
            <p:ph type="sldNum" sz="quarter" idx="12"/>
          </p:nvPr>
        </p:nvSpPr>
        <p:spPr/>
        <p:txBody>
          <a:bodyPr/>
          <a:lstStyle/>
          <a:p>
            <a:fld id="{012D98F9-EA0C-4BD7-96E4-5A0D6C300BED}" type="slidenum">
              <a:rPr lang="en-IN" smtClean="0"/>
              <a:t>‹#›</a:t>
            </a:fld>
            <a:endParaRPr lang="en-IN"/>
          </a:p>
        </p:txBody>
      </p:sp>
    </p:spTree>
    <p:extLst>
      <p:ext uri="{BB962C8B-B14F-4D97-AF65-F5344CB8AC3E}">
        <p14:creationId xmlns:p14="http://schemas.microsoft.com/office/powerpoint/2010/main" val="17117300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7F06C1-2792-37DA-F407-333E97621E2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F401028-59B3-6C20-68AA-A9330DAB8518}"/>
              </a:ext>
            </a:extLst>
          </p:cNvPr>
          <p:cNvSpPr>
            <a:spLocks noGrp="1"/>
          </p:cNvSpPr>
          <p:nvPr>
            <p:ph type="dt" sz="half" idx="10"/>
          </p:nvPr>
        </p:nvSpPr>
        <p:spPr/>
        <p:txBody>
          <a:bodyPr/>
          <a:lstStyle/>
          <a:p>
            <a:fld id="{DDC68D98-131E-4B4B-88DA-50EC04E71892}" type="datetimeFigureOut">
              <a:rPr lang="en-IN" smtClean="0"/>
              <a:t>26-07-2026</a:t>
            </a:fld>
            <a:endParaRPr lang="en-IN"/>
          </a:p>
        </p:txBody>
      </p:sp>
      <p:sp>
        <p:nvSpPr>
          <p:cNvPr id="4" name="Footer Placeholder 3">
            <a:extLst>
              <a:ext uri="{FF2B5EF4-FFF2-40B4-BE49-F238E27FC236}">
                <a16:creationId xmlns:a16="http://schemas.microsoft.com/office/drawing/2014/main" id="{B501989E-3E06-CE1B-A095-4D362EDC326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E236516-7191-76CA-BE7A-4A1CBB642819}"/>
              </a:ext>
            </a:extLst>
          </p:cNvPr>
          <p:cNvSpPr>
            <a:spLocks noGrp="1"/>
          </p:cNvSpPr>
          <p:nvPr>
            <p:ph type="sldNum" sz="quarter" idx="12"/>
          </p:nvPr>
        </p:nvSpPr>
        <p:spPr/>
        <p:txBody>
          <a:bodyPr/>
          <a:lstStyle/>
          <a:p>
            <a:fld id="{012D98F9-EA0C-4BD7-96E4-5A0D6C300BED}" type="slidenum">
              <a:rPr lang="en-IN" smtClean="0"/>
              <a:t>‹#›</a:t>
            </a:fld>
            <a:endParaRPr lang="en-IN"/>
          </a:p>
        </p:txBody>
      </p:sp>
    </p:spTree>
    <p:extLst>
      <p:ext uri="{BB962C8B-B14F-4D97-AF65-F5344CB8AC3E}">
        <p14:creationId xmlns:p14="http://schemas.microsoft.com/office/powerpoint/2010/main" val="4965807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974389-BBD1-B20E-1505-5587B02C76C6}"/>
              </a:ext>
            </a:extLst>
          </p:cNvPr>
          <p:cNvSpPr>
            <a:spLocks noGrp="1"/>
          </p:cNvSpPr>
          <p:nvPr>
            <p:ph type="dt" sz="half" idx="10"/>
          </p:nvPr>
        </p:nvSpPr>
        <p:spPr/>
        <p:txBody>
          <a:bodyPr/>
          <a:lstStyle/>
          <a:p>
            <a:fld id="{DDC68D98-131E-4B4B-88DA-50EC04E71892}" type="datetimeFigureOut">
              <a:rPr lang="en-IN" smtClean="0"/>
              <a:t>26-07-2026</a:t>
            </a:fld>
            <a:endParaRPr lang="en-IN"/>
          </a:p>
        </p:txBody>
      </p:sp>
      <p:sp>
        <p:nvSpPr>
          <p:cNvPr id="3" name="Footer Placeholder 2">
            <a:extLst>
              <a:ext uri="{FF2B5EF4-FFF2-40B4-BE49-F238E27FC236}">
                <a16:creationId xmlns:a16="http://schemas.microsoft.com/office/drawing/2014/main" id="{517A1617-ADDD-5454-2B38-397C19EC438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08036FE-2E13-2346-2FA3-4D5D3492D522}"/>
              </a:ext>
            </a:extLst>
          </p:cNvPr>
          <p:cNvSpPr>
            <a:spLocks noGrp="1"/>
          </p:cNvSpPr>
          <p:nvPr>
            <p:ph type="sldNum" sz="quarter" idx="12"/>
          </p:nvPr>
        </p:nvSpPr>
        <p:spPr/>
        <p:txBody>
          <a:bodyPr/>
          <a:lstStyle/>
          <a:p>
            <a:fld id="{012D98F9-EA0C-4BD7-96E4-5A0D6C300BED}" type="slidenum">
              <a:rPr lang="en-IN" smtClean="0"/>
              <a:t>‹#›</a:t>
            </a:fld>
            <a:endParaRPr lang="en-IN"/>
          </a:p>
        </p:txBody>
      </p:sp>
    </p:spTree>
    <p:extLst>
      <p:ext uri="{BB962C8B-B14F-4D97-AF65-F5344CB8AC3E}">
        <p14:creationId xmlns:p14="http://schemas.microsoft.com/office/powerpoint/2010/main" val="38183695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2A5F93-D43E-BFA8-16D4-93E6633699A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FDE9CBB-B819-28E8-A94A-81FDA04331B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15E3A8B-CBD2-BB0E-CBEE-14DF1F7304C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DE6DD7E-0D55-8CD4-A38F-39923A0E2428}"/>
              </a:ext>
            </a:extLst>
          </p:cNvPr>
          <p:cNvSpPr>
            <a:spLocks noGrp="1"/>
          </p:cNvSpPr>
          <p:nvPr>
            <p:ph type="dt" sz="half" idx="10"/>
          </p:nvPr>
        </p:nvSpPr>
        <p:spPr/>
        <p:txBody>
          <a:bodyPr/>
          <a:lstStyle/>
          <a:p>
            <a:fld id="{DDC68D98-131E-4B4B-88DA-50EC04E71892}" type="datetimeFigureOut">
              <a:rPr lang="en-IN" smtClean="0"/>
              <a:t>26-07-2026</a:t>
            </a:fld>
            <a:endParaRPr lang="en-IN"/>
          </a:p>
        </p:txBody>
      </p:sp>
      <p:sp>
        <p:nvSpPr>
          <p:cNvPr id="6" name="Footer Placeholder 5">
            <a:extLst>
              <a:ext uri="{FF2B5EF4-FFF2-40B4-BE49-F238E27FC236}">
                <a16:creationId xmlns:a16="http://schemas.microsoft.com/office/drawing/2014/main" id="{80143AFF-FA8B-6388-B841-EDC1B0D2AC6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408528D-4C56-9B55-2358-2D284B938787}"/>
              </a:ext>
            </a:extLst>
          </p:cNvPr>
          <p:cNvSpPr>
            <a:spLocks noGrp="1"/>
          </p:cNvSpPr>
          <p:nvPr>
            <p:ph type="sldNum" sz="quarter" idx="12"/>
          </p:nvPr>
        </p:nvSpPr>
        <p:spPr/>
        <p:txBody>
          <a:bodyPr/>
          <a:lstStyle/>
          <a:p>
            <a:fld id="{012D98F9-EA0C-4BD7-96E4-5A0D6C300BED}" type="slidenum">
              <a:rPr lang="en-IN" smtClean="0"/>
              <a:t>‹#›</a:t>
            </a:fld>
            <a:endParaRPr lang="en-IN"/>
          </a:p>
        </p:txBody>
      </p:sp>
    </p:spTree>
    <p:extLst>
      <p:ext uri="{BB962C8B-B14F-4D97-AF65-F5344CB8AC3E}">
        <p14:creationId xmlns:p14="http://schemas.microsoft.com/office/powerpoint/2010/main" val="30402599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5777A1-70D7-FE58-8A4E-D3760FAE671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BF5191D-8989-ABFB-F7B6-03A7E4D891C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FE8DB87-AF64-CC58-D9E3-A19AC477BA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03CA8F-548B-080D-7E17-8C9A9519DC79}"/>
              </a:ext>
            </a:extLst>
          </p:cNvPr>
          <p:cNvSpPr>
            <a:spLocks noGrp="1"/>
          </p:cNvSpPr>
          <p:nvPr>
            <p:ph type="dt" sz="half" idx="10"/>
          </p:nvPr>
        </p:nvSpPr>
        <p:spPr/>
        <p:txBody>
          <a:bodyPr/>
          <a:lstStyle/>
          <a:p>
            <a:fld id="{DDC68D98-131E-4B4B-88DA-50EC04E71892}" type="datetimeFigureOut">
              <a:rPr lang="en-IN" smtClean="0"/>
              <a:t>26-07-2026</a:t>
            </a:fld>
            <a:endParaRPr lang="en-IN"/>
          </a:p>
        </p:txBody>
      </p:sp>
      <p:sp>
        <p:nvSpPr>
          <p:cNvPr id="6" name="Footer Placeholder 5">
            <a:extLst>
              <a:ext uri="{FF2B5EF4-FFF2-40B4-BE49-F238E27FC236}">
                <a16:creationId xmlns:a16="http://schemas.microsoft.com/office/drawing/2014/main" id="{680188CA-0C3E-6A27-4CF1-470DF0A4DAC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2938A16-85D3-4DF4-E2DA-0F7702A4DC63}"/>
              </a:ext>
            </a:extLst>
          </p:cNvPr>
          <p:cNvSpPr>
            <a:spLocks noGrp="1"/>
          </p:cNvSpPr>
          <p:nvPr>
            <p:ph type="sldNum" sz="quarter" idx="12"/>
          </p:nvPr>
        </p:nvSpPr>
        <p:spPr/>
        <p:txBody>
          <a:bodyPr/>
          <a:lstStyle/>
          <a:p>
            <a:fld id="{012D98F9-EA0C-4BD7-96E4-5A0D6C300BED}" type="slidenum">
              <a:rPr lang="en-IN" smtClean="0"/>
              <a:t>‹#›</a:t>
            </a:fld>
            <a:endParaRPr lang="en-IN"/>
          </a:p>
        </p:txBody>
      </p:sp>
    </p:spTree>
    <p:extLst>
      <p:ext uri="{BB962C8B-B14F-4D97-AF65-F5344CB8AC3E}">
        <p14:creationId xmlns:p14="http://schemas.microsoft.com/office/powerpoint/2010/main" val="3321944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E80440-B708-6A02-71A9-AB7FCC2DAF9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0A9F5E4-EF66-5912-36E6-8C04C26E62B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74CABA2-DBA7-054B-7267-0E960E8E4A5A}"/>
              </a:ext>
            </a:extLst>
          </p:cNvPr>
          <p:cNvSpPr>
            <a:spLocks noGrp="1"/>
          </p:cNvSpPr>
          <p:nvPr>
            <p:ph type="dt" sz="half" idx="10"/>
          </p:nvPr>
        </p:nvSpPr>
        <p:spPr/>
        <p:txBody>
          <a:bodyPr/>
          <a:lstStyle/>
          <a:p>
            <a:fld id="{DDC68D98-131E-4B4B-88DA-50EC04E71892}" type="datetimeFigureOut">
              <a:rPr lang="en-IN" smtClean="0"/>
              <a:t>26-07-2026</a:t>
            </a:fld>
            <a:endParaRPr lang="en-IN"/>
          </a:p>
        </p:txBody>
      </p:sp>
      <p:sp>
        <p:nvSpPr>
          <p:cNvPr id="5" name="Footer Placeholder 4">
            <a:extLst>
              <a:ext uri="{FF2B5EF4-FFF2-40B4-BE49-F238E27FC236}">
                <a16:creationId xmlns:a16="http://schemas.microsoft.com/office/drawing/2014/main" id="{1482F1AD-560F-77CD-A0E6-A4FC8F225C8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355A5A9-611E-2C86-ED01-39BC69A27E59}"/>
              </a:ext>
            </a:extLst>
          </p:cNvPr>
          <p:cNvSpPr>
            <a:spLocks noGrp="1"/>
          </p:cNvSpPr>
          <p:nvPr>
            <p:ph type="sldNum" sz="quarter" idx="12"/>
          </p:nvPr>
        </p:nvSpPr>
        <p:spPr/>
        <p:txBody>
          <a:bodyPr/>
          <a:lstStyle/>
          <a:p>
            <a:fld id="{012D98F9-EA0C-4BD7-96E4-5A0D6C300BED}" type="slidenum">
              <a:rPr lang="en-IN" smtClean="0"/>
              <a:t>‹#›</a:t>
            </a:fld>
            <a:endParaRPr lang="en-IN"/>
          </a:p>
        </p:txBody>
      </p:sp>
    </p:spTree>
    <p:extLst>
      <p:ext uri="{BB962C8B-B14F-4D97-AF65-F5344CB8AC3E}">
        <p14:creationId xmlns:p14="http://schemas.microsoft.com/office/powerpoint/2010/main" val="23396043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C681922-DA69-A08C-5B8D-81625E48E78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6F4CCF9-1731-125E-86A8-C9108CAA42F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3FF47FA-FC3B-14ED-DA80-2934BBF5636A}"/>
              </a:ext>
            </a:extLst>
          </p:cNvPr>
          <p:cNvSpPr>
            <a:spLocks noGrp="1"/>
          </p:cNvSpPr>
          <p:nvPr>
            <p:ph type="dt" sz="half" idx="10"/>
          </p:nvPr>
        </p:nvSpPr>
        <p:spPr/>
        <p:txBody>
          <a:bodyPr/>
          <a:lstStyle/>
          <a:p>
            <a:fld id="{DDC68D98-131E-4B4B-88DA-50EC04E71892}" type="datetimeFigureOut">
              <a:rPr lang="en-IN" smtClean="0"/>
              <a:t>26-07-2026</a:t>
            </a:fld>
            <a:endParaRPr lang="en-IN"/>
          </a:p>
        </p:txBody>
      </p:sp>
      <p:sp>
        <p:nvSpPr>
          <p:cNvPr id="5" name="Footer Placeholder 4">
            <a:extLst>
              <a:ext uri="{FF2B5EF4-FFF2-40B4-BE49-F238E27FC236}">
                <a16:creationId xmlns:a16="http://schemas.microsoft.com/office/drawing/2014/main" id="{16B2B894-7301-DAF0-B62C-9344238DFA4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0AA2AF6-AA6B-3BC9-33A5-156277B0995B}"/>
              </a:ext>
            </a:extLst>
          </p:cNvPr>
          <p:cNvSpPr>
            <a:spLocks noGrp="1"/>
          </p:cNvSpPr>
          <p:nvPr>
            <p:ph type="sldNum" sz="quarter" idx="12"/>
          </p:nvPr>
        </p:nvSpPr>
        <p:spPr/>
        <p:txBody>
          <a:bodyPr/>
          <a:lstStyle/>
          <a:p>
            <a:fld id="{012D98F9-EA0C-4BD7-96E4-5A0D6C300BED}" type="slidenum">
              <a:rPr lang="en-IN" smtClean="0"/>
              <a:t>‹#›</a:t>
            </a:fld>
            <a:endParaRPr lang="en-IN"/>
          </a:p>
        </p:txBody>
      </p:sp>
    </p:spTree>
    <p:extLst>
      <p:ext uri="{BB962C8B-B14F-4D97-AF65-F5344CB8AC3E}">
        <p14:creationId xmlns:p14="http://schemas.microsoft.com/office/powerpoint/2010/main" val="16761902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5800945-B770-AA51-AE7B-EE4A11A6F4C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11AEB6B-4425-497C-C5DD-A5A7A490C89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B82C441-14DA-F29A-848F-EB57F8738A6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DC68D98-131E-4B4B-88DA-50EC04E71892}" type="datetimeFigureOut">
              <a:rPr lang="en-IN" smtClean="0"/>
              <a:t>26-07-2026</a:t>
            </a:fld>
            <a:endParaRPr lang="en-IN"/>
          </a:p>
        </p:txBody>
      </p:sp>
      <p:sp>
        <p:nvSpPr>
          <p:cNvPr id="5" name="Footer Placeholder 4">
            <a:extLst>
              <a:ext uri="{FF2B5EF4-FFF2-40B4-BE49-F238E27FC236}">
                <a16:creationId xmlns:a16="http://schemas.microsoft.com/office/drawing/2014/main" id="{201EBDAF-9E82-9BF7-2D64-285703AA6A6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94FB59B5-BB89-B70D-F7EF-A08FA98F3E1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12D98F9-EA0C-4BD7-96E4-5A0D6C300BED}" type="slidenum">
              <a:rPr lang="en-IN" smtClean="0"/>
              <a:t>‹#›</a:t>
            </a:fld>
            <a:endParaRPr lang="en-IN"/>
          </a:p>
        </p:txBody>
      </p:sp>
    </p:spTree>
    <p:extLst>
      <p:ext uri="{BB962C8B-B14F-4D97-AF65-F5344CB8AC3E}">
        <p14:creationId xmlns:p14="http://schemas.microsoft.com/office/powerpoint/2010/main" val="24040542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DB6C8-4BF9-FF48-CCC8-F718E68F13D6}"/>
              </a:ext>
            </a:extLst>
          </p:cNvPr>
          <p:cNvSpPr>
            <a:spLocks noGrp="1"/>
          </p:cNvSpPr>
          <p:nvPr>
            <p:ph type="ctrTitle"/>
          </p:nvPr>
        </p:nvSpPr>
        <p:spPr/>
        <p:txBody>
          <a:bodyPr/>
          <a:lstStyle/>
          <a:p>
            <a:r>
              <a:rPr lang="en-GB" dirty="0"/>
              <a:t>Azure basics</a:t>
            </a:r>
            <a:endParaRPr lang="en-IN" dirty="0"/>
          </a:p>
        </p:txBody>
      </p:sp>
      <p:sp>
        <p:nvSpPr>
          <p:cNvPr id="3" name="Subtitle 2">
            <a:extLst>
              <a:ext uri="{FF2B5EF4-FFF2-40B4-BE49-F238E27FC236}">
                <a16:creationId xmlns:a16="http://schemas.microsoft.com/office/drawing/2014/main" id="{D1BB9DC4-DEDC-CFA2-27EB-E6D27B992A37}"/>
              </a:ext>
            </a:extLst>
          </p:cNvPr>
          <p:cNvSpPr>
            <a:spLocks noGrp="1"/>
          </p:cNvSpPr>
          <p:nvPr>
            <p:ph type="subTitle" idx="1"/>
          </p:nvPr>
        </p:nvSpPr>
        <p:spPr/>
        <p:txBody>
          <a:bodyPr/>
          <a:lstStyle/>
          <a:p>
            <a:endParaRPr lang="en-IN" dirty="0"/>
          </a:p>
        </p:txBody>
      </p:sp>
    </p:spTree>
    <p:extLst>
      <p:ext uri="{BB962C8B-B14F-4D97-AF65-F5344CB8AC3E}">
        <p14:creationId xmlns:p14="http://schemas.microsoft.com/office/powerpoint/2010/main" val="37964938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64F6C75-F88A-3EE9-FFF4-AD4794F976FF}"/>
              </a:ext>
            </a:extLst>
          </p:cNvPr>
          <p:cNvSpPr txBox="1"/>
          <p:nvPr/>
        </p:nvSpPr>
        <p:spPr>
          <a:xfrm>
            <a:off x="3048000" y="2136339"/>
            <a:ext cx="6096000" cy="2585323"/>
          </a:xfrm>
          <a:prstGeom prst="rect">
            <a:avLst/>
          </a:prstGeom>
          <a:noFill/>
        </p:spPr>
        <p:txBody>
          <a:bodyPr wrap="square">
            <a:spAutoFit/>
          </a:bodyPr>
          <a:lstStyle/>
          <a:p>
            <a:pPr>
              <a:buNone/>
            </a:pPr>
            <a:r>
              <a:rPr lang="en-IN" dirty="0"/>
              <a:t>Azure architecture is generally explained in </a:t>
            </a:r>
            <a:r>
              <a:rPr lang="en-IN" b="1" dirty="0"/>
              <a:t>two parts</a:t>
            </a:r>
            <a:r>
              <a:rPr lang="en-IN" dirty="0"/>
              <a:t>:</a:t>
            </a:r>
          </a:p>
          <a:p>
            <a:pPr>
              <a:buFont typeface="+mj-lt"/>
              <a:buAutoNum type="arabicPeriod"/>
            </a:pPr>
            <a:r>
              <a:rPr lang="en-IN" b="1" dirty="0"/>
              <a:t>Physical Architecture</a:t>
            </a:r>
            <a:r>
              <a:rPr lang="en-IN" dirty="0"/>
              <a:t> – </a:t>
            </a:r>
            <a:r>
              <a:rPr lang="en-IN" i="1" dirty="0"/>
              <a:t>Where Azure exists physically.</a:t>
            </a:r>
            <a:r>
              <a:rPr lang="en-IN" dirty="0"/>
              <a:t> </a:t>
            </a:r>
          </a:p>
          <a:p>
            <a:pPr>
              <a:buFont typeface="+mj-lt"/>
              <a:buAutoNum type="arabicPeriod"/>
            </a:pPr>
            <a:r>
              <a:rPr lang="en-IN" b="1" dirty="0"/>
              <a:t>Logical Architecture</a:t>
            </a:r>
            <a:r>
              <a:rPr lang="en-IN" dirty="0"/>
              <a:t> – </a:t>
            </a:r>
            <a:r>
              <a:rPr lang="en-IN" i="1" dirty="0"/>
              <a:t>How Azure resources are organized and managed.</a:t>
            </a:r>
            <a:r>
              <a:rPr lang="en-IN" dirty="0"/>
              <a:t> </a:t>
            </a:r>
          </a:p>
          <a:p>
            <a:pPr>
              <a:buNone/>
            </a:pPr>
            <a:r>
              <a:rPr lang="en-IN" dirty="0"/>
              <a:t>Think of it like a city:</a:t>
            </a:r>
          </a:p>
          <a:p>
            <a:pPr>
              <a:buFont typeface="Arial" panose="020B0604020202020204" pitchFamily="34" charset="0"/>
              <a:buChar char="•"/>
            </a:pPr>
            <a:r>
              <a:rPr lang="en-IN" b="1" dirty="0"/>
              <a:t>Physical Architecture</a:t>
            </a:r>
            <a:r>
              <a:rPr lang="en-IN" dirty="0"/>
              <a:t> = The actual land, buildings, roads, and power supply. </a:t>
            </a:r>
          </a:p>
          <a:p>
            <a:pPr>
              <a:buFont typeface="Arial" panose="020B0604020202020204" pitchFamily="34" charset="0"/>
              <a:buChar char="•"/>
            </a:pPr>
            <a:r>
              <a:rPr lang="en-IN" b="1" dirty="0"/>
              <a:t>Logical Architecture</a:t>
            </a:r>
            <a:r>
              <a:rPr lang="en-IN" dirty="0"/>
              <a:t> = The city map showing districts, streets, and addresses.</a:t>
            </a:r>
          </a:p>
        </p:txBody>
      </p:sp>
    </p:spTree>
    <p:extLst>
      <p:ext uri="{BB962C8B-B14F-4D97-AF65-F5344CB8AC3E}">
        <p14:creationId xmlns:p14="http://schemas.microsoft.com/office/powerpoint/2010/main" val="12739403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748C40-F760-C5B4-65BB-CDEF24AA1D5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35F3299-0F51-7EB5-F897-861F50DD7B5C}"/>
              </a:ext>
            </a:extLst>
          </p:cNvPr>
          <p:cNvSpPr txBox="1"/>
          <p:nvPr/>
        </p:nvSpPr>
        <p:spPr>
          <a:xfrm>
            <a:off x="2967790" y="1166842"/>
            <a:ext cx="6096000" cy="4524315"/>
          </a:xfrm>
          <a:prstGeom prst="rect">
            <a:avLst/>
          </a:prstGeom>
          <a:noFill/>
        </p:spPr>
        <p:txBody>
          <a:bodyPr wrap="square">
            <a:spAutoFit/>
          </a:bodyPr>
          <a:lstStyle/>
          <a:p>
            <a:r>
              <a:rPr lang="en-IN" b="1" dirty="0"/>
              <a:t>Azure Physical Infrastructure</a:t>
            </a:r>
          </a:p>
          <a:p>
            <a:r>
              <a:rPr lang="en-IN" dirty="0"/>
              <a:t>Azure runs from large buildings called </a:t>
            </a:r>
            <a:r>
              <a:rPr lang="en-IN" b="1" dirty="0"/>
              <a:t>datacenters</a:t>
            </a:r>
            <a:r>
              <a:rPr lang="en-IN" dirty="0"/>
              <a:t>. </a:t>
            </a:r>
          </a:p>
          <a:p>
            <a:r>
              <a:rPr lang="en-IN" dirty="0"/>
              <a:t>A datacenter contains </a:t>
            </a:r>
            <a:r>
              <a:rPr lang="en-IN" b="1" dirty="0"/>
              <a:t>servers, storage, and networking equipment</a:t>
            </a:r>
            <a:r>
              <a:rPr lang="en-IN" dirty="0"/>
              <a:t>. </a:t>
            </a:r>
          </a:p>
          <a:p>
            <a:r>
              <a:rPr lang="en-IN" dirty="0"/>
              <a:t>It also has </a:t>
            </a:r>
            <a:r>
              <a:rPr lang="en-IN" b="1" dirty="0"/>
              <a:t>power, cooling, and security</a:t>
            </a:r>
            <a:r>
              <a:rPr lang="en-IN" dirty="0"/>
              <a:t> to keep everything running. </a:t>
            </a:r>
          </a:p>
          <a:p>
            <a:r>
              <a:rPr lang="en-IN" dirty="0"/>
              <a:t>Microsoft has </a:t>
            </a:r>
            <a:r>
              <a:rPr lang="en-IN" b="1" dirty="0"/>
              <a:t>many datacenters around the world</a:t>
            </a:r>
            <a:r>
              <a:rPr lang="en-IN" dirty="0"/>
              <a:t>. </a:t>
            </a:r>
          </a:p>
          <a:p>
            <a:r>
              <a:rPr lang="en-IN" dirty="0"/>
              <a:t>You cannot choose or access a specific datacenter directly. </a:t>
            </a:r>
          </a:p>
          <a:p>
            <a:r>
              <a:rPr lang="en-IN" dirty="0"/>
              <a:t>Instead, Azure groups datacenters into </a:t>
            </a:r>
            <a:r>
              <a:rPr lang="en-IN" b="1" dirty="0"/>
              <a:t>Regions</a:t>
            </a:r>
            <a:r>
              <a:rPr lang="en-IN" dirty="0"/>
              <a:t> and </a:t>
            </a:r>
            <a:r>
              <a:rPr lang="en-IN" b="1" dirty="0"/>
              <a:t>Availability Zones</a:t>
            </a:r>
            <a:r>
              <a:rPr lang="en-IN" dirty="0"/>
              <a:t>. </a:t>
            </a:r>
          </a:p>
          <a:p>
            <a:r>
              <a:rPr lang="en-IN" dirty="0"/>
              <a:t>These groups help keep your applications </a:t>
            </a:r>
            <a:r>
              <a:rPr lang="en-IN" b="1" dirty="0"/>
              <a:t>available and reliable</a:t>
            </a:r>
            <a:r>
              <a:rPr lang="en-IN" dirty="0"/>
              <a:t>, even if one datacenter has a problem. </a:t>
            </a:r>
          </a:p>
          <a:p>
            <a:r>
              <a:rPr lang="en-IN" b="1" dirty="0"/>
              <a:t>🎤 One-Line Summary</a:t>
            </a:r>
          </a:p>
          <a:p>
            <a:r>
              <a:rPr lang="en-IN" b="1" dirty="0"/>
              <a:t>"Azure is built on datacenters, and these datacenters are organized into Regions and Availability Zones to provide high availability and reliability."</a:t>
            </a:r>
            <a:endParaRPr lang="en-IN" dirty="0"/>
          </a:p>
        </p:txBody>
      </p:sp>
    </p:spTree>
    <p:extLst>
      <p:ext uri="{BB962C8B-B14F-4D97-AF65-F5344CB8AC3E}">
        <p14:creationId xmlns:p14="http://schemas.microsoft.com/office/powerpoint/2010/main" val="31398488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722F49-0E2F-362F-14BB-EDC75BC4FC1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3AB5B44B-3C77-99EE-1A38-2E0F54DA7E38}"/>
              </a:ext>
            </a:extLst>
          </p:cNvPr>
          <p:cNvSpPr txBox="1"/>
          <p:nvPr/>
        </p:nvSpPr>
        <p:spPr>
          <a:xfrm>
            <a:off x="665747" y="653494"/>
            <a:ext cx="11181348" cy="6186309"/>
          </a:xfrm>
          <a:prstGeom prst="rect">
            <a:avLst/>
          </a:prstGeom>
          <a:noFill/>
        </p:spPr>
        <p:txBody>
          <a:bodyPr wrap="square">
            <a:spAutoFit/>
          </a:bodyPr>
          <a:lstStyle/>
          <a:p>
            <a:r>
              <a:rPr lang="en-IN" dirty="0"/>
              <a:t>Now let's understand </a:t>
            </a:r>
            <a:r>
              <a:rPr lang="en-IN" b="1" dirty="0"/>
              <a:t>Azure Geographies</a:t>
            </a:r>
            <a:r>
              <a:rPr lang="en-IN" dirty="0"/>
              <a:t>.</a:t>
            </a:r>
          </a:p>
          <a:p>
            <a:r>
              <a:rPr lang="en-IN" dirty="0"/>
              <a:t>Before I explain Azure Geography, let me ask you a question.</a:t>
            </a:r>
          </a:p>
          <a:p>
            <a:r>
              <a:rPr lang="en-IN" b="1" dirty="0"/>
              <a:t>Have you ever seen companies saying, "Our customer data never leaves India" or "European customer data stays only in Europe"?</a:t>
            </a:r>
            <a:endParaRPr lang="en-IN" dirty="0"/>
          </a:p>
          <a:p>
            <a:r>
              <a:rPr lang="en-IN" dirty="0"/>
              <a:t>Why do companies say that?</a:t>
            </a:r>
          </a:p>
          <a:p>
            <a:r>
              <a:rPr lang="en-IN" dirty="0"/>
              <a:t>Because many countries have laws about </a:t>
            </a:r>
            <a:r>
              <a:rPr lang="en-IN" b="1" dirty="0"/>
              <a:t>where customer data can be stored</a:t>
            </a:r>
            <a:r>
              <a:rPr lang="en-IN" dirty="0"/>
              <a:t>.</a:t>
            </a:r>
          </a:p>
          <a:p>
            <a:r>
              <a:rPr lang="en-IN" dirty="0"/>
              <a:t>That's exactly where </a:t>
            </a:r>
            <a:r>
              <a:rPr lang="en-IN" b="1" dirty="0"/>
              <a:t>Azure Geography</a:t>
            </a:r>
            <a:r>
              <a:rPr lang="en-IN" dirty="0"/>
              <a:t> comes in.</a:t>
            </a:r>
          </a:p>
          <a:p>
            <a:r>
              <a:rPr lang="en-IN" dirty="0"/>
              <a:t>So, </a:t>
            </a:r>
            <a:r>
              <a:rPr lang="en-IN" b="1" dirty="0"/>
              <a:t>what is an Azure Geography?</a:t>
            </a:r>
            <a:endParaRPr lang="en-IN" dirty="0"/>
          </a:p>
          <a:p>
            <a:r>
              <a:rPr lang="en-IN" dirty="0"/>
              <a:t>In simple words...</a:t>
            </a:r>
          </a:p>
          <a:p>
            <a:r>
              <a:rPr lang="en-IN" b="1" dirty="0"/>
              <a:t>An Azure Geography is a large area that contains one or more Azure Regions.</a:t>
            </a:r>
            <a:endParaRPr lang="en-IN" dirty="0"/>
          </a:p>
          <a:p>
            <a:r>
              <a:rPr lang="en-IN" dirty="0"/>
              <a:t>Think of it as a </a:t>
            </a:r>
            <a:r>
              <a:rPr lang="en-IN" b="1" dirty="0"/>
              <a:t>big boundary</a:t>
            </a:r>
            <a:r>
              <a:rPr lang="en-IN" dirty="0"/>
              <a:t> that Microsoft creates.</a:t>
            </a:r>
          </a:p>
          <a:p>
            <a:r>
              <a:rPr lang="en-IN" dirty="0"/>
              <a:t>Inside that boundary, there are multiple Azure Regions.</a:t>
            </a:r>
          </a:p>
          <a:p>
            <a:r>
              <a:rPr lang="en-IN" dirty="0"/>
              <a:t>For example...</a:t>
            </a:r>
          </a:p>
          <a:p>
            <a:r>
              <a:rPr lang="en-IN" dirty="0"/>
              <a:t>Suppose Microsoft creates an </a:t>
            </a:r>
            <a:r>
              <a:rPr lang="en-IN" b="1" dirty="0"/>
              <a:t>India Geography</a:t>
            </a:r>
            <a:r>
              <a:rPr lang="en-IN" dirty="0"/>
              <a:t>.</a:t>
            </a:r>
          </a:p>
          <a:p>
            <a:r>
              <a:rPr lang="en-IN" dirty="0"/>
              <a:t>Inside that Geography, there may be multiple Azure Regions such as:</a:t>
            </a:r>
          </a:p>
          <a:p>
            <a:r>
              <a:rPr lang="en-IN" dirty="0"/>
              <a:t>Central India </a:t>
            </a:r>
          </a:p>
          <a:p>
            <a:r>
              <a:rPr lang="en-IN" dirty="0"/>
              <a:t>South India </a:t>
            </a:r>
          </a:p>
          <a:p>
            <a:r>
              <a:rPr lang="en-IN" dirty="0"/>
              <a:t>All these regions belong to the same Geography.</a:t>
            </a:r>
          </a:p>
          <a:p>
            <a:r>
              <a:rPr lang="en-IN" dirty="0"/>
              <a:t>So remember...</a:t>
            </a:r>
          </a:p>
          <a:p>
            <a:r>
              <a:rPr lang="en-IN" b="1" dirty="0"/>
              <a:t>Geography is the bigger area.</a:t>
            </a:r>
            <a:endParaRPr lang="en-IN" dirty="0"/>
          </a:p>
          <a:p>
            <a:r>
              <a:rPr lang="en-IN" b="1" dirty="0"/>
              <a:t>Regions are the smaller locations inside it.</a:t>
            </a:r>
            <a:endParaRPr lang="en-IN" dirty="0"/>
          </a:p>
          <a:p>
            <a:endParaRPr lang="en-IN" dirty="0"/>
          </a:p>
        </p:txBody>
      </p:sp>
      <p:sp>
        <p:nvSpPr>
          <p:cNvPr id="4" name="TextBox 3">
            <a:extLst>
              <a:ext uri="{FF2B5EF4-FFF2-40B4-BE49-F238E27FC236}">
                <a16:creationId xmlns:a16="http://schemas.microsoft.com/office/drawing/2014/main" id="{942E7BD9-1E77-0324-1EBE-446FC8CBBD9C}"/>
              </a:ext>
            </a:extLst>
          </p:cNvPr>
          <p:cNvSpPr txBox="1"/>
          <p:nvPr/>
        </p:nvSpPr>
        <p:spPr>
          <a:xfrm>
            <a:off x="8646695" y="124146"/>
            <a:ext cx="2197768" cy="369332"/>
          </a:xfrm>
          <a:prstGeom prst="rect">
            <a:avLst/>
          </a:prstGeom>
          <a:noFill/>
        </p:spPr>
        <p:txBody>
          <a:bodyPr wrap="square">
            <a:spAutoFit/>
          </a:bodyPr>
          <a:lstStyle/>
          <a:p>
            <a:r>
              <a:rPr lang="en-IN" b="1" dirty="0"/>
              <a:t>Azure Geographies</a:t>
            </a:r>
            <a:endParaRPr lang="en-IN" dirty="0"/>
          </a:p>
        </p:txBody>
      </p:sp>
    </p:spTree>
    <p:extLst>
      <p:ext uri="{BB962C8B-B14F-4D97-AF65-F5344CB8AC3E}">
        <p14:creationId xmlns:p14="http://schemas.microsoft.com/office/powerpoint/2010/main" val="36041128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6196C8-8123-DB9C-5F74-66B88E95012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65570FD-7503-696A-D421-6A990EDA3827}"/>
              </a:ext>
            </a:extLst>
          </p:cNvPr>
          <p:cNvSpPr txBox="1"/>
          <p:nvPr/>
        </p:nvSpPr>
        <p:spPr>
          <a:xfrm>
            <a:off x="681789" y="117693"/>
            <a:ext cx="11181348" cy="6740307"/>
          </a:xfrm>
          <a:prstGeom prst="rect">
            <a:avLst/>
          </a:prstGeom>
          <a:noFill/>
        </p:spPr>
        <p:txBody>
          <a:bodyPr wrap="square">
            <a:spAutoFit/>
          </a:bodyPr>
          <a:lstStyle/>
          <a:p>
            <a:r>
              <a:rPr lang="en-IN" dirty="0"/>
              <a:t>Now the next question is...</a:t>
            </a:r>
          </a:p>
          <a:p>
            <a:r>
              <a:rPr lang="en-IN" b="1" dirty="0"/>
              <a:t>Why do we need Azure Geographies?</a:t>
            </a:r>
            <a:endParaRPr lang="en-IN" dirty="0"/>
          </a:p>
          <a:p>
            <a:r>
              <a:rPr lang="en-IN" dirty="0"/>
              <a:t>The biggest reason is </a:t>
            </a:r>
            <a:r>
              <a:rPr lang="en-IN" b="1" dirty="0"/>
              <a:t>data residency</a:t>
            </a:r>
            <a:r>
              <a:rPr lang="en-IN" dirty="0"/>
              <a:t>.</a:t>
            </a:r>
          </a:p>
          <a:p>
            <a:r>
              <a:rPr lang="en-IN" dirty="0"/>
              <a:t>Now, what does </a:t>
            </a:r>
            <a:r>
              <a:rPr lang="en-IN" b="1" dirty="0"/>
              <a:t>data residency</a:t>
            </a:r>
            <a:r>
              <a:rPr lang="en-IN" dirty="0"/>
              <a:t> mean?</a:t>
            </a:r>
          </a:p>
          <a:p>
            <a:r>
              <a:rPr lang="en-IN" dirty="0"/>
              <a:t>It simply means...</a:t>
            </a:r>
          </a:p>
          <a:p>
            <a:r>
              <a:rPr lang="en-IN" b="1" dirty="0"/>
              <a:t>The data stays in a particular country or geographic area instead of moving around the world.</a:t>
            </a:r>
            <a:endParaRPr lang="en-IN" dirty="0"/>
          </a:p>
          <a:p>
            <a:r>
              <a:rPr lang="en-IN" dirty="0"/>
              <a:t>Many governments and organizations require this by law.</a:t>
            </a:r>
          </a:p>
          <a:p>
            <a:r>
              <a:rPr lang="en-IN" dirty="0"/>
              <a:t>Suppose you have customers in Europe.</a:t>
            </a:r>
          </a:p>
          <a:p>
            <a:r>
              <a:rPr lang="en-IN" dirty="0"/>
              <a:t>European privacy laws are very strict.</a:t>
            </a:r>
          </a:p>
          <a:p>
            <a:r>
              <a:rPr lang="en-IN" dirty="0"/>
              <a:t>Many organizations choose Azure Regions that belong to the Europe Geography so that customer information stays within Europe. This helps them meet legal and compliance requirements.</a:t>
            </a:r>
          </a:p>
          <a:p>
            <a:r>
              <a:rPr lang="en-IN" dirty="0"/>
              <a:t>So, Azure Geography mainly helps with four things.</a:t>
            </a:r>
          </a:p>
          <a:p>
            <a:r>
              <a:rPr lang="en-IN" b="1" dirty="0"/>
              <a:t>First</a:t>
            </a:r>
            <a:r>
              <a:rPr lang="en-IN" dirty="0"/>
              <a:t>, it groups together one or more Azure Regions.</a:t>
            </a:r>
          </a:p>
          <a:p>
            <a:r>
              <a:rPr lang="en-IN" b="1" dirty="0"/>
              <a:t>Second</a:t>
            </a:r>
            <a:r>
              <a:rPr lang="en-IN" dirty="0"/>
              <a:t>, it usually represents one country or a group of nearby countries.</a:t>
            </a:r>
          </a:p>
          <a:p>
            <a:r>
              <a:rPr lang="en-IN" b="1" dirty="0"/>
              <a:t>Third</a:t>
            </a:r>
            <a:r>
              <a:rPr lang="en-IN" dirty="0"/>
              <a:t>, it helps organizations keep their data in a specific geographic area.</a:t>
            </a:r>
          </a:p>
          <a:p>
            <a:r>
              <a:rPr lang="en-IN" b="1" dirty="0"/>
              <a:t>Fourth</a:t>
            </a:r>
            <a:r>
              <a:rPr lang="en-IN" dirty="0"/>
              <a:t>, it helps meet legal, compliance, and regulatory requirements.</a:t>
            </a:r>
          </a:p>
          <a:p>
            <a:r>
              <a:rPr lang="en-IN" dirty="0"/>
              <a:t>One more important point.</a:t>
            </a:r>
          </a:p>
          <a:p>
            <a:r>
              <a:rPr lang="en-IN" dirty="0"/>
              <a:t>A Geography usually contains </a:t>
            </a:r>
            <a:r>
              <a:rPr lang="en-IN" b="1" dirty="0"/>
              <a:t>multiple Azure Regions</a:t>
            </a:r>
            <a:r>
              <a:rPr lang="en-IN" dirty="0"/>
              <a:t>.</a:t>
            </a:r>
          </a:p>
          <a:p>
            <a:r>
              <a:rPr lang="en-IN" dirty="0"/>
              <a:t>Why?</a:t>
            </a:r>
          </a:p>
          <a:p>
            <a:r>
              <a:rPr lang="en-IN" dirty="0"/>
              <a:t>Because if one Region has a problem, another Region in the same Geography can be used for backup or disaster recovery.</a:t>
            </a:r>
          </a:p>
          <a:p>
            <a:r>
              <a:rPr lang="en-IN" dirty="0"/>
              <a:t>So Microsoft is not only thinking about compliance...</a:t>
            </a:r>
          </a:p>
          <a:p>
            <a:r>
              <a:rPr lang="en-IN" dirty="0"/>
              <a:t>It is also thinking about </a:t>
            </a:r>
            <a:r>
              <a:rPr lang="en-IN" b="1" dirty="0"/>
              <a:t>high availability</a:t>
            </a:r>
            <a:r>
              <a:rPr lang="en-IN" dirty="0"/>
              <a:t> and </a:t>
            </a:r>
            <a:r>
              <a:rPr lang="en-IN" b="1" dirty="0"/>
              <a:t>business continuity</a:t>
            </a:r>
            <a:r>
              <a:rPr lang="en-IN" dirty="0"/>
              <a:t>.</a:t>
            </a:r>
          </a:p>
          <a:p>
            <a:endParaRPr lang="en-IN" dirty="0"/>
          </a:p>
        </p:txBody>
      </p:sp>
      <p:sp>
        <p:nvSpPr>
          <p:cNvPr id="3" name="TextBox 2">
            <a:extLst>
              <a:ext uri="{FF2B5EF4-FFF2-40B4-BE49-F238E27FC236}">
                <a16:creationId xmlns:a16="http://schemas.microsoft.com/office/drawing/2014/main" id="{2AECB12F-5DEB-46B4-5D39-3511B74C322F}"/>
              </a:ext>
            </a:extLst>
          </p:cNvPr>
          <p:cNvSpPr txBox="1"/>
          <p:nvPr/>
        </p:nvSpPr>
        <p:spPr>
          <a:xfrm>
            <a:off x="8646695" y="124146"/>
            <a:ext cx="2197768" cy="369332"/>
          </a:xfrm>
          <a:prstGeom prst="rect">
            <a:avLst/>
          </a:prstGeom>
          <a:noFill/>
        </p:spPr>
        <p:txBody>
          <a:bodyPr wrap="square">
            <a:spAutoFit/>
          </a:bodyPr>
          <a:lstStyle/>
          <a:p>
            <a:r>
              <a:rPr lang="en-IN" b="1" dirty="0"/>
              <a:t>Azure Geographies</a:t>
            </a:r>
            <a:endParaRPr lang="en-IN" dirty="0"/>
          </a:p>
        </p:txBody>
      </p:sp>
    </p:spTree>
    <p:extLst>
      <p:ext uri="{BB962C8B-B14F-4D97-AF65-F5344CB8AC3E}">
        <p14:creationId xmlns:p14="http://schemas.microsoft.com/office/powerpoint/2010/main" val="38405260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AFD173-7CD1-8021-ABDF-7A4CD268B98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F24CA17-6141-6527-2956-C00813C7DD7B}"/>
              </a:ext>
            </a:extLst>
          </p:cNvPr>
          <p:cNvSpPr txBox="1"/>
          <p:nvPr/>
        </p:nvSpPr>
        <p:spPr>
          <a:xfrm>
            <a:off x="681789" y="117693"/>
            <a:ext cx="11181348" cy="1754326"/>
          </a:xfrm>
          <a:prstGeom prst="rect">
            <a:avLst/>
          </a:prstGeom>
          <a:noFill/>
        </p:spPr>
        <p:txBody>
          <a:bodyPr wrap="square">
            <a:spAutoFit/>
          </a:bodyPr>
          <a:lstStyle/>
          <a:p>
            <a:r>
              <a:rPr lang="en-IN" dirty="0"/>
              <a:t>Let's quickly summarize.</a:t>
            </a:r>
          </a:p>
          <a:p>
            <a:r>
              <a:rPr lang="en-IN" b="1" dirty="0"/>
              <a:t>Azure Geography</a:t>
            </a:r>
            <a:r>
              <a:rPr lang="en-IN" dirty="0"/>
              <a:t> is a large area. </a:t>
            </a:r>
          </a:p>
          <a:p>
            <a:r>
              <a:rPr lang="en-IN" dirty="0"/>
              <a:t>It contains </a:t>
            </a:r>
            <a:r>
              <a:rPr lang="en-IN" b="1" dirty="0"/>
              <a:t>one or more Azure Regions</a:t>
            </a:r>
            <a:r>
              <a:rPr lang="en-IN" dirty="0"/>
              <a:t>. </a:t>
            </a:r>
          </a:p>
          <a:p>
            <a:r>
              <a:rPr lang="en-IN" dirty="0"/>
              <a:t>It helps keep data in a specific geographic area. </a:t>
            </a:r>
          </a:p>
          <a:p>
            <a:r>
              <a:rPr lang="en-IN" dirty="0"/>
              <a:t>It supports legal, compliance, and data residency requirements. </a:t>
            </a:r>
          </a:p>
          <a:p>
            <a:r>
              <a:rPr lang="en-IN" dirty="0"/>
              <a:t>Multiple Regions inside the Geography also improve availability and disaster recovery.</a:t>
            </a:r>
          </a:p>
        </p:txBody>
      </p:sp>
      <p:sp>
        <p:nvSpPr>
          <p:cNvPr id="3" name="TextBox 2">
            <a:extLst>
              <a:ext uri="{FF2B5EF4-FFF2-40B4-BE49-F238E27FC236}">
                <a16:creationId xmlns:a16="http://schemas.microsoft.com/office/drawing/2014/main" id="{5525528E-8B84-8FC7-B663-4F1BDE0394BF}"/>
              </a:ext>
            </a:extLst>
          </p:cNvPr>
          <p:cNvSpPr txBox="1"/>
          <p:nvPr/>
        </p:nvSpPr>
        <p:spPr>
          <a:xfrm>
            <a:off x="8646695" y="124146"/>
            <a:ext cx="2197768" cy="369332"/>
          </a:xfrm>
          <a:prstGeom prst="rect">
            <a:avLst/>
          </a:prstGeom>
          <a:noFill/>
        </p:spPr>
        <p:txBody>
          <a:bodyPr wrap="square">
            <a:spAutoFit/>
          </a:bodyPr>
          <a:lstStyle/>
          <a:p>
            <a:r>
              <a:rPr lang="en-IN" b="1" dirty="0"/>
              <a:t>Azure Geographies</a:t>
            </a:r>
            <a:endParaRPr lang="en-IN" dirty="0"/>
          </a:p>
        </p:txBody>
      </p:sp>
    </p:spTree>
    <p:extLst>
      <p:ext uri="{BB962C8B-B14F-4D97-AF65-F5344CB8AC3E}">
        <p14:creationId xmlns:p14="http://schemas.microsoft.com/office/powerpoint/2010/main" val="6467908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DD0DBF-8032-283E-8785-D91EB92E1D4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FC65D45-DAF1-87E0-7C2A-EC454B9BAA31}"/>
              </a:ext>
            </a:extLst>
          </p:cNvPr>
          <p:cNvSpPr txBox="1"/>
          <p:nvPr/>
        </p:nvSpPr>
        <p:spPr>
          <a:xfrm>
            <a:off x="625642" y="612844"/>
            <a:ext cx="11181348" cy="5632311"/>
          </a:xfrm>
          <a:prstGeom prst="rect">
            <a:avLst/>
          </a:prstGeom>
          <a:noFill/>
        </p:spPr>
        <p:txBody>
          <a:bodyPr wrap="square">
            <a:spAutoFit/>
          </a:bodyPr>
          <a:lstStyle/>
          <a:p>
            <a:r>
              <a:rPr lang="en-IN" dirty="0"/>
              <a:t>Now that we understand </a:t>
            </a:r>
            <a:r>
              <a:rPr lang="en-IN" b="1" dirty="0"/>
              <a:t>Azure Geographies</a:t>
            </a:r>
            <a:r>
              <a:rPr lang="en-IN" dirty="0"/>
              <a:t>, let's move one level deeper and talk about </a:t>
            </a:r>
            <a:r>
              <a:rPr lang="en-IN" b="1" dirty="0"/>
              <a:t>Azure Regions</a:t>
            </a:r>
            <a:r>
              <a:rPr lang="en-IN" dirty="0"/>
              <a:t>.</a:t>
            </a:r>
          </a:p>
          <a:p>
            <a:r>
              <a:rPr lang="en-IN" dirty="0"/>
              <a:t>Remember...</a:t>
            </a:r>
          </a:p>
          <a:p>
            <a:r>
              <a:rPr lang="en-IN" dirty="0"/>
              <a:t>A </a:t>
            </a:r>
            <a:r>
              <a:rPr lang="en-IN" b="1" dirty="0"/>
              <a:t>Geography is the big boundary</a:t>
            </a:r>
            <a:r>
              <a:rPr lang="en-IN" dirty="0"/>
              <a:t>.</a:t>
            </a:r>
          </a:p>
          <a:p>
            <a:r>
              <a:rPr lang="en-IN" dirty="0"/>
              <a:t>Inside that boundary, we have </a:t>
            </a:r>
            <a:r>
              <a:rPr lang="en-IN" b="1" dirty="0"/>
              <a:t>Azure Regions</a:t>
            </a:r>
            <a:r>
              <a:rPr lang="en-IN" dirty="0"/>
              <a:t>.</a:t>
            </a:r>
          </a:p>
          <a:p>
            <a:r>
              <a:rPr lang="en-IN" dirty="0"/>
              <a:t>So the question is...</a:t>
            </a:r>
          </a:p>
          <a:p>
            <a:r>
              <a:rPr lang="en-IN" b="1" dirty="0"/>
              <a:t>What exactly is an Azure Region?</a:t>
            </a:r>
          </a:p>
          <a:p>
            <a:r>
              <a:rPr lang="en-IN" dirty="0"/>
              <a:t>An </a:t>
            </a:r>
            <a:r>
              <a:rPr lang="en-IN" b="1" dirty="0"/>
              <a:t>Azure Region</a:t>
            </a:r>
            <a:r>
              <a:rPr lang="en-IN" dirty="0"/>
              <a:t> is a </a:t>
            </a:r>
            <a:r>
              <a:rPr lang="en-IN" b="1" dirty="0"/>
              <a:t>specific physical location</a:t>
            </a:r>
            <a:r>
              <a:rPr lang="en-IN" dirty="0"/>
              <a:t> where Microsoft has one or more datacenters.</a:t>
            </a:r>
          </a:p>
          <a:p>
            <a:r>
              <a:rPr lang="en-IN" dirty="0"/>
              <a:t>Notice I said </a:t>
            </a:r>
            <a:r>
              <a:rPr lang="en-IN" b="1" dirty="0"/>
              <a:t>physical location</a:t>
            </a:r>
            <a:r>
              <a:rPr lang="en-IN" dirty="0"/>
              <a:t>.</a:t>
            </a:r>
          </a:p>
          <a:p>
            <a:r>
              <a:rPr lang="en-IN" dirty="0"/>
              <a:t>This means the servers are actually installed in a real city or area.</a:t>
            </a:r>
          </a:p>
          <a:p>
            <a:r>
              <a:rPr lang="en-IN" dirty="0"/>
              <a:t>These are not virtual places.</a:t>
            </a:r>
          </a:p>
          <a:p>
            <a:r>
              <a:rPr lang="en-IN" dirty="0"/>
              <a:t>They are real buildings filled with thousands of servers, networking devices, storage systems, power supplies, and cooling equipment.</a:t>
            </a:r>
          </a:p>
          <a:p>
            <a:r>
              <a:rPr lang="en-IN" dirty="0"/>
              <a:t>For example...</a:t>
            </a:r>
          </a:p>
          <a:p>
            <a:r>
              <a:rPr lang="en-IN" dirty="0"/>
              <a:t>India has multiple Azure Regions such as:</a:t>
            </a:r>
          </a:p>
          <a:p>
            <a:r>
              <a:rPr lang="en-IN" dirty="0"/>
              <a:t>Central India </a:t>
            </a:r>
          </a:p>
          <a:p>
            <a:r>
              <a:rPr lang="en-IN" dirty="0"/>
              <a:t>South India </a:t>
            </a:r>
          </a:p>
          <a:p>
            <a:r>
              <a:rPr lang="en-IN" dirty="0"/>
              <a:t>Each of these is a different physical location.</a:t>
            </a:r>
          </a:p>
          <a:p>
            <a:r>
              <a:rPr lang="en-IN" dirty="0"/>
              <a:t>If your virtual machine is deployed in </a:t>
            </a:r>
            <a:r>
              <a:rPr lang="en-IN" b="1" dirty="0"/>
              <a:t>Central India</a:t>
            </a:r>
            <a:r>
              <a:rPr lang="en-IN" dirty="0"/>
              <a:t>, it actually runs inside Microsoft's datacenters located in that region.</a:t>
            </a:r>
          </a:p>
          <a:p>
            <a:endParaRPr lang="en-IN" dirty="0"/>
          </a:p>
        </p:txBody>
      </p:sp>
      <p:sp>
        <p:nvSpPr>
          <p:cNvPr id="6" name="TextBox 5">
            <a:extLst>
              <a:ext uri="{FF2B5EF4-FFF2-40B4-BE49-F238E27FC236}">
                <a16:creationId xmlns:a16="http://schemas.microsoft.com/office/drawing/2014/main" id="{D0218DB5-783B-1655-802C-63E8B66E0B84}"/>
              </a:ext>
            </a:extLst>
          </p:cNvPr>
          <p:cNvSpPr txBox="1"/>
          <p:nvPr/>
        </p:nvSpPr>
        <p:spPr>
          <a:xfrm>
            <a:off x="9753600" y="138799"/>
            <a:ext cx="1660358" cy="369332"/>
          </a:xfrm>
          <a:prstGeom prst="rect">
            <a:avLst/>
          </a:prstGeom>
          <a:noFill/>
        </p:spPr>
        <p:txBody>
          <a:bodyPr wrap="square">
            <a:spAutoFit/>
          </a:bodyPr>
          <a:lstStyle/>
          <a:p>
            <a:r>
              <a:rPr lang="en-IN" b="1" dirty="0"/>
              <a:t>Azure Regions</a:t>
            </a:r>
            <a:endParaRPr lang="en-IN" dirty="0"/>
          </a:p>
        </p:txBody>
      </p:sp>
    </p:spTree>
    <p:extLst>
      <p:ext uri="{BB962C8B-B14F-4D97-AF65-F5344CB8AC3E}">
        <p14:creationId xmlns:p14="http://schemas.microsoft.com/office/powerpoint/2010/main" val="5994433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715EF7-5AC0-CB92-846B-6E10BD1CA81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283BF65-41BC-DB4F-A307-F000EF852275}"/>
              </a:ext>
            </a:extLst>
          </p:cNvPr>
          <p:cNvSpPr txBox="1"/>
          <p:nvPr/>
        </p:nvSpPr>
        <p:spPr>
          <a:xfrm>
            <a:off x="633663" y="639061"/>
            <a:ext cx="11181348" cy="5355312"/>
          </a:xfrm>
          <a:prstGeom prst="rect">
            <a:avLst/>
          </a:prstGeom>
          <a:noFill/>
        </p:spPr>
        <p:txBody>
          <a:bodyPr wrap="square">
            <a:spAutoFit/>
          </a:bodyPr>
          <a:lstStyle/>
          <a:p>
            <a:r>
              <a:rPr lang="en-IN" dirty="0"/>
              <a:t>Now let me ask you a question.</a:t>
            </a:r>
          </a:p>
          <a:p>
            <a:r>
              <a:rPr lang="en-IN" b="1" dirty="0"/>
              <a:t>When you create a Virtual Machine or Storage Account in Azure, what is the first thing Azure asks you to choose?</a:t>
            </a:r>
            <a:endParaRPr lang="en-IN" dirty="0"/>
          </a:p>
          <a:p>
            <a:r>
              <a:rPr lang="en-IN" dirty="0"/>
              <a:t>It asks you to select a </a:t>
            </a:r>
            <a:r>
              <a:rPr lang="en-IN" b="1" dirty="0"/>
              <a:t>Region</a:t>
            </a:r>
            <a:r>
              <a:rPr lang="en-IN" dirty="0"/>
              <a:t>.</a:t>
            </a:r>
          </a:p>
          <a:p>
            <a:r>
              <a:rPr lang="en-IN" dirty="0"/>
              <a:t>Why?</a:t>
            </a:r>
          </a:p>
          <a:p>
            <a:r>
              <a:rPr lang="en-IN" dirty="0"/>
              <a:t>Because Azure needs to know </a:t>
            </a:r>
            <a:r>
              <a:rPr lang="en-IN" b="1" dirty="0"/>
              <a:t>where your resources should physically run</a:t>
            </a:r>
            <a:r>
              <a:rPr lang="en-IN" dirty="0"/>
              <a:t>.</a:t>
            </a:r>
          </a:p>
          <a:p>
            <a:r>
              <a:rPr lang="en-IN" dirty="0"/>
              <a:t>Let's take an example.</a:t>
            </a:r>
          </a:p>
          <a:p>
            <a:r>
              <a:rPr lang="en-IN" dirty="0"/>
              <a:t>Suppose your company is based in Mumbai.</a:t>
            </a:r>
          </a:p>
          <a:p>
            <a:r>
              <a:rPr lang="en-IN" dirty="0"/>
              <a:t>Most of your users are in India.</a:t>
            </a:r>
          </a:p>
          <a:p>
            <a:r>
              <a:rPr lang="en-IN" dirty="0"/>
              <a:t>If you deploy your application in an Indian Azure Region, your users usually experience faster response times because the servers are closer to them.</a:t>
            </a:r>
          </a:p>
          <a:p>
            <a:r>
              <a:rPr lang="en-IN" dirty="0"/>
              <a:t>But imagine deploying the same application in another continent.</a:t>
            </a:r>
          </a:p>
          <a:p>
            <a:r>
              <a:rPr lang="en-IN" dirty="0"/>
              <a:t>Every request would have to travel much farther before reaching the server.</a:t>
            </a:r>
          </a:p>
          <a:p>
            <a:r>
              <a:rPr lang="en-IN" dirty="0"/>
              <a:t>That extra travel time can make the application feel slower.</a:t>
            </a:r>
          </a:p>
          <a:p>
            <a:r>
              <a:rPr lang="en-IN" dirty="0"/>
              <a:t>So choosing the right Region can improve performance.</a:t>
            </a:r>
          </a:p>
          <a:p>
            <a:r>
              <a:rPr lang="en-IN" dirty="0"/>
              <a:t>Another reason for choosing a Region is </a:t>
            </a:r>
            <a:r>
              <a:rPr lang="en-IN" b="1" dirty="0"/>
              <a:t>compliance</a:t>
            </a:r>
            <a:r>
              <a:rPr lang="en-IN" dirty="0"/>
              <a:t>.</a:t>
            </a:r>
          </a:p>
          <a:p>
            <a:r>
              <a:rPr lang="en-IN" dirty="0"/>
              <a:t>Some organizations are required to keep their data inside a specific country or geographic area.</a:t>
            </a:r>
          </a:p>
          <a:p>
            <a:r>
              <a:rPr lang="en-IN" dirty="0"/>
              <a:t>By choosing the appropriate Azure Region, they can meet those legal and regulatory requirements.</a:t>
            </a:r>
          </a:p>
          <a:p>
            <a:endParaRPr lang="en-IN" dirty="0"/>
          </a:p>
        </p:txBody>
      </p:sp>
      <p:sp>
        <p:nvSpPr>
          <p:cNvPr id="3" name="TextBox 2">
            <a:extLst>
              <a:ext uri="{FF2B5EF4-FFF2-40B4-BE49-F238E27FC236}">
                <a16:creationId xmlns:a16="http://schemas.microsoft.com/office/drawing/2014/main" id="{0E0CD9E8-1B5F-0E3A-2892-4D77E6376C8D}"/>
              </a:ext>
            </a:extLst>
          </p:cNvPr>
          <p:cNvSpPr txBox="1"/>
          <p:nvPr/>
        </p:nvSpPr>
        <p:spPr>
          <a:xfrm>
            <a:off x="9753600" y="138799"/>
            <a:ext cx="1660358" cy="369332"/>
          </a:xfrm>
          <a:prstGeom prst="rect">
            <a:avLst/>
          </a:prstGeom>
          <a:noFill/>
        </p:spPr>
        <p:txBody>
          <a:bodyPr wrap="square">
            <a:spAutoFit/>
          </a:bodyPr>
          <a:lstStyle/>
          <a:p>
            <a:r>
              <a:rPr lang="en-IN" b="1" dirty="0"/>
              <a:t>Azure Regions</a:t>
            </a:r>
            <a:endParaRPr lang="en-IN" dirty="0"/>
          </a:p>
        </p:txBody>
      </p:sp>
    </p:spTree>
    <p:extLst>
      <p:ext uri="{BB962C8B-B14F-4D97-AF65-F5344CB8AC3E}">
        <p14:creationId xmlns:p14="http://schemas.microsoft.com/office/powerpoint/2010/main" val="15181953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6B6BB7-89E2-E8A7-B65C-322D71504D9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2BC9F8A-D821-D6FC-957B-B0CDAC86C7D5}"/>
              </a:ext>
            </a:extLst>
          </p:cNvPr>
          <p:cNvSpPr txBox="1"/>
          <p:nvPr/>
        </p:nvSpPr>
        <p:spPr>
          <a:xfrm>
            <a:off x="681789" y="117693"/>
            <a:ext cx="11181348" cy="7017306"/>
          </a:xfrm>
          <a:prstGeom prst="rect">
            <a:avLst/>
          </a:prstGeom>
          <a:noFill/>
        </p:spPr>
        <p:txBody>
          <a:bodyPr wrap="square">
            <a:spAutoFit/>
          </a:bodyPr>
          <a:lstStyle/>
          <a:p>
            <a:r>
              <a:rPr lang="en-IN" dirty="0"/>
              <a:t>Cost is another factor.</a:t>
            </a:r>
          </a:p>
          <a:p>
            <a:r>
              <a:rPr lang="en-IN" dirty="0"/>
              <a:t>The price of Azure services is not always the same in every Region.</a:t>
            </a:r>
          </a:p>
          <a:p>
            <a:r>
              <a:rPr lang="en-IN" dirty="0"/>
              <a:t>A Virtual Machine or Storage Account may cost a little more in one Region and a little less in another.</a:t>
            </a:r>
          </a:p>
          <a:p>
            <a:r>
              <a:rPr lang="en-IN" dirty="0"/>
              <a:t>So organizations also consider pricing before selecting a Region.</a:t>
            </a:r>
          </a:p>
          <a:p>
            <a:r>
              <a:rPr lang="en-IN" dirty="0"/>
              <a:t>Now let's talk about </a:t>
            </a:r>
            <a:r>
              <a:rPr lang="en-IN" b="1" dirty="0"/>
              <a:t>availability</a:t>
            </a:r>
            <a:r>
              <a:rPr lang="en-IN" dirty="0"/>
              <a:t>.</a:t>
            </a:r>
          </a:p>
          <a:p>
            <a:r>
              <a:rPr lang="en-IN" dirty="0"/>
              <a:t>What happens if one Region experiences a major problem?</a:t>
            </a:r>
          </a:p>
          <a:p>
            <a:r>
              <a:rPr lang="en-IN" dirty="0"/>
              <a:t>Maybe a power failure...</a:t>
            </a:r>
          </a:p>
          <a:p>
            <a:r>
              <a:rPr lang="en-IN" dirty="0"/>
              <a:t>A network outage...</a:t>
            </a:r>
          </a:p>
          <a:p>
            <a:r>
              <a:rPr lang="en-IN" dirty="0"/>
              <a:t>Or even a natural disaster.</a:t>
            </a:r>
          </a:p>
          <a:p>
            <a:r>
              <a:rPr lang="en-IN" dirty="0"/>
              <a:t>Does the entire application stop working?</a:t>
            </a:r>
          </a:p>
          <a:p>
            <a:r>
              <a:rPr lang="en-IN" dirty="0"/>
              <a:t>Not necessarily.</a:t>
            </a:r>
          </a:p>
          <a:p>
            <a:r>
              <a:rPr lang="en-IN" dirty="0"/>
              <a:t>Microsoft provides multiple Regions so that organizations can design solutions that continue running even if one Region becomes unavailable.</a:t>
            </a:r>
          </a:p>
          <a:p>
            <a:r>
              <a:rPr lang="en-IN" dirty="0"/>
              <a:t>For critical applications, data and services can be replicated to another Region.</a:t>
            </a:r>
          </a:p>
          <a:p>
            <a:r>
              <a:rPr lang="en-IN" dirty="0"/>
              <a:t>If one Region has an issue, the other Region can continue serving users.</a:t>
            </a:r>
          </a:p>
          <a:p>
            <a:r>
              <a:rPr lang="en-IN" dirty="0"/>
              <a:t>This is one of the reasons Azure offers multiple Regions around the world.</a:t>
            </a:r>
          </a:p>
          <a:p>
            <a:r>
              <a:rPr lang="en-IN" dirty="0"/>
              <a:t>Here is another important point.</a:t>
            </a:r>
          </a:p>
          <a:p>
            <a:r>
              <a:rPr lang="en-IN" dirty="0"/>
              <a:t>An Azure Region contains </a:t>
            </a:r>
            <a:r>
              <a:rPr lang="en-IN" b="1" dirty="0"/>
              <a:t>one or more datacenters</a:t>
            </a:r>
            <a:r>
              <a:rPr lang="en-IN" dirty="0"/>
              <a:t>.</a:t>
            </a:r>
          </a:p>
          <a:p>
            <a:r>
              <a:rPr lang="en-IN" dirty="0"/>
              <a:t>Notice that.</a:t>
            </a:r>
          </a:p>
          <a:p>
            <a:r>
              <a:rPr lang="en-IN" dirty="0"/>
              <a:t>It is </a:t>
            </a:r>
            <a:r>
              <a:rPr lang="en-IN" b="1" dirty="0"/>
              <a:t>not just one building</a:t>
            </a:r>
            <a:r>
              <a:rPr lang="en-IN" dirty="0"/>
              <a:t>.</a:t>
            </a:r>
          </a:p>
          <a:p>
            <a:r>
              <a:rPr lang="en-IN" dirty="0"/>
              <a:t>A Region may include several datacenters connected through Microsoft's high-speed network.</a:t>
            </a:r>
          </a:p>
          <a:p>
            <a:r>
              <a:rPr lang="en-IN" dirty="0"/>
              <a:t>If one datacenter needs maintenance or encounters a hardware issue, workloads can continue operating in the others.</a:t>
            </a:r>
          </a:p>
          <a:p>
            <a:r>
              <a:rPr lang="en-IN" dirty="0"/>
              <a:t>This improves reliability.</a:t>
            </a:r>
          </a:p>
          <a:p>
            <a:endParaRPr lang="en-IN" dirty="0"/>
          </a:p>
        </p:txBody>
      </p:sp>
      <p:sp>
        <p:nvSpPr>
          <p:cNvPr id="3" name="TextBox 2">
            <a:extLst>
              <a:ext uri="{FF2B5EF4-FFF2-40B4-BE49-F238E27FC236}">
                <a16:creationId xmlns:a16="http://schemas.microsoft.com/office/drawing/2014/main" id="{B010799D-19DF-6BAA-DDC7-C412D0EACAA7}"/>
              </a:ext>
            </a:extLst>
          </p:cNvPr>
          <p:cNvSpPr txBox="1"/>
          <p:nvPr/>
        </p:nvSpPr>
        <p:spPr>
          <a:xfrm>
            <a:off x="9753600" y="138799"/>
            <a:ext cx="1660358" cy="369332"/>
          </a:xfrm>
          <a:prstGeom prst="rect">
            <a:avLst/>
          </a:prstGeom>
          <a:noFill/>
        </p:spPr>
        <p:txBody>
          <a:bodyPr wrap="square">
            <a:spAutoFit/>
          </a:bodyPr>
          <a:lstStyle/>
          <a:p>
            <a:r>
              <a:rPr lang="en-IN" b="1" dirty="0"/>
              <a:t>Azure Regions</a:t>
            </a:r>
            <a:endParaRPr lang="en-IN" dirty="0"/>
          </a:p>
        </p:txBody>
      </p:sp>
    </p:spTree>
    <p:extLst>
      <p:ext uri="{BB962C8B-B14F-4D97-AF65-F5344CB8AC3E}">
        <p14:creationId xmlns:p14="http://schemas.microsoft.com/office/powerpoint/2010/main" val="3423733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A8CDFA-D94E-1698-B489-205708758FA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E5B1040-59A9-003C-D1F2-D95BD12E2AA7}"/>
              </a:ext>
            </a:extLst>
          </p:cNvPr>
          <p:cNvSpPr txBox="1"/>
          <p:nvPr/>
        </p:nvSpPr>
        <p:spPr>
          <a:xfrm>
            <a:off x="681789" y="117693"/>
            <a:ext cx="11181348" cy="6463308"/>
          </a:xfrm>
          <a:prstGeom prst="rect">
            <a:avLst/>
          </a:prstGeom>
          <a:noFill/>
        </p:spPr>
        <p:txBody>
          <a:bodyPr wrap="square">
            <a:spAutoFit/>
          </a:bodyPr>
          <a:lstStyle/>
          <a:p>
            <a:r>
              <a:rPr lang="en-IN" dirty="0"/>
              <a:t>So, what are the main benefits of Azure Regions?</a:t>
            </a:r>
          </a:p>
          <a:p>
            <a:r>
              <a:rPr lang="en-IN" b="1" dirty="0"/>
              <a:t>First</a:t>
            </a:r>
            <a:r>
              <a:rPr lang="en-IN" dirty="0"/>
              <a:t>, they provide a physical location for deploying Azure resources.</a:t>
            </a:r>
          </a:p>
          <a:p>
            <a:r>
              <a:rPr lang="en-IN" b="1" dirty="0"/>
              <a:t>Second</a:t>
            </a:r>
            <a:r>
              <a:rPr lang="en-IN" dirty="0"/>
              <a:t>, they help reduce network delay by placing applications closer to users.</a:t>
            </a:r>
          </a:p>
          <a:p>
            <a:r>
              <a:rPr lang="en-IN" b="1" dirty="0"/>
              <a:t>Third</a:t>
            </a:r>
            <a:r>
              <a:rPr lang="en-IN" dirty="0"/>
              <a:t>, they support compliance and data residency requirements.</a:t>
            </a:r>
          </a:p>
          <a:p>
            <a:r>
              <a:rPr lang="en-IN" b="1" dirty="0"/>
              <a:t>Fourth</a:t>
            </a:r>
            <a:r>
              <a:rPr lang="en-IN" dirty="0"/>
              <a:t>, they improve availability by allowing applications to use multiple Regions.</a:t>
            </a:r>
          </a:p>
          <a:p>
            <a:r>
              <a:rPr lang="en-IN" b="1" dirty="0"/>
              <a:t>Fifth</a:t>
            </a:r>
            <a:r>
              <a:rPr lang="en-IN" dirty="0"/>
              <a:t>, they give customers flexibility in choosing pricing and services.</a:t>
            </a:r>
          </a:p>
          <a:p>
            <a:br>
              <a:rPr lang="en-IN" dirty="0"/>
            </a:br>
            <a:endParaRPr lang="en-IN" dirty="0"/>
          </a:p>
          <a:p>
            <a:r>
              <a:rPr lang="en-IN" dirty="0"/>
              <a:t>Let's look at a simple real-world example.</a:t>
            </a:r>
          </a:p>
          <a:p>
            <a:r>
              <a:rPr lang="en-IN" dirty="0"/>
              <a:t>Imagine your company has offices in Mumbai, London, and Singapore.</a:t>
            </a:r>
          </a:p>
          <a:p>
            <a:r>
              <a:rPr lang="en-IN" dirty="0"/>
              <a:t>You could deploy:</a:t>
            </a:r>
          </a:p>
          <a:p>
            <a:r>
              <a:rPr lang="en-IN" dirty="0"/>
              <a:t>Indian users to an India Region. </a:t>
            </a:r>
          </a:p>
          <a:p>
            <a:r>
              <a:rPr lang="en-IN" dirty="0"/>
              <a:t>European users to a Europe Region. </a:t>
            </a:r>
          </a:p>
          <a:p>
            <a:r>
              <a:rPr lang="en-IN" dirty="0"/>
              <a:t>Asian users to a Southeast Asia Region. </a:t>
            </a:r>
          </a:p>
          <a:p>
            <a:r>
              <a:rPr lang="en-IN" dirty="0"/>
              <a:t>This allows users to connect to the nearest Azure Region, giving them a faster and better experience.</a:t>
            </a:r>
          </a:p>
          <a:p>
            <a:r>
              <a:rPr lang="en-IN" dirty="0"/>
              <a:t>Now let's quickly summarize.</a:t>
            </a:r>
          </a:p>
          <a:p>
            <a:r>
              <a:rPr lang="en-IN" dirty="0"/>
              <a:t>An </a:t>
            </a:r>
            <a:r>
              <a:rPr lang="en-IN" b="1" dirty="0"/>
              <a:t>Azure Region</a:t>
            </a:r>
            <a:r>
              <a:rPr lang="en-IN" dirty="0"/>
              <a:t> is a </a:t>
            </a:r>
            <a:r>
              <a:rPr lang="en-IN" b="1" dirty="0"/>
              <a:t>physical location</a:t>
            </a:r>
            <a:r>
              <a:rPr lang="en-IN" dirty="0"/>
              <a:t> where Microsoft has </a:t>
            </a:r>
            <a:r>
              <a:rPr lang="en-IN" b="1" dirty="0"/>
              <a:t>one or more datacenters</a:t>
            </a:r>
            <a:r>
              <a:rPr lang="en-IN" dirty="0"/>
              <a:t>. </a:t>
            </a:r>
          </a:p>
          <a:p>
            <a:r>
              <a:rPr lang="en-IN" dirty="0"/>
              <a:t>Every Azure resource is deployed into a Region. </a:t>
            </a:r>
          </a:p>
          <a:p>
            <a:r>
              <a:rPr lang="en-IN" dirty="0"/>
              <a:t>Choosing the right Region can improve performance. </a:t>
            </a:r>
          </a:p>
          <a:p>
            <a:r>
              <a:rPr lang="en-IN" dirty="0"/>
              <a:t>Regions help organizations meet compliance and data residency requirements. </a:t>
            </a:r>
          </a:p>
          <a:p>
            <a:r>
              <a:rPr lang="en-IN" dirty="0"/>
              <a:t>Multiple Regions improve availability and disaster recovery. </a:t>
            </a:r>
          </a:p>
          <a:p>
            <a:r>
              <a:rPr lang="en-IN" dirty="0"/>
              <a:t>A Region contains </a:t>
            </a:r>
            <a:r>
              <a:rPr lang="en-IN" b="1" dirty="0"/>
              <a:t>one or more datacenters</a:t>
            </a:r>
            <a:r>
              <a:rPr lang="en-IN" dirty="0"/>
              <a:t>, not just one. </a:t>
            </a:r>
          </a:p>
          <a:p>
            <a:endParaRPr lang="en-IN" dirty="0"/>
          </a:p>
        </p:txBody>
      </p:sp>
      <p:sp>
        <p:nvSpPr>
          <p:cNvPr id="3" name="TextBox 2">
            <a:extLst>
              <a:ext uri="{FF2B5EF4-FFF2-40B4-BE49-F238E27FC236}">
                <a16:creationId xmlns:a16="http://schemas.microsoft.com/office/drawing/2014/main" id="{A3250A18-4A69-4DD3-63D6-BA123BC15915}"/>
              </a:ext>
            </a:extLst>
          </p:cNvPr>
          <p:cNvSpPr txBox="1"/>
          <p:nvPr/>
        </p:nvSpPr>
        <p:spPr>
          <a:xfrm>
            <a:off x="9753600" y="138799"/>
            <a:ext cx="1660358" cy="369332"/>
          </a:xfrm>
          <a:prstGeom prst="rect">
            <a:avLst/>
          </a:prstGeom>
          <a:noFill/>
        </p:spPr>
        <p:txBody>
          <a:bodyPr wrap="square">
            <a:spAutoFit/>
          </a:bodyPr>
          <a:lstStyle/>
          <a:p>
            <a:r>
              <a:rPr lang="en-IN" b="1" dirty="0"/>
              <a:t>Azure Regions</a:t>
            </a:r>
            <a:endParaRPr lang="en-IN" dirty="0"/>
          </a:p>
        </p:txBody>
      </p:sp>
    </p:spTree>
    <p:extLst>
      <p:ext uri="{BB962C8B-B14F-4D97-AF65-F5344CB8AC3E}">
        <p14:creationId xmlns:p14="http://schemas.microsoft.com/office/powerpoint/2010/main" val="8239740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C4001A-ECA1-424F-D7E2-A55C90E1358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F04EB00-3A91-0498-C38C-338731ED60FB}"/>
              </a:ext>
            </a:extLst>
          </p:cNvPr>
          <p:cNvSpPr txBox="1"/>
          <p:nvPr/>
        </p:nvSpPr>
        <p:spPr>
          <a:xfrm>
            <a:off x="681789" y="117693"/>
            <a:ext cx="11181348" cy="6463308"/>
          </a:xfrm>
          <a:prstGeom prst="rect">
            <a:avLst/>
          </a:prstGeom>
          <a:noFill/>
        </p:spPr>
        <p:txBody>
          <a:bodyPr wrap="square">
            <a:spAutoFit/>
          </a:bodyPr>
          <a:lstStyle/>
          <a:p>
            <a:r>
              <a:rPr lang="en-IN" dirty="0"/>
              <a:t>So, what are the main benefits of Azure Regions?</a:t>
            </a:r>
          </a:p>
          <a:p>
            <a:r>
              <a:rPr lang="en-IN" b="1" dirty="0"/>
              <a:t>First</a:t>
            </a:r>
            <a:r>
              <a:rPr lang="en-IN" dirty="0"/>
              <a:t>, they provide a physical location for deploying Azure resources.</a:t>
            </a:r>
          </a:p>
          <a:p>
            <a:r>
              <a:rPr lang="en-IN" b="1" dirty="0"/>
              <a:t>Second</a:t>
            </a:r>
            <a:r>
              <a:rPr lang="en-IN" dirty="0"/>
              <a:t>, they help reduce network delay by placing applications closer to users.</a:t>
            </a:r>
          </a:p>
          <a:p>
            <a:r>
              <a:rPr lang="en-IN" b="1" dirty="0"/>
              <a:t>Third</a:t>
            </a:r>
            <a:r>
              <a:rPr lang="en-IN" dirty="0"/>
              <a:t>, they support compliance and data residency requirements.</a:t>
            </a:r>
          </a:p>
          <a:p>
            <a:r>
              <a:rPr lang="en-IN" b="1" dirty="0"/>
              <a:t>Fourth</a:t>
            </a:r>
            <a:r>
              <a:rPr lang="en-IN" dirty="0"/>
              <a:t>, they improve availability by allowing applications to use multiple Regions.</a:t>
            </a:r>
          </a:p>
          <a:p>
            <a:r>
              <a:rPr lang="en-IN" b="1" dirty="0"/>
              <a:t>Fifth</a:t>
            </a:r>
            <a:r>
              <a:rPr lang="en-IN" dirty="0"/>
              <a:t>, they give customers flexibility in choosing pricing and services.</a:t>
            </a:r>
          </a:p>
          <a:p>
            <a:br>
              <a:rPr lang="en-IN" dirty="0"/>
            </a:br>
            <a:endParaRPr lang="en-IN" dirty="0"/>
          </a:p>
          <a:p>
            <a:r>
              <a:rPr lang="en-IN" dirty="0"/>
              <a:t>Let's look at a simple real-world example.</a:t>
            </a:r>
          </a:p>
          <a:p>
            <a:r>
              <a:rPr lang="en-IN" dirty="0"/>
              <a:t>Imagine your company has offices in Mumbai, London, and Singapore.</a:t>
            </a:r>
          </a:p>
          <a:p>
            <a:r>
              <a:rPr lang="en-IN" dirty="0"/>
              <a:t>You could deploy:</a:t>
            </a:r>
          </a:p>
          <a:p>
            <a:r>
              <a:rPr lang="en-IN" dirty="0"/>
              <a:t>Indian users to an India Region. </a:t>
            </a:r>
          </a:p>
          <a:p>
            <a:r>
              <a:rPr lang="en-IN" dirty="0"/>
              <a:t>European users to a Europe Region. </a:t>
            </a:r>
          </a:p>
          <a:p>
            <a:r>
              <a:rPr lang="en-IN" dirty="0"/>
              <a:t>Asian users to a Southeast Asia Region. </a:t>
            </a:r>
          </a:p>
          <a:p>
            <a:r>
              <a:rPr lang="en-IN" dirty="0"/>
              <a:t>This allows users to connect to the nearest Azure Region, giving them a faster and better experience.</a:t>
            </a:r>
          </a:p>
          <a:p>
            <a:r>
              <a:rPr lang="en-IN" dirty="0"/>
              <a:t>Now let's quickly summarize.</a:t>
            </a:r>
          </a:p>
          <a:p>
            <a:r>
              <a:rPr lang="en-IN" dirty="0"/>
              <a:t>An </a:t>
            </a:r>
            <a:r>
              <a:rPr lang="en-IN" b="1" dirty="0"/>
              <a:t>Azure Region</a:t>
            </a:r>
            <a:r>
              <a:rPr lang="en-IN" dirty="0"/>
              <a:t> is a </a:t>
            </a:r>
            <a:r>
              <a:rPr lang="en-IN" b="1" dirty="0"/>
              <a:t>physical location</a:t>
            </a:r>
            <a:r>
              <a:rPr lang="en-IN" dirty="0"/>
              <a:t> where Microsoft has </a:t>
            </a:r>
            <a:r>
              <a:rPr lang="en-IN" b="1" dirty="0"/>
              <a:t>one or more datacenters</a:t>
            </a:r>
            <a:r>
              <a:rPr lang="en-IN" dirty="0"/>
              <a:t>. </a:t>
            </a:r>
          </a:p>
          <a:p>
            <a:r>
              <a:rPr lang="en-IN" dirty="0"/>
              <a:t>Every Azure resource is deployed into a Region. </a:t>
            </a:r>
          </a:p>
          <a:p>
            <a:r>
              <a:rPr lang="en-IN" dirty="0"/>
              <a:t>Choosing the right Region can improve performance. </a:t>
            </a:r>
          </a:p>
          <a:p>
            <a:r>
              <a:rPr lang="en-IN" dirty="0"/>
              <a:t>Regions help organizations meet compliance and data residency requirements. </a:t>
            </a:r>
          </a:p>
          <a:p>
            <a:r>
              <a:rPr lang="en-IN" dirty="0"/>
              <a:t>Multiple Regions improve availability and disaster recovery. </a:t>
            </a:r>
          </a:p>
          <a:p>
            <a:r>
              <a:rPr lang="en-IN" dirty="0"/>
              <a:t>A Region contains </a:t>
            </a:r>
            <a:r>
              <a:rPr lang="en-IN" b="1" dirty="0"/>
              <a:t>one or more datacenters</a:t>
            </a:r>
            <a:r>
              <a:rPr lang="en-IN" dirty="0"/>
              <a:t>, not just one. </a:t>
            </a:r>
          </a:p>
          <a:p>
            <a:endParaRPr lang="en-IN" dirty="0"/>
          </a:p>
        </p:txBody>
      </p:sp>
      <p:sp>
        <p:nvSpPr>
          <p:cNvPr id="3" name="TextBox 2">
            <a:extLst>
              <a:ext uri="{FF2B5EF4-FFF2-40B4-BE49-F238E27FC236}">
                <a16:creationId xmlns:a16="http://schemas.microsoft.com/office/drawing/2014/main" id="{054F2E63-C63D-08BF-C37E-AE251E611911}"/>
              </a:ext>
            </a:extLst>
          </p:cNvPr>
          <p:cNvSpPr txBox="1"/>
          <p:nvPr/>
        </p:nvSpPr>
        <p:spPr>
          <a:xfrm>
            <a:off x="9753600" y="138799"/>
            <a:ext cx="1660358" cy="369332"/>
          </a:xfrm>
          <a:prstGeom prst="rect">
            <a:avLst/>
          </a:prstGeom>
          <a:noFill/>
        </p:spPr>
        <p:txBody>
          <a:bodyPr wrap="square">
            <a:spAutoFit/>
          </a:bodyPr>
          <a:lstStyle/>
          <a:p>
            <a:r>
              <a:rPr lang="en-IN" b="1" dirty="0"/>
              <a:t>Azure Regions</a:t>
            </a:r>
            <a:endParaRPr lang="en-IN" dirty="0"/>
          </a:p>
        </p:txBody>
      </p:sp>
    </p:spTree>
    <p:extLst>
      <p:ext uri="{BB962C8B-B14F-4D97-AF65-F5344CB8AC3E}">
        <p14:creationId xmlns:p14="http://schemas.microsoft.com/office/powerpoint/2010/main" val="28888481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A16DFB-84A7-6FCA-15AF-A66FE66DEB4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DE9809B-138A-33CF-1F36-FCCDE968EEBF}"/>
              </a:ext>
            </a:extLst>
          </p:cNvPr>
          <p:cNvSpPr txBox="1"/>
          <p:nvPr/>
        </p:nvSpPr>
        <p:spPr>
          <a:xfrm>
            <a:off x="681789" y="117693"/>
            <a:ext cx="11181348" cy="5632311"/>
          </a:xfrm>
          <a:prstGeom prst="rect">
            <a:avLst/>
          </a:prstGeom>
          <a:noFill/>
        </p:spPr>
        <p:txBody>
          <a:bodyPr wrap="square">
            <a:spAutoFit/>
          </a:bodyPr>
          <a:lstStyle/>
          <a:p>
            <a:r>
              <a:rPr lang="en-IN" dirty="0"/>
              <a:t>Now let's move to another important Azure concept.</a:t>
            </a:r>
          </a:p>
          <a:p>
            <a:r>
              <a:rPr lang="en-IN" b="1" dirty="0"/>
              <a:t>Availability Zones.</a:t>
            </a:r>
            <a:endParaRPr lang="en-IN" dirty="0"/>
          </a:p>
          <a:p>
            <a:r>
              <a:rPr lang="en-IN" dirty="0"/>
              <a:t>Before I explain it...</a:t>
            </a:r>
          </a:p>
          <a:p>
            <a:r>
              <a:rPr lang="en-IN" dirty="0"/>
              <a:t>Let me ask you a question.</a:t>
            </a:r>
          </a:p>
          <a:p>
            <a:r>
              <a:rPr lang="en-IN" b="1" dirty="0"/>
              <a:t>What happens if an entire datacenter loses power?</a:t>
            </a:r>
            <a:endParaRPr lang="en-IN" dirty="0"/>
          </a:p>
          <a:p>
            <a:r>
              <a:rPr lang="en-IN" dirty="0"/>
              <a:t>Maybe there is a fire...</a:t>
            </a:r>
          </a:p>
          <a:p>
            <a:r>
              <a:rPr lang="en-IN" dirty="0"/>
              <a:t>A flood...</a:t>
            </a:r>
          </a:p>
          <a:p>
            <a:r>
              <a:rPr lang="en-IN" dirty="0"/>
              <a:t>Or a major network failure.</a:t>
            </a:r>
          </a:p>
          <a:p>
            <a:r>
              <a:rPr lang="en-IN" dirty="0"/>
              <a:t>If your application is running in only that datacenter...</a:t>
            </a:r>
          </a:p>
          <a:p>
            <a:r>
              <a:rPr lang="en-IN" dirty="0"/>
              <a:t>Your application will also stop working.</a:t>
            </a:r>
          </a:p>
          <a:p>
            <a:r>
              <a:rPr lang="en-IN" dirty="0"/>
              <a:t>So how can Azure protect us from this?</a:t>
            </a:r>
          </a:p>
          <a:p>
            <a:r>
              <a:rPr lang="en-IN" dirty="0"/>
              <a:t>That's where </a:t>
            </a:r>
            <a:r>
              <a:rPr lang="en-IN" b="1" dirty="0"/>
              <a:t>Availability Zones</a:t>
            </a:r>
            <a:r>
              <a:rPr lang="en-IN" dirty="0"/>
              <a:t> come in.</a:t>
            </a:r>
          </a:p>
          <a:p>
            <a:br>
              <a:rPr lang="en-IN" dirty="0"/>
            </a:br>
            <a:endParaRPr lang="en-IN" dirty="0"/>
          </a:p>
          <a:p>
            <a:r>
              <a:rPr lang="en-IN" dirty="0"/>
              <a:t>First, let's understand what an Availability Zone is.</a:t>
            </a:r>
          </a:p>
          <a:p>
            <a:r>
              <a:rPr lang="en-IN" dirty="0"/>
              <a:t>An </a:t>
            </a:r>
            <a:r>
              <a:rPr lang="en-IN" b="1" dirty="0"/>
              <a:t>Availability Zone</a:t>
            </a:r>
            <a:r>
              <a:rPr lang="en-IN" dirty="0"/>
              <a:t> is a </a:t>
            </a:r>
            <a:r>
              <a:rPr lang="en-IN" b="1" dirty="0"/>
              <a:t>physically separate datacenter</a:t>
            </a:r>
            <a:r>
              <a:rPr lang="en-IN" dirty="0"/>
              <a:t> inside the same Azure Region.</a:t>
            </a:r>
          </a:p>
          <a:p>
            <a:r>
              <a:rPr lang="en-IN" dirty="0"/>
              <a:t>Notice something important.</a:t>
            </a:r>
          </a:p>
          <a:p>
            <a:r>
              <a:rPr lang="en-IN" dirty="0"/>
              <a:t>We are </a:t>
            </a:r>
            <a:r>
              <a:rPr lang="en-IN" b="1" dirty="0"/>
              <a:t>still inside the same Region.</a:t>
            </a:r>
            <a:endParaRPr lang="en-IN" dirty="0"/>
          </a:p>
          <a:p>
            <a:r>
              <a:rPr lang="en-IN" dirty="0"/>
              <a:t>We are </a:t>
            </a:r>
            <a:r>
              <a:rPr lang="en-IN" b="1" dirty="0"/>
              <a:t>not moving to another Region.</a:t>
            </a:r>
            <a:endParaRPr lang="en-IN" dirty="0"/>
          </a:p>
          <a:p>
            <a:r>
              <a:rPr lang="en-IN" dirty="0"/>
              <a:t>We are simply using different datacenters within that Region.</a:t>
            </a:r>
          </a:p>
        </p:txBody>
      </p:sp>
      <p:sp>
        <p:nvSpPr>
          <p:cNvPr id="3" name="TextBox 2">
            <a:extLst>
              <a:ext uri="{FF2B5EF4-FFF2-40B4-BE49-F238E27FC236}">
                <a16:creationId xmlns:a16="http://schemas.microsoft.com/office/drawing/2014/main" id="{4019B62F-7793-47D5-092C-CE19280FD1BB}"/>
              </a:ext>
            </a:extLst>
          </p:cNvPr>
          <p:cNvSpPr txBox="1"/>
          <p:nvPr/>
        </p:nvSpPr>
        <p:spPr>
          <a:xfrm>
            <a:off x="9328484" y="117693"/>
            <a:ext cx="2269958" cy="369332"/>
          </a:xfrm>
          <a:prstGeom prst="rect">
            <a:avLst/>
          </a:prstGeom>
          <a:noFill/>
        </p:spPr>
        <p:txBody>
          <a:bodyPr wrap="square">
            <a:spAutoFit/>
          </a:bodyPr>
          <a:lstStyle/>
          <a:p>
            <a:r>
              <a:rPr lang="en-IN" b="1" dirty="0"/>
              <a:t>Availability Zones</a:t>
            </a:r>
            <a:endParaRPr lang="en-IN" dirty="0"/>
          </a:p>
        </p:txBody>
      </p:sp>
    </p:spTree>
    <p:extLst>
      <p:ext uri="{BB962C8B-B14F-4D97-AF65-F5344CB8AC3E}">
        <p14:creationId xmlns:p14="http://schemas.microsoft.com/office/powerpoint/2010/main" val="1510123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1E247-4EAE-F75F-6E8F-2BA45EFC3BA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3DD9417-299B-5F23-81D6-2BEA85E567EA}"/>
              </a:ext>
            </a:extLst>
          </p:cNvPr>
          <p:cNvSpPr txBox="1"/>
          <p:nvPr/>
        </p:nvSpPr>
        <p:spPr>
          <a:xfrm>
            <a:off x="681789" y="117693"/>
            <a:ext cx="11181348" cy="6740307"/>
          </a:xfrm>
          <a:prstGeom prst="rect">
            <a:avLst/>
          </a:prstGeom>
          <a:noFill/>
        </p:spPr>
        <p:txBody>
          <a:bodyPr wrap="square">
            <a:spAutoFit/>
          </a:bodyPr>
          <a:lstStyle/>
          <a:p>
            <a:r>
              <a:rPr lang="en-IN" dirty="0"/>
              <a:t>For example...</a:t>
            </a:r>
          </a:p>
          <a:p>
            <a:r>
              <a:rPr lang="en-IN" dirty="0"/>
              <a:t>Suppose you deploy your application in </a:t>
            </a:r>
            <a:r>
              <a:rPr lang="en-IN" b="1" dirty="0"/>
              <a:t>Central India</a:t>
            </a:r>
            <a:r>
              <a:rPr lang="en-IN" dirty="0"/>
              <a:t>.</a:t>
            </a:r>
          </a:p>
          <a:p>
            <a:r>
              <a:rPr lang="en-IN" dirty="0"/>
              <a:t>Inside that Region, Microsoft may have:</a:t>
            </a:r>
          </a:p>
          <a:p>
            <a:r>
              <a:rPr lang="en-IN" dirty="0"/>
              <a:t>Zone 1 </a:t>
            </a:r>
          </a:p>
          <a:p>
            <a:r>
              <a:rPr lang="en-IN" dirty="0"/>
              <a:t>Zone 2 </a:t>
            </a:r>
          </a:p>
          <a:p>
            <a:r>
              <a:rPr lang="en-IN" dirty="0"/>
              <a:t>Zone 3 </a:t>
            </a:r>
          </a:p>
          <a:p>
            <a:r>
              <a:rPr lang="en-IN" dirty="0"/>
              <a:t>Each zone is a separate datacenter.</a:t>
            </a:r>
          </a:p>
          <a:p>
            <a:r>
              <a:rPr lang="en-IN" dirty="0"/>
              <a:t>Each one has its own:</a:t>
            </a:r>
          </a:p>
          <a:p>
            <a:r>
              <a:rPr lang="en-IN" dirty="0"/>
              <a:t>Power supply </a:t>
            </a:r>
          </a:p>
          <a:p>
            <a:r>
              <a:rPr lang="en-IN" dirty="0"/>
              <a:t>Cooling system </a:t>
            </a:r>
          </a:p>
          <a:p>
            <a:r>
              <a:rPr lang="en-IN" dirty="0"/>
              <a:t>Network connection </a:t>
            </a:r>
          </a:p>
          <a:p>
            <a:r>
              <a:rPr lang="en-IN" dirty="0"/>
              <a:t>So if one datacenter has a major problem...</a:t>
            </a:r>
          </a:p>
          <a:p>
            <a:r>
              <a:rPr lang="en-IN" dirty="0"/>
              <a:t>The other zones continue running.</a:t>
            </a:r>
          </a:p>
          <a:p>
            <a:r>
              <a:rPr lang="en-IN" b="1" dirty="0"/>
              <a:t>Let's take a simple example.</a:t>
            </a:r>
          </a:p>
          <a:p>
            <a:r>
              <a:rPr lang="en-IN" dirty="0"/>
              <a:t>Imagine you own an online shopping website.</a:t>
            </a:r>
          </a:p>
          <a:p>
            <a:r>
              <a:rPr lang="en-IN" dirty="0"/>
              <a:t>You create two virtual machines.</a:t>
            </a:r>
          </a:p>
          <a:p>
            <a:r>
              <a:rPr lang="en-IN" dirty="0"/>
              <a:t>VM1 is in Zone 1. </a:t>
            </a:r>
          </a:p>
          <a:p>
            <a:r>
              <a:rPr lang="en-IN" dirty="0"/>
              <a:t>VM2 is in Zone 2. </a:t>
            </a:r>
          </a:p>
          <a:p>
            <a:r>
              <a:rPr lang="en-IN" dirty="0"/>
              <a:t>A Load Balancer sends customers to both virtual machines.</a:t>
            </a:r>
          </a:p>
          <a:p>
            <a:r>
              <a:rPr lang="en-IN" dirty="0"/>
              <a:t>Now suppose Zone 1 loses power.</a:t>
            </a:r>
          </a:p>
          <a:p>
            <a:r>
              <a:rPr lang="en-IN" dirty="0"/>
              <a:t>VM1 stops working.</a:t>
            </a:r>
          </a:p>
          <a:p>
            <a:r>
              <a:rPr lang="en-IN" dirty="0"/>
              <a:t>But VM2 in Zone 2 is still running.</a:t>
            </a:r>
          </a:p>
          <a:p>
            <a:r>
              <a:rPr lang="en-IN" dirty="0"/>
              <a:t>Customers can continue shopping without even knowing that one datacenter had a problem.</a:t>
            </a:r>
          </a:p>
          <a:p>
            <a:r>
              <a:rPr lang="en-IN" dirty="0"/>
              <a:t>That is the power of Availability Zones.</a:t>
            </a:r>
          </a:p>
        </p:txBody>
      </p:sp>
      <p:sp>
        <p:nvSpPr>
          <p:cNvPr id="3" name="TextBox 2">
            <a:extLst>
              <a:ext uri="{FF2B5EF4-FFF2-40B4-BE49-F238E27FC236}">
                <a16:creationId xmlns:a16="http://schemas.microsoft.com/office/drawing/2014/main" id="{D46E2C28-8478-F0D9-8B07-92F4D9F622B2}"/>
              </a:ext>
            </a:extLst>
          </p:cNvPr>
          <p:cNvSpPr txBox="1"/>
          <p:nvPr/>
        </p:nvSpPr>
        <p:spPr>
          <a:xfrm>
            <a:off x="9328484" y="117693"/>
            <a:ext cx="2269958" cy="369332"/>
          </a:xfrm>
          <a:prstGeom prst="rect">
            <a:avLst/>
          </a:prstGeom>
          <a:noFill/>
        </p:spPr>
        <p:txBody>
          <a:bodyPr wrap="square">
            <a:spAutoFit/>
          </a:bodyPr>
          <a:lstStyle/>
          <a:p>
            <a:r>
              <a:rPr lang="en-IN" b="1" dirty="0"/>
              <a:t>Availability Zones</a:t>
            </a:r>
            <a:endParaRPr lang="en-IN" dirty="0"/>
          </a:p>
        </p:txBody>
      </p:sp>
    </p:spTree>
    <p:extLst>
      <p:ext uri="{BB962C8B-B14F-4D97-AF65-F5344CB8AC3E}">
        <p14:creationId xmlns:p14="http://schemas.microsoft.com/office/powerpoint/2010/main" val="2301029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1C6476-2E30-37C1-B0FE-B25C2C55147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6E53AD7-1DBF-D55C-7876-53AE2D45B2A2}"/>
              </a:ext>
            </a:extLst>
          </p:cNvPr>
          <p:cNvSpPr txBox="1"/>
          <p:nvPr/>
        </p:nvSpPr>
        <p:spPr>
          <a:xfrm>
            <a:off x="681789" y="117693"/>
            <a:ext cx="11181348" cy="5355312"/>
          </a:xfrm>
          <a:prstGeom prst="rect">
            <a:avLst/>
          </a:prstGeom>
          <a:noFill/>
        </p:spPr>
        <p:txBody>
          <a:bodyPr wrap="square">
            <a:spAutoFit/>
          </a:bodyPr>
          <a:lstStyle/>
          <a:p>
            <a:r>
              <a:rPr lang="en-IN" dirty="0"/>
              <a:t>Now here's an important point.</a:t>
            </a:r>
          </a:p>
          <a:p>
            <a:r>
              <a:rPr lang="en-IN" dirty="0"/>
              <a:t>Availability Zones protect against </a:t>
            </a:r>
            <a:r>
              <a:rPr lang="en-IN" b="1" dirty="0"/>
              <a:t>datacenter failures</a:t>
            </a:r>
            <a:r>
              <a:rPr lang="en-IN" dirty="0"/>
              <a:t>.</a:t>
            </a:r>
          </a:p>
          <a:p>
            <a:r>
              <a:rPr lang="en-IN" dirty="0"/>
              <a:t>They do </a:t>
            </a:r>
            <a:r>
              <a:rPr lang="en-IN" b="1" dirty="0"/>
              <a:t>not</a:t>
            </a:r>
            <a:r>
              <a:rPr lang="en-IN" dirty="0"/>
              <a:t> protect against an entire Region becoming unavailable.</a:t>
            </a:r>
          </a:p>
          <a:p>
            <a:r>
              <a:rPr lang="en-IN" dirty="0"/>
              <a:t>If the whole Region has a problem...</a:t>
            </a:r>
          </a:p>
          <a:p>
            <a:r>
              <a:rPr lang="en-IN" dirty="0"/>
              <a:t>Availability Zones alone cannot help.</a:t>
            </a:r>
          </a:p>
          <a:p>
            <a:r>
              <a:rPr lang="en-IN" dirty="0"/>
              <a:t>For Regional disasters, we use another Azure Region for disaster recovery.</a:t>
            </a:r>
          </a:p>
          <a:p>
            <a:br>
              <a:rPr lang="en-IN" dirty="0"/>
            </a:br>
            <a:endParaRPr lang="en-IN" dirty="0"/>
          </a:p>
          <a:p>
            <a:r>
              <a:rPr lang="en-IN" dirty="0"/>
              <a:t>So remember this simple rule.</a:t>
            </a:r>
          </a:p>
          <a:p>
            <a:r>
              <a:rPr lang="en-IN" b="1" dirty="0"/>
              <a:t>Availability Zone = Protection from datacenter failure.</a:t>
            </a:r>
            <a:endParaRPr lang="en-IN" dirty="0"/>
          </a:p>
          <a:p>
            <a:r>
              <a:rPr lang="en-IN" b="1" dirty="0"/>
              <a:t>Region Pair = Protection from regional failure.</a:t>
            </a:r>
            <a:endParaRPr lang="en-IN" dirty="0"/>
          </a:p>
          <a:p>
            <a:br>
              <a:rPr lang="en-IN" dirty="0"/>
            </a:br>
            <a:endParaRPr lang="en-IN" dirty="0"/>
          </a:p>
          <a:p>
            <a:r>
              <a:rPr lang="en-IN" dirty="0"/>
              <a:t>Let's summarize Availability Zones.</a:t>
            </a:r>
          </a:p>
          <a:p>
            <a:r>
              <a:rPr lang="en-IN" dirty="0"/>
              <a:t>They exist inside a single Azure Region. </a:t>
            </a:r>
          </a:p>
          <a:p>
            <a:r>
              <a:rPr lang="en-IN" dirty="0"/>
              <a:t>Each Zone is a physically separate datacenter. </a:t>
            </a:r>
          </a:p>
          <a:p>
            <a:r>
              <a:rPr lang="en-IN" dirty="0"/>
              <a:t>Every Zone has independent power, cooling, and networking. </a:t>
            </a:r>
          </a:p>
          <a:p>
            <a:r>
              <a:rPr lang="en-IN" dirty="0"/>
              <a:t>They protect applications from datacenter failures. </a:t>
            </a:r>
          </a:p>
          <a:p>
            <a:r>
              <a:rPr lang="en-IN" dirty="0"/>
              <a:t>They improve application availability. </a:t>
            </a:r>
          </a:p>
        </p:txBody>
      </p:sp>
      <p:sp>
        <p:nvSpPr>
          <p:cNvPr id="3" name="TextBox 2">
            <a:extLst>
              <a:ext uri="{FF2B5EF4-FFF2-40B4-BE49-F238E27FC236}">
                <a16:creationId xmlns:a16="http://schemas.microsoft.com/office/drawing/2014/main" id="{6FDA9A69-55C5-AA8F-F8F8-E50B30DA6217}"/>
              </a:ext>
            </a:extLst>
          </p:cNvPr>
          <p:cNvSpPr txBox="1"/>
          <p:nvPr/>
        </p:nvSpPr>
        <p:spPr>
          <a:xfrm>
            <a:off x="9328484" y="117693"/>
            <a:ext cx="2269958" cy="369332"/>
          </a:xfrm>
          <a:prstGeom prst="rect">
            <a:avLst/>
          </a:prstGeom>
          <a:noFill/>
        </p:spPr>
        <p:txBody>
          <a:bodyPr wrap="square">
            <a:spAutoFit/>
          </a:bodyPr>
          <a:lstStyle/>
          <a:p>
            <a:r>
              <a:rPr lang="en-IN" b="1" dirty="0"/>
              <a:t>Availability Zones</a:t>
            </a:r>
            <a:endParaRPr lang="en-IN" dirty="0"/>
          </a:p>
        </p:txBody>
      </p:sp>
    </p:spTree>
    <p:extLst>
      <p:ext uri="{BB962C8B-B14F-4D97-AF65-F5344CB8AC3E}">
        <p14:creationId xmlns:p14="http://schemas.microsoft.com/office/powerpoint/2010/main" val="14220778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8C10A5-99D6-45E5-9444-2E4DF605601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FC5A5A2-B825-26FA-CA8A-9E359D5529F1}"/>
              </a:ext>
            </a:extLst>
          </p:cNvPr>
          <p:cNvSpPr txBox="1"/>
          <p:nvPr/>
        </p:nvSpPr>
        <p:spPr>
          <a:xfrm>
            <a:off x="681789" y="117693"/>
            <a:ext cx="11181348" cy="6740307"/>
          </a:xfrm>
          <a:prstGeom prst="rect">
            <a:avLst/>
          </a:prstGeom>
          <a:noFill/>
        </p:spPr>
        <p:txBody>
          <a:bodyPr wrap="square">
            <a:spAutoFit/>
          </a:bodyPr>
          <a:lstStyle/>
          <a:p>
            <a:r>
              <a:rPr lang="en-IN"/>
              <a:t>Now let's look at another feature that sounds similar...</a:t>
            </a:r>
          </a:p>
          <a:p>
            <a:r>
              <a:rPr lang="en-IN" b="1"/>
              <a:t>Availability Sets.</a:t>
            </a:r>
            <a:endParaRPr lang="en-IN"/>
          </a:p>
          <a:p>
            <a:r>
              <a:rPr lang="en-IN"/>
              <a:t>Many beginners confuse </a:t>
            </a:r>
            <a:r>
              <a:rPr lang="en-IN" b="1"/>
              <a:t>Availability Sets</a:t>
            </a:r>
            <a:r>
              <a:rPr lang="en-IN"/>
              <a:t> and </a:t>
            </a:r>
            <a:r>
              <a:rPr lang="en-IN" b="1"/>
              <a:t>Availability Zones</a:t>
            </a:r>
            <a:r>
              <a:rPr lang="en-IN"/>
              <a:t>.</a:t>
            </a:r>
          </a:p>
          <a:p>
            <a:r>
              <a:rPr lang="en-IN"/>
              <a:t>Although both improve availability...</a:t>
            </a:r>
          </a:p>
          <a:p>
            <a:r>
              <a:rPr lang="en-IN"/>
              <a:t>They solve </a:t>
            </a:r>
            <a:r>
              <a:rPr lang="en-IN" b="1"/>
              <a:t>different problems</a:t>
            </a:r>
            <a:r>
              <a:rPr lang="en-IN"/>
              <a:t>.</a:t>
            </a:r>
          </a:p>
          <a:p>
            <a:br>
              <a:rPr lang="en-IN"/>
            </a:br>
            <a:endParaRPr lang="en-IN"/>
          </a:p>
          <a:p>
            <a:r>
              <a:rPr lang="en-IN"/>
              <a:t>Let me ask you another question.</a:t>
            </a:r>
          </a:p>
          <a:p>
            <a:r>
              <a:rPr lang="en-IN"/>
              <a:t>Imagine your virtual machine is healthy.</a:t>
            </a:r>
          </a:p>
          <a:p>
            <a:r>
              <a:rPr lang="en-IN"/>
              <a:t>The datacenter is also healthy.</a:t>
            </a:r>
          </a:p>
          <a:p>
            <a:r>
              <a:rPr lang="en-IN"/>
              <a:t>But Microsoft needs to install a security update on the physical server hosting your VM.</a:t>
            </a:r>
          </a:p>
          <a:p>
            <a:r>
              <a:rPr lang="en-IN"/>
              <a:t>What happens?</a:t>
            </a:r>
          </a:p>
          <a:p>
            <a:r>
              <a:rPr lang="en-IN"/>
              <a:t>That physical server needs to restart.</a:t>
            </a:r>
          </a:p>
          <a:p>
            <a:r>
              <a:rPr lang="en-IN"/>
              <a:t>If your application has only one VM...</a:t>
            </a:r>
          </a:p>
          <a:p>
            <a:r>
              <a:rPr lang="en-IN"/>
              <a:t>Your application becomes unavailable for a short time.</a:t>
            </a:r>
          </a:p>
          <a:p>
            <a:r>
              <a:rPr lang="en-IN"/>
              <a:t>How can Azure reduce this risk?</a:t>
            </a:r>
          </a:p>
          <a:p>
            <a:r>
              <a:rPr lang="en-IN"/>
              <a:t>That's where </a:t>
            </a:r>
            <a:r>
              <a:rPr lang="en-IN" b="1"/>
              <a:t>Availability Sets</a:t>
            </a:r>
            <a:r>
              <a:rPr lang="en-IN"/>
              <a:t> help.</a:t>
            </a:r>
          </a:p>
          <a:p>
            <a:endParaRPr lang="en-IN"/>
          </a:p>
          <a:p>
            <a:r>
              <a:rPr lang="en-IN"/>
              <a:t>An </a:t>
            </a:r>
            <a:r>
              <a:rPr lang="en-IN" b="1"/>
              <a:t>Availability Set</a:t>
            </a:r>
            <a:r>
              <a:rPr lang="en-IN"/>
              <a:t> is a way to place multiple virtual machines on </a:t>
            </a:r>
            <a:r>
              <a:rPr lang="en-IN" b="1"/>
              <a:t>different physical servers</a:t>
            </a:r>
            <a:r>
              <a:rPr lang="en-IN"/>
              <a:t> inside the </a:t>
            </a:r>
            <a:r>
              <a:rPr lang="en-IN" b="1"/>
              <a:t>same datacenter</a:t>
            </a:r>
            <a:r>
              <a:rPr lang="en-IN"/>
              <a:t>.</a:t>
            </a:r>
          </a:p>
          <a:p>
            <a:r>
              <a:rPr lang="en-IN"/>
              <a:t>Notice the difference.</a:t>
            </a:r>
          </a:p>
          <a:p>
            <a:r>
              <a:rPr lang="en-IN"/>
              <a:t>Availability Sets usually work </a:t>
            </a:r>
            <a:r>
              <a:rPr lang="en-IN" b="1"/>
              <a:t>within one datacenter</a:t>
            </a:r>
            <a:r>
              <a:rPr lang="en-IN"/>
              <a:t>.</a:t>
            </a:r>
          </a:p>
          <a:p>
            <a:r>
              <a:rPr lang="en-IN"/>
              <a:t>Availability Zones use </a:t>
            </a:r>
            <a:r>
              <a:rPr lang="en-IN" b="1"/>
              <a:t>multiple datacenters</a:t>
            </a:r>
            <a:r>
              <a:rPr lang="en-IN"/>
              <a:t>.</a:t>
            </a:r>
          </a:p>
          <a:p>
            <a:endParaRPr lang="en-IN" dirty="0"/>
          </a:p>
        </p:txBody>
      </p:sp>
      <p:sp>
        <p:nvSpPr>
          <p:cNvPr id="3" name="TextBox 2">
            <a:extLst>
              <a:ext uri="{FF2B5EF4-FFF2-40B4-BE49-F238E27FC236}">
                <a16:creationId xmlns:a16="http://schemas.microsoft.com/office/drawing/2014/main" id="{A0BB6C93-74F9-1A38-0823-0711687B4E12}"/>
              </a:ext>
            </a:extLst>
          </p:cNvPr>
          <p:cNvSpPr txBox="1"/>
          <p:nvPr/>
        </p:nvSpPr>
        <p:spPr>
          <a:xfrm>
            <a:off x="9986210" y="117693"/>
            <a:ext cx="2125579" cy="369332"/>
          </a:xfrm>
          <a:prstGeom prst="rect">
            <a:avLst/>
          </a:prstGeom>
          <a:noFill/>
        </p:spPr>
        <p:txBody>
          <a:bodyPr wrap="square">
            <a:spAutoFit/>
          </a:bodyPr>
          <a:lstStyle/>
          <a:p>
            <a:r>
              <a:rPr lang="en-IN" b="1" dirty="0"/>
              <a:t>Availability Sets.</a:t>
            </a:r>
            <a:endParaRPr lang="en-IN" dirty="0"/>
          </a:p>
        </p:txBody>
      </p:sp>
    </p:spTree>
    <p:extLst>
      <p:ext uri="{BB962C8B-B14F-4D97-AF65-F5344CB8AC3E}">
        <p14:creationId xmlns:p14="http://schemas.microsoft.com/office/powerpoint/2010/main" val="31759575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FC2477-6BE1-5747-8968-03613795BE2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34DC73F-5CF8-7AB5-D599-4F3917EEEDE4}"/>
              </a:ext>
            </a:extLst>
          </p:cNvPr>
          <p:cNvSpPr txBox="1"/>
          <p:nvPr/>
        </p:nvSpPr>
        <p:spPr>
          <a:xfrm>
            <a:off x="681789" y="117693"/>
            <a:ext cx="11181348" cy="5632311"/>
          </a:xfrm>
          <a:prstGeom prst="rect">
            <a:avLst/>
          </a:prstGeom>
          <a:noFill/>
        </p:spPr>
        <p:txBody>
          <a:bodyPr wrap="square">
            <a:spAutoFit/>
          </a:bodyPr>
          <a:lstStyle/>
          <a:p>
            <a:r>
              <a:rPr lang="en-IN" dirty="0"/>
              <a:t>Azure automatically spreads your VMs across two important groups.</a:t>
            </a:r>
          </a:p>
          <a:p>
            <a:r>
              <a:rPr lang="en-IN" dirty="0"/>
              <a:t>The first group is called a </a:t>
            </a:r>
            <a:r>
              <a:rPr lang="en-IN" b="1" dirty="0"/>
              <a:t>Fault Domain</a:t>
            </a:r>
            <a:r>
              <a:rPr lang="en-IN" dirty="0"/>
              <a:t>.</a:t>
            </a:r>
          </a:p>
          <a:p>
            <a:r>
              <a:rPr lang="en-IN" dirty="0"/>
              <a:t>Let's understand that first.</a:t>
            </a:r>
          </a:p>
          <a:p>
            <a:r>
              <a:rPr lang="en-IN" dirty="0"/>
              <a:t>A </a:t>
            </a:r>
            <a:r>
              <a:rPr lang="en-IN" b="1" dirty="0"/>
              <a:t>Fault Domain</a:t>
            </a:r>
            <a:r>
              <a:rPr lang="en-IN" dirty="0"/>
              <a:t> is a group of hardware that shares common components like power supply, network switch, or storage.</a:t>
            </a:r>
          </a:p>
          <a:p>
            <a:r>
              <a:rPr lang="en-IN" dirty="0"/>
              <a:t>If one rack or one power unit fails...</a:t>
            </a:r>
          </a:p>
          <a:p>
            <a:r>
              <a:rPr lang="en-IN" dirty="0"/>
              <a:t>Only the VMs in that Fault Domain are affected.</a:t>
            </a:r>
          </a:p>
          <a:p>
            <a:r>
              <a:rPr lang="en-IN" dirty="0"/>
              <a:t>Azure places your VMs in different Fault Domains.</a:t>
            </a:r>
          </a:p>
          <a:p>
            <a:r>
              <a:rPr lang="en-IN" dirty="0"/>
              <a:t>So one hardware failure doesn't stop all your VMs.</a:t>
            </a:r>
          </a:p>
          <a:p>
            <a:br>
              <a:rPr lang="en-IN" dirty="0"/>
            </a:br>
            <a:endParaRPr lang="en-IN" dirty="0"/>
          </a:p>
          <a:p>
            <a:r>
              <a:rPr lang="en-IN" dirty="0"/>
              <a:t>Now the second group.</a:t>
            </a:r>
          </a:p>
          <a:p>
            <a:r>
              <a:rPr lang="en-IN" dirty="0"/>
              <a:t>This is called an </a:t>
            </a:r>
            <a:r>
              <a:rPr lang="en-IN" b="1" dirty="0"/>
              <a:t>Update Domain</a:t>
            </a:r>
            <a:r>
              <a:rPr lang="en-IN" dirty="0"/>
              <a:t>.</a:t>
            </a:r>
          </a:p>
          <a:p>
            <a:r>
              <a:rPr lang="en-IN" dirty="0"/>
              <a:t>Microsoft regularly updates the physical servers.</a:t>
            </a:r>
          </a:p>
          <a:p>
            <a:r>
              <a:rPr lang="en-IN" dirty="0"/>
              <a:t>Instead of restarting every server at the same time...</a:t>
            </a:r>
          </a:p>
          <a:p>
            <a:r>
              <a:rPr lang="en-IN" dirty="0"/>
              <a:t>Azure updates one Update Domain first.</a:t>
            </a:r>
          </a:p>
          <a:p>
            <a:r>
              <a:rPr lang="en-IN" dirty="0"/>
              <a:t>After that finishes...</a:t>
            </a:r>
          </a:p>
          <a:p>
            <a:r>
              <a:rPr lang="en-IN" dirty="0"/>
              <a:t>It moves to the next Update Domain.</a:t>
            </a:r>
          </a:p>
          <a:p>
            <a:r>
              <a:rPr lang="en-IN" dirty="0"/>
              <a:t>This means not all your virtual machines restart together.</a:t>
            </a:r>
          </a:p>
          <a:p>
            <a:r>
              <a:rPr lang="en-IN" dirty="0"/>
              <a:t>Your application can continue serving users.</a:t>
            </a:r>
          </a:p>
        </p:txBody>
      </p:sp>
      <p:sp>
        <p:nvSpPr>
          <p:cNvPr id="3" name="TextBox 2">
            <a:extLst>
              <a:ext uri="{FF2B5EF4-FFF2-40B4-BE49-F238E27FC236}">
                <a16:creationId xmlns:a16="http://schemas.microsoft.com/office/drawing/2014/main" id="{350D3C1F-E91D-641C-111C-AF2A04FB2F62}"/>
              </a:ext>
            </a:extLst>
          </p:cNvPr>
          <p:cNvSpPr txBox="1"/>
          <p:nvPr/>
        </p:nvSpPr>
        <p:spPr>
          <a:xfrm>
            <a:off x="9087853" y="117693"/>
            <a:ext cx="2422358" cy="369332"/>
          </a:xfrm>
          <a:prstGeom prst="rect">
            <a:avLst/>
          </a:prstGeom>
          <a:noFill/>
        </p:spPr>
        <p:txBody>
          <a:bodyPr wrap="square">
            <a:spAutoFit/>
          </a:bodyPr>
          <a:lstStyle/>
          <a:p>
            <a:r>
              <a:rPr lang="en-IN" b="1" dirty="0"/>
              <a:t>Availability Sets.</a:t>
            </a:r>
            <a:endParaRPr lang="en-IN" dirty="0"/>
          </a:p>
        </p:txBody>
      </p:sp>
    </p:spTree>
    <p:extLst>
      <p:ext uri="{BB962C8B-B14F-4D97-AF65-F5344CB8AC3E}">
        <p14:creationId xmlns:p14="http://schemas.microsoft.com/office/powerpoint/2010/main" val="12517582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24FE12-C335-AFB3-1DCE-D7250BDBDD3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3A035E1D-85A0-25FC-AF1C-2D9AF71041E8}"/>
              </a:ext>
            </a:extLst>
          </p:cNvPr>
          <p:cNvSpPr txBox="1"/>
          <p:nvPr/>
        </p:nvSpPr>
        <p:spPr>
          <a:xfrm>
            <a:off x="681789" y="117693"/>
            <a:ext cx="11181348" cy="4247317"/>
          </a:xfrm>
          <a:prstGeom prst="rect">
            <a:avLst/>
          </a:prstGeom>
          <a:noFill/>
        </p:spPr>
        <p:txBody>
          <a:bodyPr wrap="square">
            <a:spAutoFit/>
          </a:bodyPr>
          <a:lstStyle/>
          <a:p>
            <a:r>
              <a:rPr lang="en-IN" dirty="0"/>
              <a:t>Let's see an example.</a:t>
            </a:r>
          </a:p>
          <a:p>
            <a:r>
              <a:rPr lang="en-IN" dirty="0"/>
              <a:t>Suppose you have two virtual machines.</a:t>
            </a:r>
          </a:p>
          <a:p>
            <a:r>
              <a:rPr lang="en-IN" dirty="0"/>
              <a:t>VM1 is placed in Fault Domain 1 and Update Domain 1.</a:t>
            </a:r>
          </a:p>
          <a:p>
            <a:r>
              <a:rPr lang="en-IN" dirty="0"/>
              <a:t>VM2 is placed in Fault Domain 2 and Update Domain 2.</a:t>
            </a:r>
          </a:p>
          <a:p>
            <a:r>
              <a:rPr lang="en-IN" dirty="0"/>
              <a:t>Now Microsoft performs maintenance.</a:t>
            </a:r>
          </a:p>
          <a:p>
            <a:r>
              <a:rPr lang="en-IN" dirty="0"/>
              <a:t>Only VM1 restarts first.</a:t>
            </a:r>
          </a:p>
          <a:p>
            <a:r>
              <a:rPr lang="en-IN" dirty="0"/>
              <a:t>VM2 keeps running.</a:t>
            </a:r>
          </a:p>
          <a:p>
            <a:r>
              <a:rPr lang="en-IN" dirty="0"/>
              <a:t>After VM1 comes back online...</a:t>
            </a:r>
          </a:p>
          <a:p>
            <a:r>
              <a:rPr lang="en-IN" dirty="0"/>
              <a:t>Azure updates VM2.</a:t>
            </a:r>
          </a:p>
          <a:p>
            <a:r>
              <a:rPr lang="en-IN" dirty="0"/>
              <a:t>Your application remains available throughout the maintenance process.</a:t>
            </a:r>
          </a:p>
          <a:p>
            <a:br>
              <a:rPr lang="en-IN" dirty="0"/>
            </a:br>
            <a:endParaRPr lang="en-IN" dirty="0"/>
          </a:p>
          <a:p>
            <a:r>
              <a:rPr lang="en-IN" dirty="0"/>
              <a:t>So Availability Sets protect against two things.</a:t>
            </a:r>
          </a:p>
          <a:p>
            <a:r>
              <a:rPr lang="en-IN" b="1" dirty="0"/>
              <a:t>First</a:t>
            </a:r>
            <a:r>
              <a:rPr lang="en-IN" dirty="0"/>
              <a:t>, hardware failures using Fault Domains.</a:t>
            </a:r>
          </a:p>
          <a:p>
            <a:r>
              <a:rPr lang="en-IN" b="1" dirty="0"/>
              <a:t>Second</a:t>
            </a:r>
            <a:r>
              <a:rPr lang="en-IN" dirty="0"/>
              <a:t>, planned maintenance using Update Domains.</a:t>
            </a:r>
          </a:p>
        </p:txBody>
      </p:sp>
      <p:sp>
        <p:nvSpPr>
          <p:cNvPr id="3" name="TextBox 2">
            <a:extLst>
              <a:ext uri="{FF2B5EF4-FFF2-40B4-BE49-F238E27FC236}">
                <a16:creationId xmlns:a16="http://schemas.microsoft.com/office/drawing/2014/main" id="{7BB04856-332E-454A-54C5-DF10E67DC7EE}"/>
              </a:ext>
            </a:extLst>
          </p:cNvPr>
          <p:cNvSpPr txBox="1"/>
          <p:nvPr/>
        </p:nvSpPr>
        <p:spPr>
          <a:xfrm>
            <a:off x="9087853" y="117693"/>
            <a:ext cx="2422358" cy="369332"/>
          </a:xfrm>
          <a:prstGeom prst="rect">
            <a:avLst/>
          </a:prstGeom>
          <a:noFill/>
        </p:spPr>
        <p:txBody>
          <a:bodyPr wrap="square">
            <a:spAutoFit/>
          </a:bodyPr>
          <a:lstStyle/>
          <a:p>
            <a:r>
              <a:rPr lang="en-IN" b="1" dirty="0"/>
              <a:t>Availability Sets.</a:t>
            </a:r>
            <a:endParaRPr lang="en-IN" dirty="0"/>
          </a:p>
        </p:txBody>
      </p:sp>
    </p:spTree>
    <p:extLst>
      <p:ext uri="{BB962C8B-B14F-4D97-AF65-F5344CB8AC3E}">
        <p14:creationId xmlns:p14="http://schemas.microsoft.com/office/powerpoint/2010/main" val="10580870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6520F5-F17B-E7C2-CC04-6D3C333F819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3204DA1-764A-D7E4-683F-0F720765B7CA}"/>
              </a:ext>
            </a:extLst>
          </p:cNvPr>
          <p:cNvSpPr txBox="1"/>
          <p:nvPr/>
        </p:nvSpPr>
        <p:spPr>
          <a:xfrm>
            <a:off x="681789" y="117693"/>
            <a:ext cx="11181348" cy="3693319"/>
          </a:xfrm>
          <a:prstGeom prst="rect">
            <a:avLst/>
          </a:prstGeom>
          <a:noFill/>
        </p:spPr>
        <p:txBody>
          <a:bodyPr wrap="square">
            <a:spAutoFit/>
          </a:bodyPr>
          <a:lstStyle/>
          <a:p>
            <a:r>
              <a:rPr lang="en-IN" dirty="0"/>
              <a:t>One more important point.</a:t>
            </a:r>
          </a:p>
          <a:p>
            <a:r>
              <a:rPr lang="en-IN" dirty="0"/>
              <a:t>Today, for new production applications, </a:t>
            </a:r>
            <a:r>
              <a:rPr lang="en-IN" b="1" dirty="0"/>
              <a:t>Availability Zones are generally preferred whenever the Azure Region supports them.</a:t>
            </a:r>
            <a:endParaRPr lang="en-IN" dirty="0"/>
          </a:p>
          <a:p>
            <a:r>
              <a:rPr lang="en-IN" dirty="0"/>
              <a:t>Availability Sets are still useful in Regions where Zones are not available or when you're working with older deployments.</a:t>
            </a:r>
          </a:p>
          <a:p>
            <a:br>
              <a:rPr lang="en-IN" dirty="0"/>
            </a:br>
            <a:endParaRPr lang="en-IN" dirty="0"/>
          </a:p>
          <a:p>
            <a:r>
              <a:rPr lang="en-IN" dirty="0"/>
              <a:t>Let's quickly summarize.</a:t>
            </a:r>
          </a:p>
          <a:p>
            <a:r>
              <a:rPr lang="en-IN" dirty="0"/>
              <a:t>Availability Sets distribute VMs across different physical servers. </a:t>
            </a:r>
          </a:p>
          <a:p>
            <a:r>
              <a:rPr lang="en-IN" dirty="0"/>
              <a:t>They use Fault Domains and Update Domains. </a:t>
            </a:r>
          </a:p>
          <a:p>
            <a:r>
              <a:rPr lang="en-IN" dirty="0"/>
              <a:t>They reduce downtime caused by hardware failures and planned maintenance. </a:t>
            </a:r>
          </a:p>
          <a:p>
            <a:r>
              <a:rPr lang="en-IN" dirty="0"/>
              <a:t>They usually work inside one datacenter. </a:t>
            </a:r>
          </a:p>
          <a:p>
            <a:r>
              <a:rPr lang="en-IN" dirty="0"/>
              <a:t>Availability Zones provide stronger protection because they use separate datacenters. </a:t>
            </a:r>
          </a:p>
        </p:txBody>
      </p:sp>
      <p:graphicFrame>
        <p:nvGraphicFramePr>
          <p:cNvPr id="2" name="Table 1">
            <a:extLst>
              <a:ext uri="{FF2B5EF4-FFF2-40B4-BE49-F238E27FC236}">
                <a16:creationId xmlns:a16="http://schemas.microsoft.com/office/drawing/2014/main" id="{DF6F0342-7C4B-551C-4EA1-4CC06BB9A199}"/>
              </a:ext>
            </a:extLst>
          </p:cNvPr>
          <p:cNvGraphicFramePr>
            <a:graphicFrameLocks noGrp="1"/>
          </p:cNvGraphicFramePr>
          <p:nvPr>
            <p:extLst>
              <p:ext uri="{D42A27DB-BD31-4B8C-83A1-F6EECF244321}">
                <p14:modId xmlns:p14="http://schemas.microsoft.com/office/powerpoint/2010/main" val="137428048"/>
              </p:ext>
            </p:extLst>
          </p:nvPr>
        </p:nvGraphicFramePr>
        <p:xfrm>
          <a:off x="1014663" y="4215865"/>
          <a:ext cx="10515600" cy="2103120"/>
        </p:xfrm>
        <a:graphic>
          <a:graphicData uri="http://schemas.openxmlformats.org/drawingml/2006/table">
            <a:tbl>
              <a:tblPr/>
              <a:tblGrid>
                <a:gridCol w="5257800">
                  <a:extLst>
                    <a:ext uri="{9D8B030D-6E8A-4147-A177-3AD203B41FA5}">
                      <a16:colId xmlns:a16="http://schemas.microsoft.com/office/drawing/2014/main" val="742181085"/>
                    </a:ext>
                  </a:extLst>
                </a:gridCol>
                <a:gridCol w="5257800">
                  <a:extLst>
                    <a:ext uri="{9D8B030D-6E8A-4147-A177-3AD203B41FA5}">
                      <a16:colId xmlns:a16="http://schemas.microsoft.com/office/drawing/2014/main" val="3883880734"/>
                    </a:ext>
                  </a:extLst>
                </a:gridCol>
              </a:tblGrid>
              <a:tr h="158408">
                <a:tc>
                  <a:txBody>
                    <a:bodyPr/>
                    <a:lstStyle/>
                    <a:p>
                      <a:pPr>
                        <a:buNone/>
                      </a:pPr>
                      <a:r>
                        <a:rPr lang="en-IN"/>
                        <a:t>Availability Set</a:t>
                      </a:r>
                    </a:p>
                  </a:txBody>
                  <a:tcPr anchor="ctr">
                    <a:lnL>
                      <a:noFill/>
                    </a:lnL>
                    <a:lnR>
                      <a:noFill/>
                    </a:lnR>
                    <a:lnT>
                      <a:noFill/>
                    </a:lnT>
                    <a:lnB>
                      <a:noFill/>
                    </a:lnB>
                    <a:noFill/>
                  </a:tcPr>
                </a:tc>
                <a:tc>
                  <a:txBody>
                    <a:bodyPr/>
                    <a:lstStyle/>
                    <a:p>
                      <a:pPr>
                        <a:buNone/>
                      </a:pPr>
                      <a:r>
                        <a:rPr lang="en-IN"/>
                        <a:t>Availability Zone</a:t>
                      </a:r>
                    </a:p>
                  </a:txBody>
                  <a:tcPr anchor="ctr">
                    <a:lnL>
                      <a:noFill/>
                    </a:lnL>
                    <a:lnR>
                      <a:noFill/>
                    </a:lnR>
                    <a:lnT>
                      <a:noFill/>
                    </a:lnT>
                    <a:lnB>
                      <a:noFill/>
                    </a:lnB>
                    <a:noFill/>
                  </a:tcPr>
                </a:tc>
                <a:extLst>
                  <a:ext uri="{0D108BD9-81ED-4DB2-BD59-A6C34878D82A}">
                    <a16:rowId xmlns:a16="http://schemas.microsoft.com/office/drawing/2014/main" val="2182162718"/>
                  </a:ext>
                </a:extLst>
              </a:tr>
              <a:tr h="0">
                <a:tc>
                  <a:txBody>
                    <a:bodyPr/>
                    <a:lstStyle/>
                    <a:p>
                      <a:pPr>
                        <a:buNone/>
                      </a:pPr>
                      <a:r>
                        <a:rPr lang="en-IN"/>
                        <a:t>Uses multiple physical servers in the same datacenter</a:t>
                      </a:r>
                    </a:p>
                  </a:txBody>
                  <a:tcPr anchor="ctr">
                    <a:lnL>
                      <a:noFill/>
                    </a:lnL>
                    <a:lnR>
                      <a:noFill/>
                    </a:lnR>
                    <a:lnT>
                      <a:noFill/>
                    </a:lnT>
                    <a:lnB>
                      <a:noFill/>
                    </a:lnB>
                    <a:noFill/>
                  </a:tcPr>
                </a:tc>
                <a:tc>
                  <a:txBody>
                    <a:bodyPr/>
                    <a:lstStyle/>
                    <a:p>
                      <a:pPr>
                        <a:buNone/>
                      </a:pPr>
                      <a:r>
                        <a:rPr lang="en-IN"/>
                        <a:t>Uses multiple datacenters inside one Region</a:t>
                      </a:r>
                    </a:p>
                  </a:txBody>
                  <a:tcPr anchor="ctr">
                    <a:lnL>
                      <a:noFill/>
                    </a:lnL>
                    <a:lnR>
                      <a:noFill/>
                    </a:lnR>
                    <a:lnT>
                      <a:noFill/>
                    </a:lnT>
                    <a:lnB>
                      <a:noFill/>
                    </a:lnB>
                    <a:noFill/>
                  </a:tcPr>
                </a:tc>
                <a:extLst>
                  <a:ext uri="{0D108BD9-81ED-4DB2-BD59-A6C34878D82A}">
                    <a16:rowId xmlns:a16="http://schemas.microsoft.com/office/drawing/2014/main" val="3672346789"/>
                  </a:ext>
                </a:extLst>
              </a:tr>
              <a:tr h="0">
                <a:tc>
                  <a:txBody>
                    <a:bodyPr/>
                    <a:lstStyle/>
                    <a:p>
                      <a:pPr>
                        <a:buNone/>
                      </a:pPr>
                      <a:r>
                        <a:rPr lang="en-IN"/>
                        <a:t>Protects against hardware failure</a:t>
                      </a:r>
                    </a:p>
                  </a:txBody>
                  <a:tcPr anchor="ctr">
                    <a:lnL>
                      <a:noFill/>
                    </a:lnL>
                    <a:lnR>
                      <a:noFill/>
                    </a:lnR>
                    <a:lnT>
                      <a:noFill/>
                    </a:lnT>
                    <a:lnB>
                      <a:noFill/>
                    </a:lnB>
                    <a:noFill/>
                  </a:tcPr>
                </a:tc>
                <a:tc>
                  <a:txBody>
                    <a:bodyPr/>
                    <a:lstStyle/>
                    <a:p>
                      <a:pPr>
                        <a:buNone/>
                      </a:pPr>
                      <a:r>
                        <a:rPr lang="en-IN"/>
                        <a:t>Protects against complete datacenter failure</a:t>
                      </a:r>
                    </a:p>
                  </a:txBody>
                  <a:tcPr anchor="ctr">
                    <a:lnL>
                      <a:noFill/>
                    </a:lnL>
                    <a:lnR>
                      <a:noFill/>
                    </a:lnR>
                    <a:lnT>
                      <a:noFill/>
                    </a:lnT>
                    <a:lnB>
                      <a:noFill/>
                    </a:lnB>
                    <a:noFill/>
                  </a:tcPr>
                </a:tc>
                <a:extLst>
                  <a:ext uri="{0D108BD9-81ED-4DB2-BD59-A6C34878D82A}">
                    <a16:rowId xmlns:a16="http://schemas.microsoft.com/office/drawing/2014/main" val="4258647555"/>
                  </a:ext>
                </a:extLst>
              </a:tr>
              <a:tr h="0">
                <a:tc>
                  <a:txBody>
                    <a:bodyPr/>
                    <a:lstStyle/>
                    <a:p>
                      <a:pPr>
                        <a:buNone/>
                      </a:pPr>
                      <a:r>
                        <a:rPr lang="en-IN"/>
                        <a:t>Uses Fault Domains and Update Domains</a:t>
                      </a:r>
                    </a:p>
                  </a:txBody>
                  <a:tcPr anchor="ctr">
                    <a:lnL>
                      <a:noFill/>
                    </a:lnL>
                    <a:lnR>
                      <a:noFill/>
                    </a:lnR>
                    <a:lnT>
                      <a:noFill/>
                    </a:lnT>
                    <a:lnB>
                      <a:noFill/>
                    </a:lnB>
                    <a:noFill/>
                  </a:tcPr>
                </a:tc>
                <a:tc>
                  <a:txBody>
                    <a:bodyPr/>
                    <a:lstStyle/>
                    <a:p>
                      <a:pPr>
                        <a:buNone/>
                      </a:pPr>
                      <a:r>
                        <a:rPr lang="en-IN"/>
                        <a:t>Uses physically isolated Zones</a:t>
                      </a:r>
                    </a:p>
                  </a:txBody>
                  <a:tcPr anchor="ctr">
                    <a:lnL>
                      <a:noFill/>
                    </a:lnL>
                    <a:lnR>
                      <a:noFill/>
                    </a:lnR>
                    <a:lnT>
                      <a:noFill/>
                    </a:lnT>
                    <a:lnB>
                      <a:noFill/>
                    </a:lnB>
                    <a:noFill/>
                  </a:tcPr>
                </a:tc>
                <a:extLst>
                  <a:ext uri="{0D108BD9-81ED-4DB2-BD59-A6C34878D82A}">
                    <a16:rowId xmlns:a16="http://schemas.microsoft.com/office/drawing/2014/main" val="1183612098"/>
                  </a:ext>
                </a:extLst>
              </a:tr>
              <a:tr h="0">
                <a:tc>
                  <a:txBody>
                    <a:bodyPr/>
                    <a:lstStyle/>
                    <a:p>
                      <a:pPr>
                        <a:buNone/>
                      </a:pPr>
                      <a:r>
                        <a:rPr lang="en-IN"/>
                        <a:t>Good for planned maintenance and server failures</a:t>
                      </a:r>
                    </a:p>
                  </a:txBody>
                  <a:tcPr anchor="ctr">
                    <a:lnL>
                      <a:noFill/>
                    </a:lnL>
                    <a:lnR>
                      <a:noFill/>
                    </a:lnR>
                    <a:lnT>
                      <a:noFill/>
                    </a:lnT>
                    <a:lnB>
                      <a:noFill/>
                    </a:lnB>
                    <a:noFill/>
                  </a:tcPr>
                </a:tc>
                <a:tc>
                  <a:txBody>
                    <a:bodyPr/>
                    <a:lstStyle/>
                    <a:p>
                      <a:pPr>
                        <a:buNone/>
                      </a:pPr>
                      <a:r>
                        <a:rPr lang="en-IN" dirty="0"/>
                        <a:t>Good for high availability across datacenters</a:t>
                      </a:r>
                    </a:p>
                  </a:txBody>
                  <a:tcPr anchor="ctr">
                    <a:lnL>
                      <a:noFill/>
                    </a:lnL>
                    <a:lnR>
                      <a:noFill/>
                    </a:lnR>
                    <a:lnT>
                      <a:noFill/>
                    </a:lnT>
                    <a:lnB>
                      <a:noFill/>
                    </a:lnB>
                    <a:noFill/>
                  </a:tcPr>
                </a:tc>
                <a:extLst>
                  <a:ext uri="{0D108BD9-81ED-4DB2-BD59-A6C34878D82A}">
                    <a16:rowId xmlns:a16="http://schemas.microsoft.com/office/drawing/2014/main" val="3931174710"/>
                  </a:ext>
                </a:extLst>
              </a:tr>
            </a:tbl>
          </a:graphicData>
        </a:graphic>
      </p:graphicFrame>
    </p:spTree>
    <p:extLst>
      <p:ext uri="{BB962C8B-B14F-4D97-AF65-F5344CB8AC3E}">
        <p14:creationId xmlns:p14="http://schemas.microsoft.com/office/powerpoint/2010/main" val="8810801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00FFA9-8D9D-2BAA-47A4-A5FC5752241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A1F57A9-D9EC-36D1-6DDB-486B656375B4}"/>
              </a:ext>
            </a:extLst>
          </p:cNvPr>
          <p:cNvSpPr txBox="1"/>
          <p:nvPr/>
        </p:nvSpPr>
        <p:spPr>
          <a:xfrm>
            <a:off x="681789" y="117693"/>
            <a:ext cx="11181348" cy="6463308"/>
          </a:xfrm>
          <a:prstGeom prst="rect">
            <a:avLst/>
          </a:prstGeom>
          <a:noFill/>
        </p:spPr>
        <p:txBody>
          <a:bodyPr wrap="square">
            <a:spAutoFit/>
          </a:bodyPr>
          <a:lstStyle/>
          <a:p>
            <a:r>
              <a:rPr lang="en-IN" dirty="0"/>
              <a:t>Now let's move to one of the most important concepts in Azure.</a:t>
            </a:r>
          </a:p>
          <a:p>
            <a:r>
              <a:rPr lang="en-IN" b="1" dirty="0"/>
              <a:t>Microsoft Entra ID Tenant.</a:t>
            </a:r>
            <a:endParaRPr lang="en-IN" dirty="0"/>
          </a:p>
          <a:p>
            <a:r>
              <a:rPr lang="en-IN" dirty="0"/>
              <a:t>Before I explain it...</a:t>
            </a:r>
          </a:p>
          <a:p>
            <a:r>
              <a:rPr lang="en-IN" dirty="0"/>
              <a:t>Let me ask you a question.</a:t>
            </a:r>
          </a:p>
          <a:p>
            <a:r>
              <a:rPr lang="en-IN" b="1" dirty="0"/>
              <a:t>When you sign in to Azure Portal, how does Azure know who you are?</a:t>
            </a:r>
            <a:endParaRPr lang="en-IN" dirty="0"/>
          </a:p>
          <a:p>
            <a:r>
              <a:rPr lang="en-IN" dirty="0"/>
              <a:t>How does it know:</a:t>
            </a:r>
          </a:p>
          <a:p>
            <a:r>
              <a:rPr lang="en-IN" dirty="0"/>
              <a:t>Which users belong to your company? </a:t>
            </a:r>
          </a:p>
          <a:p>
            <a:r>
              <a:rPr lang="en-IN" dirty="0"/>
              <a:t>Which applications you can access? </a:t>
            </a:r>
          </a:p>
          <a:p>
            <a:r>
              <a:rPr lang="en-IN" dirty="0"/>
              <a:t>Which subscriptions you can manage? </a:t>
            </a:r>
          </a:p>
          <a:p>
            <a:r>
              <a:rPr lang="en-IN" dirty="0"/>
              <a:t>The answer is...</a:t>
            </a:r>
          </a:p>
          <a:p>
            <a:r>
              <a:rPr lang="en-IN" b="1" dirty="0"/>
              <a:t>Microsoft Entra ID.</a:t>
            </a:r>
            <a:endParaRPr lang="en-IN" dirty="0"/>
          </a:p>
          <a:p>
            <a:r>
              <a:rPr lang="en-IN" dirty="0"/>
              <a:t>And inside Microsoft Entra ID, everything starts with a </a:t>
            </a:r>
            <a:r>
              <a:rPr lang="en-IN" b="1" dirty="0"/>
              <a:t>Tenant</a:t>
            </a:r>
            <a:r>
              <a:rPr lang="en-IN" dirty="0"/>
              <a:t>.</a:t>
            </a:r>
          </a:p>
          <a:p>
            <a:br>
              <a:rPr lang="en-IN" dirty="0"/>
            </a:br>
            <a:r>
              <a:rPr lang="en-IN" dirty="0" err="1"/>
              <a:t>So.</a:t>
            </a:r>
            <a:r>
              <a:rPr lang="en-IN" dirty="0"/>
              <a:t>..</a:t>
            </a:r>
          </a:p>
          <a:p>
            <a:r>
              <a:rPr lang="en-IN" b="1" dirty="0"/>
              <a:t>What is a Tenant?</a:t>
            </a:r>
            <a:endParaRPr lang="en-IN" dirty="0"/>
          </a:p>
          <a:p>
            <a:r>
              <a:rPr lang="en-IN" dirty="0"/>
              <a:t>In simple words...</a:t>
            </a:r>
          </a:p>
          <a:p>
            <a:r>
              <a:rPr lang="en-IN" dirty="0"/>
              <a:t>A </a:t>
            </a:r>
            <a:r>
              <a:rPr lang="en-IN" b="1" dirty="0"/>
              <a:t>Tenant</a:t>
            </a:r>
            <a:r>
              <a:rPr lang="en-IN" dirty="0"/>
              <a:t> is a </a:t>
            </a:r>
            <a:r>
              <a:rPr lang="en-IN" b="1" dirty="0"/>
              <a:t>dedicated and isolated identity space</a:t>
            </a:r>
            <a:r>
              <a:rPr lang="en-IN" dirty="0"/>
              <a:t> for an organization.</a:t>
            </a:r>
          </a:p>
          <a:p>
            <a:r>
              <a:rPr lang="en-IN" dirty="0"/>
              <a:t>That sounds technical.</a:t>
            </a:r>
          </a:p>
          <a:p>
            <a:r>
              <a:rPr lang="en-IN" dirty="0"/>
              <a:t>Let's make it much simpler.</a:t>
            </a:r>
          </a:p>
          <a:p>
            <a:r>
              <a:rPr lang="en-IN" dirty="0"/>
              <a:t>A </a:t>
            </a:r>
            <a:r>
              <a:rPr lang="en-IN" b="1" dirty="0"/>
              <a:t>Tenant is your organization's identity container.</a:t>
            </a:r>
            <a:endParaRPr lang="en-IN" dirty="0"/>
          </a:p>
          <a:p>
            <a:r>
              <a:rPr lang="en-IN" dirty="0"/>
              <a:t>It stores information about:</a:t>
            </a:r>
          </a:p>
          <a:p>
            <a:r>
              <a:rPr lang="en-IN" dirty="0"/>
              <a:t>Users, Groups , Administrators, Applications, Devices, policies </a:t>
            </a:r>
          </a:p>
          <a:p>
            <a:r>
              <a:rPr lang="en-IN" dirty="0"/>
              <a:t>Think of it as </a:t>
            </a:r>
            <a:r>
              <a:rPr lang="en-IN" b="1" dirty="0"/>
              <a:t>your company's digital identity home</a:t>
            </a:r>
            <a:r>
              <a:rPr lang="en-IN" dirty="0"/>
              <a:t>.</a:t>
            </a:r>
          </a:p>
        </p:txBody>
      </p:sp>
      <p:sp>
        <p:nvSpPr>
          <p:cNvPr id="4" name="TextBox 3">
            <a:extLst>
              <a:ext uri="{FF2B5EF4-FFF2-40B4-BE49-F238E27FC236}">
                <a16:creationId xmlns:a16="http://schemas.microsoft.com/office/drawing/2014/main" id="{01B067C3-9A83-7BBD-467C-86F32A12BEC2}"/>
              </a:ext>
            </a:extLst>
          </p:cNvPr>
          <p:cNvSpPr txBox="1"/>
          <p:nvPr/>
        </p:nvSpPr>
        <p:spPr>
          <a:xfrm>
            <a:off x="10916653" y="117693"/>
            <a:ext cx="946484" cy="369332"/>
          </a:xfrm>
          <a:prstGeom prst="rect">
            <a:avLst/>
          </a:prstGeom>
          <a:noFill/>
        </p:spPr>
        <p:txBody>
          <a:bodyPr wrap="square">
            <a:spAutoFit/>
          </a:bodyPr>
          <a:lstStyle/>
          <a:p>
            <a:r>
              <a:rPr lang="en-IN" b="1" dirty="0"/>
              <a:t>Tenant</a:t>
            </a:r>
            <a:endParaRPr lang="en-IN" dirty="0"/>
          </a:p>
        </p:txBody>
      </p:sp>
    </p:spTree>
    <p:extLst>
      <p:ext uri="{BB962C8B-B14F-4D97-AF65-F5344CB8AC3E}">
        <p14:creationId xmlns:p14="http://schemas.microsoft.com/office/powerpoint/2010/main" val="39111524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F7BAF3-0225-ED02-918F-AD36F3EF0BB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462B222-66D4-2A46-939C-36303F71A527}"/>
              </a:ext>
            </a:extLst>
          </p:cNvPr>
          <p:cNvSpPr txBox="1"/>
          <p:nvPr/>
        </p:nvSpPr>
        <p:spPr>
          <a:xfrm>
            <a:off x="681789" y="117693"/>
            <a:ext cx="11181348" cy="7294305"/>
          </a:xfrm>
          <a:prstGeom prst="rect">
            <a:avLst/>
          </a:prstGeom>
          <a:noFill/>
        </p:spPr>
        <p:txBody>
          <a:bodyPr wrap="square">
            <a:spAutoFit/>
          </a:bodyPr>
          <a:lstStyle/>
          <a:p>
            <a:r>
              <a:rPr lang="en-IN" dirty="0"/>
              <a:t>For example...</a:t>
            </a:r>
          </a:p>
          <a:p>
            <a:r>
              <a:rPr lang="en-IN" dirty="0"/>
              <a:t>Suppose your company is called </a:t>
            </a:r>
            <a:r>
              <a:rPr lang="en-IN" b="1" dirty="0"/>
              <a:t>ABC Technologies</a:t>
            </a:r>
            <a:r>
              <a:rPr lang="en-IN" dirty="0"/>
              <a:t>.</a:t>
            </a:r>
          </a:p>
          <a:p>
            <a:r>
              <a:rPr lang="en-IN" dirty="0"/>
              <a:t>When the company starts using Microsoft cloud services...</a:t>
            </a:r>
          </a:p>
          <a:p>
            <a:r>
              <a:rPr lang="en-IN" dirty="0"/>
              <a:t>Microsoft creates a Tenant for ABC Technologies.</a:t>
            </a:r>
          </a:p>
          <a:p>
            <a:r>
              <a:rPr lang="en-IN" dirty="0"/>
              <a:t>Inside that Tenant, the company creates:</a:t>
            </a:r>
          </a:p>
          <a:p>
            <a:r>
              <a:rPr lang="en-IN" dirty="0"/>
              <a:t>Employee accounts </a:t>
            </a:r>
          </a:p>
          <a:p>
            <a:r>
              <a:rPr lang="en-IN" dirty="0"/>
              <a:t>Admin accounts </a:t>
            </a:r>
          </a:p>
          <a:p>
            <a:r>
              <a:rPr lang="en-IN" dirty="0"/>
              <a:t>Security groups </a:t>
            </a:r>
          </a:p>
          <a:p>
            <a:r>
              <a:rPr lang="en-IN" dirty="0"/>
              <a:t>Applications </a:t>
            </a:r>
          </a:p>
          <a:p>
            <a:r>
              <a:rPr lang="en-IN" dirty="0"/>
              <a:t>Policies </a:t>
            </a:r>
          </a:p>
          <a:p>
            <a:r>
              <a:rPr lang="en-IN" dirty="0"/>
              <a:t>Everything related to identities is stored inside that Tenant.</a:t>
            </a:r>
          </a:p>
          <a:p>
            <a:endParaRPr lang="en-IN" dirty="0"/>
          </a:p>
          <a:p>
            <a:r>
              <a:rPr lang="en-IN" dirty="0"/>
              <a:t>Now here's an important question.</a:t>
            </a:r>
          </a:p>
          <a:p>
            <a:r>
              <a:rPr lang="en-IN" b="1" dirty="0"/>
              <a:t>Can another company see your Tenant? </a:t>
            </a:r>
            <a:r>
              <a:rPr lang="en-IN" dirty="0"/>
              <a:t>No.</a:t>
            </a:r>
          </a:p>
          <a:p>
            <a:r>
              <a:rPr lang="en-IN" dirty="0"/>
              <a:t>Every Tenant is completely isolated.</a:t>
            </a:r>
          </a:p>
          <a:p>
            <a:r>
              <a:rPr lang="en-IN" dirty="0"/>
              <a:t>If another company creates its own Tenant...</a:t>
            </a:r>
          </a:p>
          <a:p>
            <a:r>
              <a:rPr lang="en-IN" dirty="0"/>
              <a:t>Their users, applications, passwords, and policies remain completely separate from yours.</a:t>
            </a:r>
          </a:p>
          <a:p>
            <a:r>
              <a:rPr lang="en-IN" dirty="0"/>
              <a:t>Microsoft keeps every organization's identity information isolated for security.</a:t>
            </a:r>
          </a:p>
          <a:p>
            <a:r>
              <a:rPr lang="en-IN" dirty="0"/>
              <a:t>A Tenant is created </a:t>
            </a:r>
            <a:r>
              <a:rPr lang="en-IN" b="1" dirty="0"/>
              <a:t>only once</a:t>
            </a:r>
            <a:r>
              <a:rPr lang="en-IN" dirty="0"/>
              <a:t> for an organization.</a:t>
            </a:r>
          </a:p>
          <a:p>
            <a:r>
              <a:rPr lang="en-IN" dirty="0"/>
              <a:t>After that...You can create many Azure Subscriptions inside the same Tenant.</a:t>
            </a:r>
          </a:p>
          <a:p>
            <a:r>
              <a:rPr lang="en-IN" dirty="0"/>
              <a:t>We'll talk about Subscriptions in the next topic.</a:t>
            </a:r>
          </a:p>
          <a:p>
            <a:r>
              <a:rPr lang="en-IN" dirty="0"/>
              <a:t>For now, just remember...</a:t>
            </a:r>
          </a:p>
          <a:p>
            <a:r>
              <a:rPr lang="en-IN" b="1" dirty="0"/>
              <a:t>Tenant comes first.</a:t>
            </a:r>
            <a:endParaRPr lang="en-IN" dirty="0"/>
          </a:p>
          <a:p>
            <a:r>
              <a:rPr lang="en-IN" dirty="0"/>
              <a:t>Subscriptions come later.</a:t>
            </a:r>
          </a:p>
          <a:p>
            <a:endParaRPr lang="en-IN" dirty="0"/>
          </a:p>
        </p:txBody>
      </p:sp>
      <p:sp>
        <p:nvSpPr>
          <p:cNvPr id="3" name="TextBox 2">
            <a:extLst>
              <a:ext uri="{FF2B5EF4-FFF2-40B4-BE49-F238E27FC236}">
                <a16:creationId xmlns:a16="http://schemas.microsoft.com/office/drawing/2014/main" id="{C4157FA2-185D-D2F4-26CF-C16B826CFA16}"/>
              </a:ext>
            </a:extLst>
          </p:cNvPr>
          <p:cNvSpPr txBox="1"/>
          <p:nvPr/>
        </p:nvSpPr>
        <p:spPr>
          <a:xfrm>
            <a:off x="10916653" y="117693"/>
            <a:ext cx="946484" cy="369332"/>
          </a:xfrm>
          <a:prstGeom prst="rect">
            <a:avLst/>
          </a:prstGeom>
          <a:noFill/>
        </p:spPr>
        <p:txBody>
          <a:bodyPr wrap="square">
            <a:spAutoFit/>
          </a:bodyPr>
          <a:lstStyle/>
          <a:p>
            <a:r>
              <a:rPr lang="en-IN" b="1" dirty="0"/>
              <a:t>Tenant</a:t>
            </a:r>
            <a:endParaRPr lang="en-IN" dirty="0"/>
          </a:p>
        </p:txBody>
      </p:sp>
    </p:spTree>
    <p:extLst>
      <p:ext uri="{BB962C8B-B14F-4D97-AF65-F5344CB8AC3E}">
        <p14:creationId xmlns:p14="http://schemas.microsoft.com/office/powerpoint/2010/main" val="15271772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9DD8F5-F042-FE2A-3620-DAFE7C3CAB8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67F1642-9E51-515C-83AF-19CDFA188274}"/>
              </a:ext>
            </a:extLst>
          </p:cNvPr>
          <p:cNvSpPr txBox="1"/>
          <p:nvPr/>
        </p:nvSpPr>
        <p:spPr>
          <a:xfrm>
            <a:off x="681789" y="117693"/>
            <a:ext cx="11181348" cy="5632311"/>
          </a:xfrm>
          <a:prstGeom prst="rect">
            <a:avLst/>
          </a:prstGeom>
          <a:noFill/>
        </p:spPr>
        <p:txBody>
          <a:bodyPr wrap="square">
            <a:spAutoFit/>
          </a:bodyPr>
          <a:lstStyle/>
          <a:p>
            <a:r>
              <a:rPr lang="en-IN" dirty="0"/>
              <a:t>Let's look at a simple example.</a:t>
            </a:r>
          </a:p>
          <a:p>
            <a:r>
              <a:rPr lang="en-IN" dirty="0"/>
              <a:t>Imagine a company has three departments.</a:t>
            </a:r>
          </a:p>
          <a:p>
            <a:r>
              <a:rPr lang="en-IN" dirty="0"/>
              <a:t>Development </a:t>
            </a:r>
          </a:p>
          <a:p>
            <a:r>
              <a:rPr lang="en-IN" dirty="0"/>
              <a:t>HR </a:t>
            </a:r>
          </a:p>
          <a:p>
            <a:r>
              <a:rPr lang="en-IN" dirty="0"/>
              <a:t>Finance </a:t>
            </a:r>
          </a:p>
          <a:p>
            <a:r>
              <a:rPr lang="en-IN" dirty="0"/>
              <a:t>All employees belong to the same company.</a:t>
            </a:r>
          </a:p>
          <a:p>
            <a:r>
              <a:rPr lang="en-IN" dirty="0"/>
              <a:t>So they all use the same Tenant.</a:t>
            </a:r>
          </a:p>
          <a:p>
            <a:r>
              <a:rPr lang="en-IN" dirty="0"/>
              <a:t>But the company may create different Azure Subscriptions for different departments.</a:t>
            </a:r>
          </a:p>
          <a:p>
            <a:r>
              <a:rPr lang="en-IN" dirty="0"/>
              <a:t>Even though there are multiple subscriptions...</a:t>
            </a:r>
          </a:p>
          <a:p>
            <a:r>
              <a:rPr lang="en-IN" dirty="0"/>
              <a:t>Everyone's identity is still managed by one Tenant.</a:t>
            </a:r>
          </a:p>
          <a:p>
            <a:r>
              <a:rPr lang="en-IN" b="1" dirty="0"/>
              <a:t>Can one user access multiple Tenants?</a:t>
            </a:r>
          </a:p>
          <a:p>
            <a:r>
              <a:rPr lang="en-IN" dirty="0"/>
              <a:t>Yes.</a:t>
            </a:r>
          </a:p>
          <a:p>
            <a:r>
              <a:rPr lang="en-IN" dirty="0"/>
              <a:t>For example...</a:t>
            </a:r>
          </a:p>
          <a:p>
            <a:r>
              <a:rPr lang="en-IN" dirty="0"/>
              <a:t>Suppose you work as an Azure consultant.</a:t>
            </a:r>
          </a:p>
          <a:p>
            <a:r>
              <a:rPr lang="en-IN" dirty="0"/>
              <a:t>You may have:</a:t>
            </a:r>
          </a:p>
          <a:p>
            <a:r>
              <a:rPr lang="en-IN" dirty="0"/>
              <a:t>Your company's Tenant </a:t>
            </a:r>
          </a:p>
          <a:p>
            <a:r>
              <a:rPr lang="en-IN" dirty="0"/>
              <a:t>Your customer's Tenant </a:t>
            </a:r>
          </a:p>
          <a:p>
            <a:r>
              <a:rPr lang="en-IN" dirty="0"/>
              <a:t>Azure allows you to switch between Tenants.</a:t>
            </a:r>
          </a:p>
          <a:p>
            <a:r>
              <a:rPr lang="en-IN" dirty="0"/>
              <a:t>That's why sometimes in Azure Portal you'll see the option </a:t>
            </a:r>
            <a:r>
              <a:rPr lang="en-IN" b="1" dirty="0"/>
              <a:t>Switch Directory</a:t>
            </a:r>
            <a:r>
              <a:rPr lang="en-IN" dirty="0"/>
              <a:t> or </a:t>
            </a:r>
            <a:r>
              <a:rPr lang="en-IN" b="1" dirty="0"/>
              <a:t>Switch Tenant</a:t>
            </a:r>
            <a:r>
              <a:rPr lang="en-IN" dirty="0"/>
              <a:t>.</a:t>
            </a:r>
          </a:p>
          <a:p>
            <a:endParaRPr lang="en-IN" dirty="0"/>
          </a:p>
        </p:txBody>
      </p:sp>
      <p:sp>
        <p:nvSpPr>
          <p:cNvPr id="3" name="TextBox 2">
            <a:extLst>
              <a:ext uri="{FF2B5EF4-FFF2-40B4-BE49-F238E27FC236}">
                <a16:creationId xmlns:a16="http://schemas.microsoft.com/office/drawing/2014/main" id="{463219D5-BBE0-24AD-8EE4-4772AE5A2808}"/>
              </a:ext>
            </a:extLst>
          </p:cNvPr>
          <p:cNvSpPr txBox="1"/>
          <p:nvPr/>
        </p:nvSpPr>
        <p:spPr>
          <a:xfrm>
            <a:off x="10916653" y="117693"/>
            <a:ext cx="946484" cy="369332"/>
          </a:xfrm>
          <a:prstGeom prst="rect">
            <a:avLst/>
          </a:prstGeom>
          <a:noFill/>
        </p:spPr>
        <p:txBody>
          <a:bodyPr wrap="square">
            <a:spAutoFit/>
          </a:bodyPr>
          <a:lstStyle/>
          <a:p>
            <a:r>
              <a:rPr lang="en-IN" b="1" dirty="0"/>
              <a:t>Tenant</a:t>
            </a:r>
            <a:endParaRPr lang="en-IN" dirty="0"/>
          </a:p>
        </p:txBody>
      </p:sp>
    </p:spTree>
    <p:extLst>
      <p:ext uri="{BB962C8B-B14F-4D97-AF65-F5344CB8AC3E}">
        <p14:creationId xmlns:p14="http://schemas.microsoft.com/office/powerpoint/2010/main" val="3323462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F2709C-26AC-9310-30E4-19308EEC262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D44F6D4-FAE7-31EB-9A9E-DE55ABD06397}"/>
              </a:ext>
            </a:extLst>
          </p:cNvPr>
          <p:cNvSpPr txBox="1"/>
          <p:nvPr/>
        </p:nvSpPr>
        <p:spPr>
          <a:xfrm>
            <a:off x="681789" y="117693"/>
            <a:ext cx="11181348" cy="5078313"/>
          </a:xfrm>
          <a:prstGeom prst="rect">
            <a:avLst/>
          </a:prstGeom>
          <a:noFill/>
        </p:spPr>
        <p:txBody>
          <a:bodyPr wrap="square">
            <a:spAutoFit/>
          </a:bodyPr>
          <a:lstStyle/>
          <a:p>
            <a:r>
              <a:rPr lang="en-IN" dirty="0"/>
              <a:t>Let's summarize what a Tenant does.</a:t>
            </a:r>
          </a:p>
          <a:p>
            <a:r>
              <a:rPr lang="en-IN" dirty="0"/>
              <a:t>A Tenant:</a:t>
            </a:r>
          </a:p>
          <a:p>
            <a:r>
              <a:rPr lang="en-IN" dirty="0"/>
              <a:t>Stores users. </a:t>
            </a:r>
          </a:p>
          <a:p>
            <a:r>
              <a:rPr lang="en-IN" dirty="0"/>
              <a:t>Stores groups. </a:t>
            </a:r>
          </a:p>
          <a:p>
            <a:r>
              <a:rPr lang="en-IN" dirty="0"/>
              <a:t>Stores applications. </a:t>
            </a:r>
          </a:p>
          <a:p>
            <a:r>
              <a:rPr lang="en-IN" dirty="0"/>
              <a:t>Stores devices. </a:t>
            </a:r>
          </a:p>
          <a:p>
            <a:r>
              <a:rPr lang="en-IN" dirty="0"/>
              <a:t>Stores security policies. </a:t>
            </a:r>
          </a:p>
          <a:p>
            <a:r>
              <a:rPr lang="en-IN" dirty="0"/>
              <a:t>Provides identity and authentication. </a:t>
            </a:r>
          </a:p>
          <a:p>
            <a:r>
              <a:rPr lang="en-IN" dirty="0"/>
              <a:t>Keeps one organization's identities separate from another organization's identities. </a:t>
            </a:r>
          </a:p>
          <a:p>
            <a:endParaRPr lang="en-IN" dirty="0"/>
          </a:p>
          <a:p>
            <a:r>
              <a:rPr lang="en-IN" b="1" dirty="0"/>
              <a:t>Quick Summary</a:t>
            </a:r>
          </a:p>
          <a:p>
            <a:r>
              <a:rPr lang="en-IN" dirty="0"/>
              <a:t>A </a:t>
            </a:r>
            <a:r>
              <a:rPr lang="en-IN" b="1" dirty="0"/>
              <a:t>Tenant</a:t>
            </a:r>
            <a:r>
              <a:rPr lang="en-IN" dirty="0"/>
              <a:t> is an organization's identity container. </a:t>
            </a:r>
          </a:p>
          <a:p>
            <a:r>
              <a:rPr lang="en-IN" dirty="0"/>
              <a:t>It is created in Microsoft Entra ID. </a:t>
            </a:r>
          </a:p>
          <a:p>
            <a:r>
              <a:rPr lang="en-IN" dirty="0"/>
              <a:t>It stores users, groups, applications, devices, and security policies. </a:t>
            </a:r>
          </a:p>
          <a:p>
            <a:r>
              <a:rPr lang="en-IN" dirty="0"/>
              <a:t>Every Tenant is isolated from other organizations. </a:t>
            </a:r>
          </a:p>
          <a:p>
            <a:r>
              <a:rPr lang="en-IN" dirty="0"/>
              <a:t>One Tenant can contain multiple Azure Subscriptions. </a:t>
            </a:r>
          </a:p>
          <a:p>
            <a:r>
              <a:rPr lang="en-IN" dirty="0"/>
              <a:t>Users can be members of multiple Tenants if needed.</a:t>
            </a:r>
          </a:p>
          <a:p>
            <a:endParaRPr lang="en-IN" dirty="0"/>
          </a:p>
        </p:txBody>
      </p:sp>
      <p:sp>
        <p:nvSpPr>
          <p:cNvPr id="3" name="TextBox 2">
            <a:extLst>
              <a:ext uri="{FF2B5EF4-FFF2-40B4-BE49-F238E27FC236}">
                <a16:creationId xmlns:a16="http://schemas.microsoft.com/office/drawing/2014/main" id="{50F23BF4-5875-C010-846F-9E3ABF5DA13E}"/>
              </a:ext>
            </a:extLst>
          </p:cNvPr>
          <p:cNvSpPr txBox="1"/>
          <p:nvPr/>
        </p:nvSpPr>
        <p:spPr>
          <a:xfrm>
            <a:off x="10916653" y="117693"/>
            <a:ext cx="946484" cy="369332"/>
          </a:xfrm>
          <a:prstGeom prst="rect">
            <a:avLst/>
          </a:prstGeom>
          <a:noFill/>
        </p:spPr>
        <p:txBody>
          <a:bodyPr wrap="square">
            <a:spAutoFit/>
          </a:bodyPr>
          <a:lstStyle/>
          <a:p>
            <a:r>
              <a:rPr lang="en-IN" b="1" dirty="0"/>
              <a:t>Tenant</a:t>
            </a:r>
            <a:endParaRPr lang="en-IN" dirty="0"/>
          </a:p>
        </p:txBody>
      </p:sp>
    </p:spTree>
    <p:extLst>
      <p:ext uri="{BB962C8B-B14F-4D97-AF65-F5344CB8AC3E}">
        <p14:creationId xmlns:p14="http://schemas.microsoft.com/office/powerpoint/2010/main" val="5836826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3B99C0-2700-3096-763F-175B040E646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B8DA5175-8CFA-8374-1B69-17D677CC5137}"/>
              </a:ext>
            </a:extLst>
          </p:cNvPr>
          <p:cNvSpPr txBox="1"/>
          <p:nvPr/>
        </p:nvSpPr>
        <p:spPr>
          <a:xfrm>
            <a:off x="681789" y="117693"/>
            <a:ext cx="11181348" cy="6186309"/>
          </a:xfrm>
          <a:prstGeom prst="rect">
            <a:avLst/>
          </a:prstGeom>
          <a:noFill/>
        </p:spPr>
        <p:txBody>
          <a:bodyPr wrap="square">
            <a:spAutoFit/>
          </a:bodyPr>
          <a:lstStyle/>
          <a:p>
            <a:r>
              <a:rPr lang="en-IN" dirty="0"/>
              <a:t>Now that we understand </a:t>
            </a:r>
            <a:r>
              <a:rPr lang="en-IN" b="1" dirty="0"/>
              <a:t>Microsoft Entra ID Tenant</a:t>
            </a:r>
            <a:r>
              <a:rPr lang="en-IN" dirty="0"/>
              <a:t>, let's move to the next building block.</a:t>
            </a:r>
          </a:p>
          <a:p>
            <a:r>
              <a:rPr lang="en-IN" b="1" dirty="0"/>
              <a:t>Azure Subscription.</a:t>
            </a:r>
            <a:endParaRPr lang="en-IN" dirty="0"/>
          </a:p>
          <a:p>
            <a:r>
              <a:rPr lang="en-IN" dirty="0"/>
              <a:t>Before I explain it...</a:t>
            </a:r>
          </a:p>
          <a:p>
            <a:r>
              <a:rPr lang="en-IN" dirty="0"/>
              <a:t>Let me ask you a question.</a:t>
            </a:r>
          </a:p>
          <a:p>
            <a:r>
              <a:rPr lang="en-IN" b="1" dirty="0"/>
              <a:t>Suppose your company has 500 employees.</a:t>
            </a:r>
            <a:endParaRPr lang="en-IN" dirty="0"/>
          </a:p>
          <a:p>
            <a:r>
              <a:rPr lang="en-IN" dirty="0"/>
              <a:t>Everyone signs in using the same Microsoft Entra ID Tenant.</a:t>
            </a:r>
          </a:p>
          <a:p>
            <a:r>
              <a:rPr lang="en-IN" dirty="0"/>
              <a:t>But...</a:t>
            </a:r>
          </a:p>
          <a:p>
            <a:r>
              <a:rPr lang="en-IN" dirty="0"/>
              <a:t>How does Azure know:</a:t>
            </a:r>
          </a:p>
          <a:p>
            <a:r>
              <a:rPr lang="en-IN" dirty="0"/>
              <a:t>Which team is paying for the resources? </a:t>
            </a:r>
          </a:p>
          <a:p>
            <a:r>
              <a:rPr lang="en-IN" dirty="0"/>
              <a:t>Who can create Virtual Machines? </a:t>
            </a:r>
          </a:p>
          <a:p>
            <a:r>
              <a:rPr lang="en-IN" dirty="0"/>
              <a:t>Which department should receive the monthly bill? </a:t>
            </a:r>
          </a:p>
          <a:p>
            <a:r>
              <a:rPr lang="en-IN" dirty="0"/>
              <a:t>That's exactly why we use an </a:t>
            </a:r>
            <a:r>
              <a:rPr lang="en-IN" b="1" dirty="0"/>
              <a:t>Azure Subscription</a:t>
            </a:r>
            <a:r>
              <a:rPr lang="en-IN" dirty="0"/>
              <a:t>.</a:t>
            </a:r>
          </a:p>
          <a:p>
            <a:r>
              <a:rPr lang="en-IN" dirty="0" err="1"/>
              <a:t>So.</a:t>
            </a:r>
            <a:r>
              <a:rPr lang="en-IN" dirty="0"/>
              <a:t>..</a:t>
            </a:r>
          </a:p>
          <a:p>
            <a:r>
              <a:rPr lang="en-IN" b="1" dirty="0"/>
              <a:t>What is an Azure Subscription?</a:t>
            </a:r>
            <a:endParaRPr lang="en-IN" dirty="0"/>
          </a:p>
          <a:p>
            <a:r>
              <a:rPr lang="en-IN" dirty="0"/>
              <a:t>In simple words...</a:t>
            </a:r>
          </a:p>
          <a:p>
            <a:r>
              <a:rPr lang="en-IN" dirty="0"/>
              <a:t>An </a:t>
            </a:r>
            <a:r>
              <a:rPr lang="en-IN" b="1" dirty="0"/>
              <a:t>Azure Subscription</a:t>
            </a:r>
            <a:r>
              <a:rPr lang="en-IN" dirty="0"/>
              <a:t> is a </a:t>
            </a:r>
            <a:r>
              <a:rPr lang="en-IN" b="1" dirty="0"/>
              <a:t>billing and management boundary</a:t>
            </a:r>
            <a:r>
              <a:rPr lang="en-IN" dirty="0"/>
              <a:t>.</a:t>
            </a:r>
          </a:p>
          <a:p>
            <a:r>
              <a:rPr lang="en-IN" dirty="0"/>
              <a:t>Let's understand those two words.</a:t>
            </a:r>
          </a:p>
          <a:p>
            <a:r>
              <a:rPr lang="en-IN" b="1" dirty="0"/>
              <a:t>Billing boundary</a:t>
            </a:r>
            <a:r>
              <a:rPr lang="en-IN" dirty="0"/>
              <a:t> means...</a:t>
            </a:r>
          </a:p>
          <a:p>
            <a:r>
              <a:rPr lang="en-IN" dirty="0"/>
              <a:t>Azure knows </a:t>
            </a:r>
            <a:r>
              <a:rPr lang="en-IN" b="1" dirty="0"/>
              <a:t>who pays the bill</a:t>
            </a:r>
            <a:r>
              <a:rPr lang="en-IN" dirty="0"/>
              <a:t> for the resources.</a:t>
            </a:r>
          </a:p>
          <a:p>
            <a:r>
              <a:rPr lang="en-IN" b="1" dirty="0"/>
              <a:t>Management boundary</a:t>
            </a:r>
            <a:r>
              <a:rPr lang="en-IN" dirty="0"/>
              <a:t> means...</a:t>
            </a:r>
          </a:p>
          <a:p>
            <a:r>
              <a:rPr lang="en-IN" dirty="0"/>
              <a:t>Azure knows </a:t>
            </a:r>
            <a:r>
              <a:rPr lang="en-IN" b="1" dirty="0"/>
              <a:t>who can create, manage, or delete resources</a:t>
            </a:r>
            <a:r>
              <a:rPr lang="en-IN" dirty="0"/>
              <a:t>.</a:t>
            </a:r>
          </a:p>
          <a:p>
            <a:endParaRPr lang="en-IN" dirty="0"/>
          </a:p>
        </p:txBody>
      </p:sp>
      <p:sp>
        <p:nvSpPr>
          <p:cNvPr id="3" name="TextBox 2">
            <a:extLst>
              <a:ext uri="{FF2B5EF4-FFF2-40B4-BE49-F238E27FC236}">
                <a16:creationId xmlns:a16="http://schemas.microsoft.com/office/drawing/2014/main" id="{E283C01F-4431-9F17-E207-3A5657A4B546}"/>
              </a:ext>
            </a:extLst>
          </p:cNvPr>
          <p:cNvSpPr txBox="1"/>
          <p:nvPr/>
        </p:nvSpPr>
        <p:spPr>
          <a:xfrm>
            <a:off x="10250905" y="0"/>
            <a:ext cx="1820779" cy="369332"/>
          </a:xfrm>
          <a:prstGeom prst="rect">
            <a:avLst/>
          </a:prstGeom>
          <a:noFill/>
        </p:spPr>
        <p:txBody>
          <a:bodyPr wrap="square">
            <a:spAutoFit/>
          </a:bodyPr>
          <a:lstStyle/>
          <a:p>
            <a:r>
              <a:rPr lang="en-IN" b="1" dirty="0"/>
              <a:t>Subscription</a:t>
            </a:r>
            <a:endParaRPr lang="en-IN" dirty="0"/>
          </a:p>
        </p:txBody>
      </p:sp>
    </p:spTree>
    <p:extLst>
      <p:ext uri="{BB962C8B-B14F-4D97-AF65-F5344CB8AC3E}">
        <p14:creationId xmlns:p14="http://schemas.microsoft.com/office/powerpoint/2010/main" val="40802070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C55820-881E-E9A8-BDE0-97E0FC9DC82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DBE2A33-87A3-795C-BC26-AD3112BFF760}"/>
              </a:ext>
            </a:extLst>
          </p:cNvPr>
          <p:cNvSpPr txBox="1"/>
          <p:nvPr/>
        </p:nvSpPr>
        <p:spPr>
          <a:xfrm>
            <a:off x="681789" y="117693"/>
            <a:ext cx="11181348" cy="6740307"/>
          </a:xfrm>
          <a:prstGeom prst="rect">
            <a:avLst/>
          </a:prstGeom>
          <a:noFill/>
        </p:spPr>
        <p:txBody>
          <a:bodyPr wrap="square">
            <a:spAutoFit/>
          </a:bodyPr>
          <a:lstStyle/>
          <a:p>
            <a:r>
              <a:rPr lang="en-IN" dirty="0"/>
              <a:t>Think about it like this.</a:t>
            </a:r>
          </a:p>
          <a:p>
            <a:r>
              <a:rPr lang="en-IN" dirty="0"/>
              <a:t>The </a:t>
            </a:r>
            <a:r>
              <a:rPr lang="en-IN" b="1" dirty="0"/>
              <a:t>Tenant</a:t>
            </a:r>
            <a:r>
              <a:rPr lang="en-IN" dirty="0"/>
              <a:t> stores </a:t>
            </a:r>
            <a:r>
              <a:rPr lang="en-IN" b="1" dirty="0"/>
              <a:t>people</a:t>
            </a:r>
            <a:r>
              <a:rPr lang="en-IN" dirty="0"/>
              <a:t>.</a:t>
            </a:r>
          </a:p>
          <a:p>
            <a:r>
              <a:rPr lang="en-IN" dirty="0"/>
              <a:t>The </a:t>
            </a:r>
            <a:r>
              <a:rPr lang="en-IN" b="1" dirty="0"/>
              <a:t>Subscription</a:t>
            </a:r>
            <a:r>
              <a:rPr lang="en-IN" dirty="0"/>
              <a:t> stores </a:t>
            </a:r>
            <a:r>
              <a:rPr lang="en-IN" b="1" dirty="0"/>
              <a:t>Azure resources</a:t>
            </a:r>
            <a:r>
              <a:rPr lang="en-IN" dirty="0"/>
              <a:t> like:</a:t>
            </a:r>
          </a:p>
          <a:p>
            <a:r>
              <a:rPr lang="en-IN" dirty="0"/>
              <a:t>Virtual Machines </a:t>
            </a:r>
          </a:p>
          <a:p>
            <a:r>
              <a:rPr lang="en-IN" dirty="0"/>
              <a:t>Storage Accounts </a:t>
            </a:r>
          </a:p>
          <a:p>
            <a:r>
              <a:rPr lang="en-IN" dirty="0"/>
              <a:t>Virtual Networks </a:t>
            </a:r>
          </a:p>
          <a:p>
            <a:r>
              <a:rPr lang="en-IN" dirty="0"/>
              <a:t>Databases </a:t>
            </a:r>
          </a:p>
          <a:p>
            <a:r>
              <a:rPr lang="en-IN" dirty="0"/>
              <a:t>App Services </a:t>
            </a:r>
          </a:p>
          <a:p>
            <a:r>
              <a:rPr lang="en-IN" dirty="0"/>
              <a:t>Key Vaults </a:t>
            </a:r>
          </a:p>
          <a:p>
            <a:r>
              <a:rPr lang="en-IN" dirty="0"/>
              <a:t>So remember this simple sentence:</a:t>
            </a:r>
          </a:p>
          <a:p>
            <a:r>
              <a:rPr lang="en-IN" b="1" dirty="0"/>
              <a:t>Tenant manages identities.</a:t>
            </a:r>
            <a:endParaRPr lang="en-IN" dirty="0"/>
          </a:p>
          <a:p>
            <a:r>
              <a:rPr lang="en-IN" b="1" dirty="0"/>
              <a:t>Subscription manages Azure resources.</a:t>
            </a:r>
            <a:endParaRPr lang="en-IN" dirty="0"/>
          </a:p>
          <a:p>
            <a:br>
              <a:rPr lang="en-IN" dirty="0"/>
            </a:br>
            <a:r>
              <a:rPr lang="en-IN" dirty="0"/>
              <a:t>Let's take an example.</a:t>
            </a:r>
          </a:p>
          <a:p>
            <a:r>
              <a:rPr lang="en-IN" dirty="0"/>
              <a:t>Suppose your company has three departments.</a:t>
            </a:r>
          </a:p>
          <a:p>
            <a:r>
              <a:rPr lang="en-IN" dirty="0"/>
              <a:t>Development , Testing, Production </a:t>
            </a:r>
          </a:p>
          <a:p>
            <a:r>
              <a:rPr lang="en-IN" dirty="0"/>
              <a:t>Instead of putting everything into one Subscription...</a:t>
            </a:r>
          </a:p>
          <a:p>
            <a:r>
              <a:rPr lang="en-IN" dirty="0"/>
              <a:t>The company creates:</a:t>
            </a:r>
          </a:p>
          <a:p>
            <a:r>
              <a:rPr lang="en-IN" dirty="0"/>
              <a:t>Development Subscription, Testing Subscription and Production Subscription </a:t>
            </a:r>
          </a:p>
          <a:p>
            <a:r>
              <a:rPr lang="en-IN" dirty="0"/>
              <a:t>Now every department has its own resources.</a:t>
            </a:r>
          </a:p>
          <a:p>
            <a:r>
              <a:rPr lang="en-IN" dirty="0"/>
              <a:t>Its own budget.</a:t>
            </a:r>
          </a:p>
          <a:p>
            <a:r>
              <a:rPr lang="en-IN" dirty="0"/>
              <a:t>Its own permissions.</a:t>
            </a:r>
          </a:p>
          <a:p>
            <a:r>
              <a:rPr lang="en-IN" dirty="0"/>
              <a:t>Its own billing.</a:t>
            </a:r>
          </a:p>
          <a:p>
            <a:r>
              <a:rPr lang="en-IN" dirty="0"/>
              <a:t>This makes management much easier.</a:t>
            </a:r>
          </a:p>
        </p:txBody>
      </p:sp>
      <p:sp>
        <p:nvSpPr>
          <p:cNvPr id="3" name="TextBox 2">
            <a:extLst>
              <a:ext uri="{FF2B5EF4-FFF2-40B4-BE49-F238E27FC236}">
                <a16:creationId xmlns:a16="http://schemas.microsoft.com/office/drawing/2014/main" id="{29B6D79F-5EFE-D781-E9B0-7D3C7BC93EB2}"/>
              </a:ext>
            </a:extLst>
          </p:cNvPr>
          <p:cNvSpPr txBox="1"/>
          <p:nvPr/>
        </p:nvSpPr>
        <p:spPr>
          <a:xfrm>
            <a:off x="10250905" y="0"/>
            <a:ext cx="1820779" cy="369332"/>
          </a:xfrm>
          <a:prstGeom prst="rect">
            <a:avLst/>
          </a:prstGeom>
          <a:noFill/>
        </p:spPr>
        <p:txBody>
          <a:bodyPr wrap="square">
            <a:spAutoFit/>
          </a:bodyPr>
          <a:lstStyle/>
          <a:p>
            <a:r>
              <a:rPr lang="en-IN" b="1" dirty="0"/>
              <a:t>Subscription</a:t>
            </a:r>
            <a:endParaRPr lang="en-IN" dirty="0"/>
          </a:p>
        </p:txBody>
      </p:sp>
    </p:spTree>
    <p:extLst>
      <p:ext uri="{BB962C8B-B14F-4D97-AF65-F5344CB8AC3E}">
        <p14:creationId xmlns:p14="http://schemas.microsoft.com/office/powerpoint/2010/main" val="24910253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0E056A-F355-9F3D-0B78-DC145C45737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9B39535-666F-566C-3EBF-C32FC27CA882}"/>
              </a:ext>
            </a:extLst>
          </p:cNvPr>
          <p:cNvSpPr txBox="1"/>
          <p:nvPr/>
        </p:nvSpPr>
        <p:spPr>
          <a:xfrm>
            <a:off x="681789" y="117693"/>
            <a:ext cx="11181348" cy="6740307"/>
          </a:xfrm>
          <a:prstGeom prst="rect">
            <a:avLst/>
          </a:prstGeom>
          <a:noFill/>
        </p:spPr>
        <p:txBody>
          <a:bodyPr wrap="square">
            <a:spAutoFit/>
          </a:bodyPr>
          <a:lstStyle/>
          <a:p>
            <a:r>
              <a:rPr lang="en-IN" dirty="0"/>
              <a:t>Now here's an important point.</a:t>
            </a:r>
          </a:p>
          <a:p>
            <a:r>
              <a:rPr lang="en-IN" b="1" dirty="0"/>
              <a:t>Every Azure resource belongs to exactly one Subscription.</a:t>
            </a:r>
            <a:endParaRPr lang="en-IN" dirty="0"/>
          </a:p>
          <a:p>
            <a:r>
              <a:rPr lang="en-IN" dirty="0"/>
              <a:t>For example...</a:t>
            </a:r>
          </a:p>
          <a:p>
            <a:r>
              <a:rPr lang="en-IN" dirty="0"/>
              <a:t>When you create a Virtual Machine... Azure first asks:</a:t>
            </a:r>
          </a:p>
          <a:p>
            <a:r>
              <a:rPr lang="en-IN" b="1" dirty="0"/>
              <a:t>Which Subscription do you want to use?</a:t>
            </a:r>
            <a:endParaRPr lang="en-IN" dirty="0"/>
          </a:p>
          <a:p>
            <a:r>
              <a:rPr lang="en-IN" dirty="0"/>
              <a:t>Without selecting a Subscription...You cannot create Azure resources.</a:t>
            </a:r>
          </a:p>
          <a:p>
            <a:br>
              <a:rPr lang="en-IN" dirty="0"/>
            </a:br>
            <a:r>
              <a:rPr lang="en-IN" dirty="0"/>
              <a:t>Now let's talk about billing.</a:t>
            </a:r>
          </a:p>
          <a:p>
            <a:r>
              <a:rPr lang="en-IN" dirty="0"/>
              <a:t>Imagine the Development team creates:</a:t>
            </a:r>
          </a:p>
          <a:p>
            <a:r>
              <a:rPr lang="en-IN" dirty="0"/>
              <a:t>20 Virtual Machines </a:t>
            </a:r>
          </a:p>
          <a:p>
            <a:r>
              <a:rPr lang="en-IN" dirty="0"/>
              <a:t>5 Storage Accounts </a:t>
            </a:r>
          </a:p>
          <a:p>
            <a:r>
              <a:rPr lang="en-IN" dirty="0"/>
              <a:t>2 SQL Databases </a:t>
            </a:r>
          </a:p>
          <a:p>
            <a:r>
              <a:rPr lang="en-IN" dirty="0"/>
              <a:t>At the end of the month...</a:t>
            </a:r>
          </a:p>
          <a:p>
            <a:r>
              <a:rPr lang="en-IN" dirty="0"/>
              <a:t>Azure calculates the cost.</a:t>
            </a:r>
          </a:p>
          <a:p>
            <a:r>
              <a:rPr lang="en-IN" dirty="0"/>
              <a:t>The bill is generated for that Subscription.</a:t>
            </a:r>
          </a:p>
          <a:p>
            <a:r>
              <a:rPr lang="en-IN" dirty="0"/>
              <a:t>If the Production team has a different Subscription...Their bill is completely separate.</a:t>
            </a:r>
          </a:p>
          <a:p>
            <a:endParaRPr lang="en-IN" dirty="0"/>
          </a:p>
          <a:p>
            <a:r>
              <a:rPr lang="en-IN" dirty="0"/>
              <a:t>Another advantage is </a:t>
            </a:r>
            <a:r>
              <a:rPr lang="en-IN" b="1" dirty="0"/>
              <a:t>access control</a:t>
            </a:r>
            <a:r>
              <a:rPr lang="en-IN" dirty="0"/>
              <a:t>.</a:t>
            </a:r>
          </a:p>
          <a:p>
            <a:r>
              <a:rPr lang="en-IN" dirty="0"/>
              <a:t>Suppose Alice works in the Development team.</a:t>
            </a:r>
          </a:p>
          <a:p>
            <a:r>
              <a:rPr lang="en-IN" dirty="0"/>
              <a:t>Bob works in Production.</a:t>
            </a:r>
          </a:p>
          <a:p>
            <a:r>
              <a:rPr lang="en-IN" dirty="0"/>
              <a:t>You may give:</a:t>
            </a:r>
          </a:p>
          <a:p>
            <a:r>
              <a:rPr lang="en-IN" dirty="0"/>
              <a:t>Alice access only to the Development Subscription. </a:t>
            </a:r>
          </a:p>
          <a:p>
            <a:r>
              <a:rPr lang="en-IN" dirty="0"/>
              <a:t>Bob access only to the Production Subscription. </a:t>
            </a:r>
          </a:p>
          <a:p>
            <a:r>
              <a:rPr lang="en-IN" dirty="0"/>
              <a:t>This prevents users from accidentally modifying resources they shouldn't manage.</a:t>
            </a:r>
          </a:p>
        </p:txBody>
      </p:sp>
      <p:sp>
        <p:nvSpPr>
          <p:cNvPr id="3" name="TextBox 2">
            <a:extLst>
              <a:ext uri="{FF2B5EF4-FFF2-40B4-BE49-F238E27FC236}">
                <a16:creationId xmlns:a16="http://schemas.microsoft.com/office/drawing/2014/main" id="{F131CCE8-FD41-9C84-BD93-9FC0CCD49A69}"/>
              </a:ext>
            </a:extLst>
          </p:cNvPr>
          <p:cNvSpPr txBox="1"/>
          <p:nvPr/>
        </p:nvSpPr>
        <p:spPr>
          <a:xfrm>
            <a:off x="10250905" y="0"/>
            <a:ext cx="1820779" cy="369332"/>
          </a:xfrm>
          <a:prstGeom prst="rect">
            <a:avLst/>
          </a:prstGeom>
          <a:noFill/>
        </p:spPr>
        <p:txBody>
          <a:bodyPr wrap="square">
            <a:spAutoFit/>
          </a:bodyPr>
          <a:lstStyle/>
          <a:p>
            <a:r>
              <a:rPr lang="en-IN" b="1" dirty="0"/>
              <a:t>Subscription</a:t>
            </a:r>
            <a:endParaRPr lang="en-IN" dirty="0"/>
          </a:p>
        </p:txBody>
      </p:sp>
    </p:spTree>
    <p:extLst>
      <p:ext uri="{BB962C8B-B14F-4D97-AF65-F5344CB8AC3E}">
        <p14:creationId xmlns:p14="http://schemas.microsoft.com/office/powerpoint/2010/main" val="16033472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1B0EE5-936A-BA1E-FF7C-3220C7ED2EC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C300274-9EAD-23C0-1B6C-92D181880D30}"/>
              </a:ext>
            </a:extLst>
          </p:cNvPr>
          <p:cNvSpPr txBox="1"/>
          <p:nvPr/>
        </p:nvSpPr>
        <p:spPr>
          <a:xfrm>
            <a:off x="681789" y="117693"/>
            <a:ext cx="11181348" cy="5078313"/>
          </a:xfrm>
          <a:prstGeom prst="rect">
            <a:avLst/>
          </a:prstGeom>
          <a:noFill/>
        </p:spPr>
        <p:txBody>
          <a:bodyPr wrap="square">
            <a:spAutoFit/>
          </a:bodyPr>
          <a:lstStyle/>
          <a:p>
            <a:r>
              <a:rPr lang="en-IN" dirty="0"/>
              <a:t>Now here's another important concept.</a:t>
            </a:r>
          </a:p>
          <a:p>
            <a:r>
              <a:rPr lang="en-IN" b="1" dirty="0"/>
              <a:t>One Tenant can have multiple Subscriptions.</a:t>
            </a:r>
            <a:endParaRPr lang="en-IN" dirty="0"/>
          </a:p>
          <a:p>
            <a:r>
              <a:rPr lang="en-IN" dirty="0"/>
              <a:t>For example:</a:t>
            </a:r>
          </a:p>
          <a:p>
            <a:r>
              <a:rPr lang="en-IN" dirty="0"/>
              <a:t>One Tenant</a:t>
            </a:r>
          </a:p>
          <a:p>
            <a:r>
              <a:rPr lang="en-IN" dirty="0"/>
              <a:t>↓</a:t>
            </a:r>
          </a:p>
          <a:p>
            <a:r>
              <a:rPr lang="en-IN" dirty="0"/>
              <a:t>Development Subscription</a:t>
            </a:r>
          </a:p>
          <a:p>
            <a:r>
              <a:rPr lang="en-IN" dirty="0"/>
              <a:t>Testing Subscription</a:t>
            </a:r>
          </a:p>
          <a:p>
            <a:r>
              <a:rPr lang="en-IN" dirty="0"/>
              <a:t>Production Subscription</a:t>
            </a:r>
          </a:p>
          <a:p>
            <a:r>
              <a:rPr lang="en-IN" dirty="0"/>
              <a:t>Sandbox Subscription</a:t>
            </a:r>
          </a:p>
          <a:p>
            <a:r>
              <a:rPr lang="en-IN" dirty="0"/>
              <a:t>Training Subscription</a:t>
            </a:r>
          </a:p>
          <a:p>
            <a:r>
              <a:rPr lang="en-IN" dirty="0"/>
              <a:t>All these Subscriptions belong to the same organization.</a:t>
            </a:r>
          </a:p>
          <a:p>
            <a:r>
              <a:rPr lang="en-IN" dirty="0"/>
              <a:t>All users are still managed by the same Tenant.</a:t>
            </a:r>
          </a:p>
          <a:p>
            <a:br>
              <a:rPr lang="en-IN" dirty="0"/>
            </a:br>
            <a:endParaRPr lang="en-IN" dirty="0"/>
          </a:p>
          <a:p>
            <a:r>
              <a:rPr lang="en-IN" dirty="0"/>
              <a:t>Can one Subscription belong to multiple Tenants?</a:t>
            </a:r>
          </a:p>
          <a:p>
            <a:r>
              <a:rPr lang="en-IN" dirty="0"/>
              <a:t>No.</a:t>
            </a:r>
          </a:p>
          <a:p>
            <a:r>
              <a:rPr lang="en-IN" dirty="0"/>
              <a:t>A Subscription belongs to </a:t>
            </a:r>
            <a:r>
              <a:rPr lang="en-IN" b="1" dirty="0"/>
              <a:t>only one Tenant at a time</a:t>
            </a:r>
            <a:r>
              <a:rPr lang="en-IN" dirty="0"/>
              <a:t>.</a:t>
            </a:r>
          </a:p>
          <a:p>
            <a:r>
              <a:rPr lang="en-IN" dirty="0"/>
              <a:t>However, it can later be transferred to another Tenant if needed.</a:t>
            </a:r>
          </a:p>
        </p:txBody>
      </p:sp>
      <p:sp>
        <p:nvSpPr>
          <p:cNvPr id="3" name="TextBox 2">
            <a:extLst>
              <a:ext uri="{FF2B5EF4-FFF2-40B4-BE49-F238E27FC236}">
                <a16:creationId xmlns:a16="http://schemas.microsoft.com/office/drawing/2014/main" id="{9EAB30B6-D580-C04B-B909-A56CE829E3CB}"/>
              </a:ext>
            </a:extLst>
          </p:cNvPr>
          <p:cNvSpPr txBox="1"/>
          <p:nvPr/>
        </p:nvSpPr>
        <p:spPr>
          <a:xfrm>
            <a:off x="10250905" y="0"/>
            <a:ext cx="1820779" cy="369332"/>
          </a:xfrm>
          <a:prstGeom prst="rect">
            <a:avLst/>
          </a:prstGeom>
          <a:noFill/>
        </p:spPr>
        <p:txBody>
          <a:bodyPr wrap="square">
            <a:spAutoFit/>
          </a:bodyPr>
          <a:lstStyle/>
          <a:p>
            <a:r>
              <a:rPr lang="en-IN" b="1" dirty="0"/>
              <a:t>Subscription</a:t>
            </a:r>
            <a:endParaRPr lang="en-IN" dirty="0"/>
          </a:p>
        </p:txBody>
      </p:sp>
    </p:spTree>
    <p:extLst>
      <p:ext uri="{BB962C8B-B14F-4D97-AF65-F5344CB8AC3E}">
        <p14:creationId xmlns:p14="http://schemas.microsoft.com/office/powerpoint/2010/main" val="25083029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D2F052-281C-8A6F-DDA6-2C11808DBA8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B763162-AA51-E21B-2B1C-9845414874A5}"/>
              </a:ext>
            </a:extLst>
          </p:cNvPr>
          <p:cNvSpPr txBox="1"/>
          <p:nvPr/>
        </p:nvSpPr>
        <p:spPr>
          <a:xfrm>
            <a:off x="681789" y="117693"/>
            <a:ext cx="11181348" cy="6740307"/>
          </a:xfrm>
          <a:prstGeom prst="rect">
            <a:avLst/>
          </a:prstGeom>
          <a:noFill/>
        </p:spPr>
        <p:txBody>
          <a:bodyPr wrap="square">
            <a:spAutoFit/>
          </a:bodyPr>
          <a:lstStyle/>
          <a:p>
            <a:r>
              <a:rPr lang="en-IN" dirty="0"/>
              <a:t>Now let's see what a Subscription contains.</a:t>
            </a:r>
          </a:p>
          <a:p>
            <a:r>
              <a:rPr lang="en-IN" dirty="0"/>
              <a:t>Inside a Subscription, you create:</a:t>
            </a:r>
          </a:p>
          <a:p>
            <a:r>
              <a:rPr lang="en-IN" dirty="0"/>
              <a:t>Resource Groups , Virtual Machines, Storage Accounts, Virtual Networks, Databases, App Services </a:t>
            </a:r>
          </a:p>
          <a:p>
            <a:r>
              <a:rPr lang="en-IN" dirty="0"/>
              <a:t>Key Vaults </a:t>
            </a:r>
          </a:p>
          <a:p>
            <a:r>
              <a:rPr lang="en-IN" dirty="0"/>
              <a:t>Load Balancers </a:t>
            </a:r>
          </a:p>
          <a:p>
            <a:r>
              <a:rPr lang="en-IN" dirty="0"/>
              <a:t>Azure Functions </a:t>
            </a:r>
          </a:p>
          <a:p>
            <a:r>
              <a:rPr lang="en-IN" dirty="0"/>
              <a:t>Everything you build in Azure starts inside a Subscription.</a:t>
            </a:r>
          </a:p>
          <a:p>
            <a:br>
              <a:rPr lang="en-IN" dirty="0"/>
            </a:br>
            <a:endParaRPr lang="en-IN" dirty="0"/>
          </a:p>
          <a:p>
            <a:r>
              <a:rPr lang="en-IN" dirty="0"/>
              <a:t>Let's understand the hierarchy.</a:t>
            </a:r>
          </a:p>
          <a:p>
            <a:r>
              <a:rPr lang="en-IN" dirty="0"/>
              <a:t>The order is:</a:t>
            </a:r>
          </a:p>
          <a:p>
            <a:r>
              <a:rPr lang="en-IN" b="1" dirty="0"/>
              <a:t>Microsoft Entra ID Tenant </a:t>
            </a:r>
            <a:r>
              <a:rPr lang="en-IN" dirty="0"/>
              <a:t>↓ </a:t>
            </a:r>
            <a:r>
              <a:rPr lang="en-IN" b="1" dirty="0"/>
              <a:t>Azure Subscription </a:t>
            </a:r>
            <a:r>
              <a:rPr lang="en-IN" dirty="0"/>
              <a:t>↓ </a:t>
            </a:r>
            <a:r>
              <a:rPr lang="en-IN" b="1" dirty="0"/>
              <a:t>Resource Group </a:t>
            </a:r>
            <a:r>
              <a:rPr lang="en-IN" dirty="0"/>
              <a:t>↓ </a:t>
            </a:r>
            <a:r>
              <a:rPr lang="en-IN" b="1" dirty="0"/>
              <a:t>Resources</a:t>
            </a:r>
            <a:endParaRPr lang="en-IN" dirty="0"/>
          </a:p>
          <a:p>
            <a:r>
              <a:rPr lang="en-IN" dirty="0"/>
              <a:t>For example:</a:t>
            </a:r>
          </a:p>
          <a:p>
            <a:r>
              <a:rPr lang="en-IN" dirty="0"/>
              <a:t>Tenant</a:t>
            </a:r>
          </a:p>
          <a:p>
            <a:r>
              <a:rPr lang="en-IN" dirty="0"/>
              <a:t>↓</a:t>
            </a:r>
          </a:p>
          <a:p>
            <a:r>
              <a:rPr lang="en-IN" dirty="0"/>
              <a:t>Production Subscription</a:t>
            </a:r>
          </a:p>
          <a:p>
            <a:r>
              <a:rPr lang="en-IN" dirty="0"/>
              <a:t>↓</a:t>
            </a:r>
          </a:p>
          <a:p>
            <a:r>
              <a:rPr lang="en-IN" dirty="0"/>
              <a:t>WebApp Resource Group</a:t>
            </a:r>
          </a:p>
          <a:p>
            <a:r>
              <a:rPr lang="en-IN" dirty="0"/>
              <a:t>↓</a:t>
            </a:r>
          </a:p>
          <a:p>
            <a:r>
              <a:rPr lang="en-IN" dirty="0"/>
              <a:t>Virtual Machine </a:t>
            </a:r>
          </a:p>
          <a:p>
            <a:r>
              <a:rPr lang="en-IN" dirty="0"/>
              <a:t>Storage Account </a:t>
            </a:r>
          </a:p>
          <a:p>
            <a:r>
              <a:rPr lang="en-IN" dirty="0"/>
              <a:t>SQL Database </a:t>
            </a:r>
          </a:p>
          <a:p>
            <a:r>
              <a:rPr lang="en-IN" dirty="0"/>
              <a:t>Virtual Network </a:t>
            </a:r>
          </a:p>
          <a:p>
            <a:r>
              <a:rPr lang="en-IN" dirty="0"/>
              <a:t>This is the basic Azure hierarchy.</a:t>
            </a:r>
          </a:p>
        </p:txBody>
      </p:sp>
      <p:sp>
        <p:nvSpPr>
          <p:cNvPr id="3" name="TextBox 2">
            <a:extLst>
              <a:ext uri="{FF2B5EF4-FFF2-40B4-BE49-F238E27FC236}">
                <a16:creationId xmlns:a16="http://schemas.microsoft.com/office/drawing/2014/main" id="{B654EB2B-10C6-FC2B-6553-392878918888}"/>
              </a:ext>
            </a:extLst>
          </p:cNvPr>
          <p:cNvSpPr txBox="1"/>
          <p:nvPr/>
        </p:nvSpPr>
        <p:spPr>
          <a:xfrm>
            <a:off x="10250905" y="0"/>
            <a:ext cx="1820779" cy="369332"/>
          </a:xfrm>
          <a:prstGeom prst="rect">
            <a:avLst/>
          </a:prstGeom>
          <a:noFill/>
        </p:spPr>
        <p:txBody>
          <a:bodyPr wrap="square">
            <a:spAutoFit/>
          </a:bodyPr>
          <a:lstStyle/>
          <a:p>
            <a:r>
              <a:rPr lang="en-IN" b="1" dirty="0"/>
              <a:t>Subscription</a:t>
            </a:r>
            <a:endParaRPr lang="en-IN" dirty="0"/>
          </a:p>
        </p:txBody>
      </p:sp>
    </p:spTree>
    <p:extLst>
      <p:ext uri="{BB962C8B-B14F-4D97-AF65-F5344CB8AC3E}">
        <p14:creationId xmlns:p14="http://schemas.microsoft.com/office/powerpoint/2010/main" val="15316867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6B3B64-01CE-F9BF-B49F-843B1C9857C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4110E84-537F-6F01-EA52-D8708A689129}"/>
              </a:ext>
            </a:extLst>
          </p:cNvPr>
          <p:cNvSpPr txBox="1"/>
          <p:nvPr/>
        </p:nvSpPr>
        <p:spPr>
          <a:xfrm>
            <a:off x="681789" y="117693"/>
            <a:ext cx="11181348" cy="6740307"/>
          </a:xfrm>
          <a:prstGeom prst="rect">
            <a:avLst/>
          </a:prstGeom>
          <a:noFill/>
        </p:spPr>
        <p:txBody>
          <a:bodyPr wrap="square">
            <a:spAutoFit/>
          </a:bodyPr>
          <a:lstStyle/>
          <a:p>
            <a:r>
              <a:rPr lang="en-IN" dirty="0"/>
              <a:t>Let's look at a practical example.</a:t>
            </a:r>
          </a:p>
          <a:p>
            <a:r>
              <a:rPr lang="en-IN" dirty="0"/>
              <a:t>Imagine you're an Azure consultant.</a:t>
            </a:r>
          </a:p>
          <a:p>
            <a:r>
              <a:rPr lang="en-IN" dirty="0"/>
              <a:t>A customer wants to separate environments.</a:t>
            </a:r>
          </a:p>
          <a:p>
            <a:r>
              <a:rPr lang="en-IN" dirty="0"/>
              <a:t>You create:</a:t>
            </a:r>
          </a:p>
          <a:p>
            <a:r>
              <a:rPr lang="en-IN" dirty="0"/>
              <a:t>Production Subscription </a:t>
            </a:r>
          </a:p>
          <a:p>
            <a:r>
              <a:rPr lang="en-IN" dirty="0"/>
              <a:t>Development Subscription </a:t>
            </a:r>
          </a:p>
          <a:p>
            <a:r>
              <a:rPr lang="en-IN" dirty="0"/>
              <a:t>Disaster Recovery Subscription </a:t>
            </a:r>
          </a:p>
          <a:p>
            <a:r>
              <a:rPr lang="en-IN" dirty="0"/>
              <a:t>Each Subscription has:</a:t>
            </a:r>
          </a:p>
          <a:p>
            <a:r>
              <a:rPr lang="en-IN" dirty="0"/>
              <a:t>Separate billing </a:t>
            </a:r>
          </a:p>
          <a:p>
            <a:r>
              <a:rPr lang="en-IN" dirty="0"/>
              <a:t>Separate budgets </a:t>
            </a:r>
          </a:p>
          <a:p>
            <a:r>
              <a:rPr lang="en-IN" dirty="0"/>
              <a:t>Separate permissions </a:t>
            </a:r>
          </a:p>
          <a:p>
            <a:r>
              <a:rPr lang="en-IN" dirty="0"/>
              <a:t>Separate resources </a:t>
            </a:r>
          </a:p>
          <a:p>
            <a:r>
              <a:rPr lang="en-IN" dirty="0"/>
              <a:t>If the Development team accidentally deletes a VM...</a:t>
            </a:r>
          </a:p>
          <a:p>
            <a:r>
              <a:rPr lang="en-IN" dirty="0"/>
              <a:t>The Production environment is unaffected because it's in a different Subscription.</a:t>
            </a:r>
          </a:p>
          <a:p>
            <a:br>
              <a:rPr lang="en-IN" dirty="0"/>
            </a:br>
            <a:r>
              <a:rPr lang="en-IN" b="1" dirty="0"/>
              <a:t>Let's quickly summarize.</a:t>
            </a:r>
          </a:p>
          <a:p>
            <a:r>
              <a:rPr lang="en-IN" dirty="0"/>
              <a:t>An Azure Subscription:</a:t>
            </a:r>
          </a:p>
          <a:p>
            <a:r>
              <a:rPr lang="en-IN" dirty="0"/>
              <a:t>Is a billing boundary. </a:t>
            </a:r>
          </a:p>
          <a:p>
            <a:r>
              <a:rPr lang="en-IN" dirty="0"/>
              <a:t>Is a management boundary. </a:t>
            </a:r>
          </a:p>
          <a:p>
            <a:r>
              <a:rPr lang="en-IN" dirty="0"/>
              <a:t>Contains Azure resources. </a:t>
            </a:r>
          </a:p>
          <a:p>
            <a:r>
              <a:rPr lang="en-IN" dirty="0"/>
              <a:t>Belongs to one Tenant. </a:t>
            </a:r>
          </a:p>
          <a:p>
            <a:r>
              <a:rPr lang="en-IN" dirty="0"/>
              <a:t>Can contain many Resource Groups. </a:t>
            </a:r>
          </a:p>
          <a:p>
            <a:r>
              <a:rPr lang="en-IN" dirty="0"/>
              <a:t>Helps separate departments, projects, or environments. </a:t>
            </a:r>
          </a:p>
          <a:p>
            <a:r>
              <a:rPr lang="en-IN" dirty="0"/>
              <a:t>Supports independent access control and budgeting.</a:t>
            </a:r>
          </a:p>
        </p:txBody>
      </p:sp>
      <p:sp>
        <p:nvSpPr>
          <p:cNvPr id="3" name="TextBox 2">
            <a:extLst>
              <a:ext uri="{FF2B5EF4-FFF2-40B4-BE49-F238E27FC236}">
                <a16:creationId xmlns:a16="http://schemas.microsoft.com/office/drawing/2014/main" id="{66E22F1E-9F06-1809-7088-5F03FA22AEC6}"/>
              </a:ext>
            </a:extLst>
          </p:cNvPr>
          <p:cNvSpPr txBox="1"/>
          <p:nvPr/>
        </p:nvSpPr>
        <p:spPr>
          <a:xfrm>
            <a:off x="10250905" y="0"/>
            <a:ext cx="1820779" cy="369332"/>
          </a:xfrm>
          <a:prstGeom prst="rect">
            <a:avLst/>
          </a:prstGeom>
          <a:noFill/>
        </p:spPr>
        <p:txBody>
          <a:bodyPr wrap="square">
            <a:spAutoFit/>
          </a:bodyPr>
          <a:lstStyle/>
          <a:p>
            <a:r>
              <a:rPr lang="en-IN" b="1" dirty="0"/>
              <a:t>Subscription</a:t>
            </a:r>
            <a:endParaRPr lang="en-IN" dirty="0"/>
          </a:p>
        </p:txBody>
      </p:sp>
    </p:spTree>
    <p:extLst>
      <p:ext uri="{BB962C8B-B14F-4D97-AF65-F5344CB8AC3E}">
        <p14:creationId xmlns:p14="http://schemas.microsoft.com/office/powerpoint/2010/main" val="40445272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8EE770-013B-B0C6-54BE-9E527BDCF73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2834790-7126-FA27-8070-900216C6374E}"/>
              </a:ext>
            </a:extLst>
          </p:cNvPr>
          <p:cNvSpPr txBox="1"/>
          <p:nvPr/>
        </p:nvSpPr>
        <p:spPr>
          <a:xfrm>
            <a:off x="681789" y="117693"/>
            <a:ext cx="11181348" cy="6463308"/>
          </a:xfrm>
          <a:prstGeom prst="rect">
            <a:avLst/>
          </a:prstGeom>
          <a:noFill/>
        </p:spPr>
        <p:txBody>
          <a:bodyPr wrap="square">
            <a:spAutoFit/>
          </a:bodyPr>
          <a:lstStyle/>
          <a:p>
            <a:r>
              <a:rPr lang="en-IN" dirty="0"/>
              <a:t>Now we've learned about:</a:t>
            </a:r>
          </a:p>
          <a:p>
            <a:r>
              <a:rPr lang="en-IN" dirty="0"/>
              <a:t>Microsoft Entra ID Tenant </a:t>
            </a:r>
          </a:p>
          <a:p>
            <a:r>
              <a:rPr lang="en-IN" dirty="0"/>
              <a:t>Azure Subscription </a:t>
            </a:r>
          </a:p>
          <a:p>
            <a:r>
              <a:rPr lang="en-IN" dirty="0"/>
              <a:t>Let's go one step higher.</a:t>
            </a:r>
          </a:p>
          <a:p>
            <a:r>
              <a:rPr lang="en-IN" b="1" dirty="0"/>
              <a:t>Management Groups.</a:t>
            </a:r>
            <a:endParaRPr lang="en-IN" dirty="0"/>
          </a:p>
          <a:p>
            <a:r>
              <a:rPr lang="en-IN" dirty="0"/>
              <a:t>Before I explain it...</a:t>
            </a:r>
          </a:p>
          <a:p>
            <a:r>
              <a:rPr lang="en-IN" dirty="0"/>
              <a:t>Let me ask you a question.</a:t>
            </a:r>
          </a:p>
          <a:p>
            <a:r>
              <a:rPr lang="en-IN" dirty="0"/>
              <a:t>Imagine your company has:</a:t>
            </a:r>
          </a:p>
          <a:p>
            <a:r>
              <a:rPr lang="en-IN" dirty="0"/>
              <a:t>10 Azure Subscriptions... </a:t>
            </a:r>
          </a:p>
          <a:p>
            <a:r>
              <a:rPr lang="en-IN" dirty="0"/>
              <a:t>Or maybe 100... </a:t>
            </a:r>
          </a:p>
          <a:p>
            <a:r>
              <a:rPr lang="en-IN" dirty="0"/>
              <a:t>Or even 500 Subscriptions. </a:t>
            </a:r>
          </a:p>
          <a:p>
            <a:r>
              <a:rPr lang="en-IN" dirty="0"/>
              <a:t>Now imagine you want to give the Security Team </a:t>
            </a:r>
            <a:r>
              <a:rPr lang="en-IN" b="1" dirty="0"/>
              <a:t>Reader access to every Subscription</a:t>
            </a:r>
            <a:r>
              <a:rPr lang="en-IN" dirty="0"/>
              <a:t>.</a:t>
            </a:r>
          </a:p>
          <a:p>
            <a:r>
              <a:rPr lang="en-IN" dirty="0"/>
              <a:t>Would you assign permissions </a:t>
            </a:r>
            <a:r>
              <a:rPr lang="en-IN" b="1" dirty="0"/>
              <a:t>500 times</a:t>
            </a:r>
            <a:r>
              <a:rPr lang="en-IN" dirty="0"/>
              <a:t>?</a:t>
            </a:r>
          </a:p>
          <a:p>
            <a:r>
              <a:rPr lang="en-IN" dirty="0"/>
              <a:t>Probably not.</a:t>
            </a:r>
          </a:p>
          <a:p>
            <a:r>
              <a:rPr lang="en-IN" dirty="0"/>
              <a:t>There has to be an easier way.</a:t>
            </a:r>
          </a:p>
          <a:p>
            <a:r>
              <a:rPr lang="en-IN" dirty="0"/>
              <a:t>That's exactly why Azure provides </a:t>
            </a:r>
            <a:r>
              <a:rPr lang="en-IN" b="1" dirty="0"/>
              <a:t>Management Groups</a:t>
            </a:r>
            <a:r>
              <a:rPr lang="en-IN" dirty="0"/>
              <a:t>.</a:t>
            </a:r>
          </a:p>
          <a:p>
            <a:r>
              <a:rPr lang="en-IN" b="1" dirty="0"/>
              <a:t>What is a Management Group?</a:t>
            </a:r>
          </a:p>
          <a:p>
            <a:r>
              <a:rPr lang="en-IN" dirty="0"/>
              <a:t>In simple words...</a:t>
            </a:r>
          </a:p>
          <a:p>
            <a:r>
              <a:rPr lang="en-IN" dirty="0"/>
              <a:t>A </a:t>
            </a:r>
            <a:r>
              <a:rPr lang="en-IN" b="1" dirty="0"/>
              <a:t>Management Group</a:t>
            </a:r>
            <a:r>
              <a:rPr lang="en-IN" dirty="0"/>
              <a:t> is a </a:t>
            </a:r>
            <a:r>
              <a:rPr lang="en-IN" b="1" dirty="0"/>
              <a:t>container used to organize multiple Azure Subscriptions</a:t>
            </a:r>
            <a:r>
              <a:rPr lang="en-IN" dirty="0"/>
              <a:t>.</a:t>
            </a:r>
          </a:p>
          <a:p>
            <a:r>
              <a:rPr lang="en-IN" dirty="0"/>
              <a:t>Notice something important.</a:t>
            </a:r>
          </a:p>
          <a:p>
            <a:r>
              <a:rPr lang="en-IN" dirty="0"/>
              <a:t>A Management Group </a:t>
            </a:r>
            <a:r>
              <a:rPr lang="en-IN" b="1" dirty="0"/>
              <a:t>does not contain Virtual Machines, Storage Accounts, or Resource Groups.</a:t>
            </a:r>
            <a:endParaRPr lang="en-IN" dirty="0"/>
          </a:p>
          <a:p>
            <a:r>
              <a:rPr lang="en-IN" dirty="0"/>
              <a:t>It contains </a:t>
            </a:r>
            <a:r>
              <a:rPr lang="en-IN" b="1" dirty="0"/>
              <a:t>Subscriptions</a:t>
            </a:r>
            <a:r>
              <a:rPr lang="en-IN" dirty="0"/>
              <a:t>.</a:t>
            </a:r>
          </a:p>
          <a:p>
            <a:endParaRPr lang="en-IN" dirty="0"/>
          </a:p>
        </p:txBody>
      </p:sp>
      <p:sp>
        <p:nvSpPr>
          <p:cNvPr id="3" name="TextBox 2">
            <a:extLst>
              <a:ext uri="{FF2B5EF4-FFF2-40B4-BE49-F238E27FC236}">
                <a16:creationId xmlns:a16="http://schemas.microsoft.com/office/drawing/2014/main" id="{1575E47D-9F56-C565-99F0-7B1E21268445}"/>
              </a:ext>
            </a:extLst>
          </p:cNvPr>
          <p:cNvSpPr txBox="1"/>
          <p:nvPr/>
        </p:nvSpPr>
        <p:spPr>
          <a:xfrm>
            <a:off x="9665368" y="92333"/>
            <a:ext cx="2526632" cy="369332"/>
          </a:xfrm>
          <a:prstGeom prst="rect">
            <a:avLst/>
          </a:prstGeom>
          <a:noFill/>
        </p:spPr>
        <p:txBody>
          <a:bodyPr wrap="square">
            <a:spAutoFit/>
          </a:bodyPr>
          <a:lstStyle/>
          <a:p>
            <a:r>
              <a:rPr lang="en-IN" b="1" dirty="0"/>
              <a:t>Management Groups</a:t>
            </a:r>
            <a:endParaRPr lang="en-IN" dirty="0"/>
          </a:p>
        </p:txBody>
      </p:sp>
    </p:spTree>
    <p:extLst>
      <p:ext uri="{BB962C8B-B14F-4D97-AF65-F5344CB8AC3E}">
        <p14:creationId xmlns:p14="http://schemas.microsoft.com/office/powerpoint/2010/main" val="2436814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CB3762-452E-62E5-2C73-338E2529214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F6860FC-7846-6416-521D-8C619A052A9E}"/>
              </a:ext>
            </a:extLst>
          </p:cNvPr>
          <p:cNvSpPr txBox="1"/>
          <p:nvPr/>
        </p:nvSpPr>
        <p:spPr>
          <a:xfrm>
            <a:off x="681789" y="117693"/>
            <a:ext cx="11181348" cy="6740307"/>
          </a:xfrm>
          <a:prstGeom prst="rect">
            <a:avLst/>
          </a:prstGeom>
          <a:noFill/>
        </p:spPr>
        <p:txBody>
          <a:bodyPr wrap="square">
            <a:spAutoFit/>
          </a:bodyPr>
          <a:lstStyle/>
          <a:p>
            <a:r>
              <a:rPr lang="en-IN" dirty="0"/>
              <a:t>Think of it like a folder.</a:t>
            </a:r>
          </a:p>
          <a:p>
            <a:r>
              <a:rPr lang="en-IN" dirty="0"/>
              <a:t>Suppose your computer has hundreds of files.</a:t>
            </a:r>
          </a:p>
          <a:p>
            <a:r>
              <a:rPr lang="en-IN" dirty="0"/>
              <a:t>Instead of keeping everything on the Desktop...</a:t>
            </a:r>
          </a:p>
          <a:p>
            <a:r>
              <a:rPr lang="en-IN" dirty="0"/>
              <a:t>You create folders.</a:t>
            </a:r>
          </a:p>
          <a:p>
            <a:r>
              <a:rPr lang="en-IN" dirty="0"/>
              <a:t>The folders help organize your files.</a:t>
            </a:r>
          </a:p>
          <a:p>
            <a:r>
              <a:rPr lang="en-IN" dirty="0"/>
              <a:t>Similarly...</a:t>
            </a:r>
          </a:p>
          <a:p>
            <a:r>
              <a:rPr lang="en-IN" dirty="0"/>
              <a:t>Management Groups help organize Azure Subscriptions.</a:t>
            </a:r>
          </a:p>
          <a:p>
            <a:br>
              <a:rPr lang="en-IN" dirty="0"/>
            </a:br>
            <a:r>
              <a:rPr lang="en-IN" dirty="0"/>
              <a:t>Let's take an example.</a:t>
            </a:r>
          </a:p>
          <a:p>
            <a:r>
              <a:rPr lang="en-IN" dirty="0"/>
              <a:t>Suppose a company has five departments.</a:t>
            </a:r>
          </a:p>
          <a:p>
            <a:r>
              <a:rPr lang="en-IN" dirty="0"/>
              <a:t>HR , Finance, Development , Sales, Marketing </a:t>
            </a:r>
          </a:p>
          <a:p>
            <a:r>
              <a:rPr lang="en-IN" dirty="0"/>
              <a:t>Each department has its own Azure Subscription.</a:t>
            </a:r>
          </a:p>
          <a:p>
            <a:r>
              <a:rPr lang="en-IN" dirty="0"/>
              <a:t>Instead of managing every Subscription individually...</a:t>
            </a:r>
          </a:p>
          <a:p>
            <a:r>
              <a:rPr lang="en-IN" dirty="0"/>
              <a:t>You create one Management Group called:</a:t>
            </a:r>
          </a:p>
          <a:p>
            <a:r>
              <a:rPr lang="en-IN" b="1" dirty="0"/>
              <a:t>Corporate</a:t>
            </a:r>
            <a:endParaRPr lang="en-IN" dirty="0"/>
          </a:p>
          <a:p>
            <a:r>
              <a:rPr lang="en-IN" dirty="0"/>
              <a:t>Then place all five Subscriptions inside it.</a:t>
            </a:r>
          </a:p>
          <a:p>
            <a:r>
              <a:rPr lang="en-IN" dirty="0"/>
              <a:t>Now you can manage all of them together.</a:t>
            </a:r>
          </a:p>
          <a:p>
            <a:br>
              <a:rPr lang="en-IN" dirty="0"/>
            </a:br>
            <a:r>
              <a:rPr lang="en-IN" dirty="0"/>
              <a:t>Now here's the biggest advantage.</a:t>
            </a:r>
          </a:p>
          <a:p>
            <a:r>
              <a:rPr lang="en-IN" dirty="0"/>
              <a:t>Suppose the Security Team needs </a:t>
            </a:r>
            <a:r>
              <a:rPr lang="en-IN" b="1" dirty="0"/>
              <a:t>Reader access</a:t>
            </a:r>
            <a:r>
              <a:rPr lang="en-IN" dirty="0"/>
              <a:t> to every Subscription.</a:t>
            </a:r>
          </a:p>
          <a:p>
            <a:r>
              <a:rPr lang="en-IN" dirty="0"/>
              <a:t>Instead of assigning permissions to each Subscription...</a:t>
            </a:r>
          </a:p>
          <a:p>
            <a:r>
              <a:rPr lang="en-IN" dirty="0"/>
              <a:t>You assign the permission once at the </a:t>
            </a:r>
            <a:r>
              <a:rPr lang="en-IN" b="1" dirty="0"/>
              <a:t>Management Group</a:t>
            </a:r>
            <a:r>
              <a:rPr lang="en-IN" dirty="0"/>
              <a:t>.</a:t>
            </a:r>
          </a:p>
          <a:p>
            <a:r>
              <a:rPr lang="en-IN" dirty="0"/>
              <a:t>Azure automatically applies that permission to all the Subscriptions inside it.</a:t>
            </a:r>
          </a:p>
          <a:p>
            <a:r>
              <a:rPr lang="en-IN" dirty="0"/>
              <a:t>This saves a lot of time.</a:t>
            </a:r>
          </a:p>
        </p:txBody>
      </p:sp>
      <p:sp>
        <p:nvSpPr>
          <p:cNvPr id="3" name="TextBox 2">
            <a:extLst>
              <a:ext uri="{FF2B5EF4-FFF2-40B4-BE49-F238E27FC236}">
                <a16:creationId xmlns:a16="http://schemas.microsoft.com/office/drawing/2014/main" id="{3D654EC1-BE84-9881-A4BC-EA02150104C3}"/>
              </a:ext>
            </a:extLst>
          </p:cNvPr>
          <p:cNvSpPr txBox="1"/>
          <p:nvPr/>
        </p:nvSpPr>
        <p:spPr>
          <a:xfrm>
            <a:off x="9665368" y="92333"/>
            <a:ext cx="2526632" cy="369332"/>
          </a:xfrm>
          <a:prstGeom prst="rect">
            <a:avLst/>
          </a:prstGeom>
          <a:noFill/>
        </p:spPr>
        <p:txBody>
          <a:bodyPr wrap="square">
            <a:spAutoFit/>
          </a:bodyPr>
          <a:lstStyle/>
          <a:p>
            <a:r>
              <a:rPr lang="en-IN" b="1" dirty="0"/>
              <a:t>Management Groups</a:t>
            </a:r>
            <a:endParaRPr lang="en-IN" dirty="0"/>
          </a:p>
        </p:txBody>
      </p:sp>
    </p:spTree>
    <p:extLst>
      <p:ext uri="{BB962C8B-B14F-4D97-AF65-F5344CB8AC3E}">
        <p14:creationId xmlns:p14="http://schemas.microsoft.com/office/powerpoint/2010/main" val="23976951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8B767E-B0AB-EC6D-4F69-E5591055F44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443676F-AAE2-3787-672A-FF4F0BC75553}"/>
              </a:ext>
            </a:extLst>
          </p:cNvPr>
          <p:cNvSpPr txBox="1"/>
          <p:nvPr/>
        </p:nvSpPr>
        <p:spPr>
          <a:xfrm>
            <a:off x="681789" y="117693"/>
            <a:ext cx="11181348" cy="6740307"/>
          </a:xfrm>
          <a:prstGeom prst="rect">
            <a:avLst/>
          </a:prstGeom>
          <a:noFill/>
        </p:spPr>
        <p:txBody>
          <a:bodyPr wrap="square">
            <a:spAutoFit/>
          </a:bodyPr>
          <a:lstStyle/>
          <a:p>
            <a:r>
              <a:rPr lang="en-IN" dirty="0"/>
              <a:t>The same applies to Azure Policies.</a:t>
            </a:r>
          </a:p>
          <a:p>
            <a:r>
              <a:rPr lang="en-IN" dirty="0"/>
              <a:t>Suppose your organization has a rule.</a:t>
            </a:r>
          </a:p>
          <a:p>
            <a:r>
              <a:rPr lang="en-IN" b="1" dirty="0"/>
              <a:t>"No one is allowed to create resources outside India."</a:t>
            </a:r>
            <a:endParaRPr lang="en-IN" dirty="0"/>
          </a:p>
          <a:p>
            <a:r>
              <a:rPr lang="en-IN" dirty="0"/>
              <a:t>If you apply this Azure Policy to every Subscription individually...</a:t>
            </a:r>
          </a:p>
          <a:p>
            <a:r>
              <a:rPr lang="en-IN" dirty="0"/>
              <a:t>It takes time.</a:t>
            </a:r>
          </a:p>
          <a:p>
            <a:r>
              <a:rPr lang="en-IN" dirty="0"/>
              <a:t>Instead...</a:t>
            </a:r>
          </a:p>
          <a:p>
            <a:r>
              <a:rPr lang="en-IN" dirty="0"/>
              <a:t>Apply the Policy once to the Management Group.</a:t>
            </a:r>
          </a:p>
          <a:p>
            <a:r>
              <a:rPr lang="en-IN" dirty="0"/>
              <a:t>Now every Subscription inside that Management Group automatically follows the same rule.</a:t>
            </a:r>
          </a:p>
          <a:p>
            <a:endParaRPr lang="en-IN" dirty="0"/>
          </a:p>
          <a:p>
            <a:r>
              <a:rPr lang="en-IN" dirty="0"/>
              <a:t>Let's look at another example. Imagine a multinational company.</a:t>
            </a:r>
          </a:p>
          <a:p>
            <a:r>
              <a:rPr lang="en-IN" dirty="0"/>
              <a:t>It has different business units. India, Europe, USA </a:t>
            </a:r>
          </a:p>
          <a:p>
            <a:r>
              <a:rPr lang="en-IN" dirty="0"/>
              <a:t>Each business unit has many Azure Subscriptions.</a:t>
            </a:r>
          </a:p>
          <a:p>
            <a:r>
              <a:rPr lang="en-IN" dirty="0"/>
              <a:t>The company creates three Management Groups.</a:t>
            </a:r>
          </a:p>
          <a:p>
            <a:r>
              <a:rPr lang="en-IN" b="1" dirty="0"/>
              <a:t>India Management Group</a:t>
            </a:r>
            <a:endParaRPr lang="en-IN" dirty="0"/>
          </a:p>
          <a:p>
            <a:r>
              <a:rPr lang="en-IN" dirty="0"/>
              <a:t>Development Subscription </a:t>
            </a:r>
          </a:p>
          <a:p>
            <a:r>
              <a:rPr lang="en-IN" dirty="0"/>
              <a:t>Production Subscription </a:t>
            </a:r>
          </a:p>
          <a:p>
            <a:r>
              <a:rPr lang="en-IN" dirty="0"/>
              <a:t>Sandbox Subscription </a:t>
            </a:r>
          </a:p>
          <a:p>
            <a:r>
              <a:rPr lang="en-IN" b="1" dirty="0"/>
              <a:t>Europe Management Group</a:t>
            </a:r>
            <a:endParaRPr lang="en-IN" dirty="0"/>
          </a:p>
          <a:p>
            <a:r>
              <a:rPr lang="en-IN" dirty="0"/>
              <a:t>Development Subscription </a:t>
            </a:r>
          </a:p>
          <a:p>
            <a:r>
              <a:rPr lang="en-IN" dirty="0"/>
              <a:t>Production Subscription </a:t>
            </a:r>
          </a:p>
          <a:p>
            <a:r>
              <a:rPr lang="en-IN" b="1" dirty="0"/>
              <a:t>USA Management Group</a:t>
            </a:r>
            <a:endParaRPr lang="en-IN" dirty="0"/>
          </a:p>
          <a:p>
            <a:r>
              <a:rPr lang="en-IN" dirty="0"/>
              <a:t>Production Subscription </a:t>
            </a:r>
          </a:p>
          <a:p>
            <a:r>
              <a:rPr lang="en-IN" dirty="0"/>
              <a:t>DR Subscription </a:t>
            </a:r>
          </a:p>
          <a:p>
            <a:r>
              <a:rPr lang="en-IN" dirty="0"/>
              <a:t>Now each region can be managed independently.</a:t>
            </a:r>
          </a:p>
        </p:txBody>
      </p:sp>
      <p:sp>
        <p:nvSpPr>
          <p:cNvPr id="3" name="TextBox 2">
            <a:extLst>
              <a:ext uri="{FF2B5EF4-FFF2-40B4-BE49-F238E27FC236}">
                <a16:creationId xmlns:a16="http://schemas.microsoft.com/office/drawing/2014/main" id="{6E13EE72-33BA-0623-72E6-60A617EFADEF}"/>
              </a:ext>
            </a:extLst>
          </p:cNvPr>
          <p:cNvSpPr txBox="1"/>
          <p:nvPr/>
        </p:nvSpPr>
        <p:spPr>
          <a:xfrm>
            <a:off x="9665368" y="92333"/>
            <a:ext cx="2526632" cy="369332"/>
          </a:xfrm>
          <a:prstGeom prst="rect">
            <a:avLst/>
          </a:prstGeom>
          <a:noFill/>
        </p:spPr>
        <p:txBody>
          <a:bodyPr wrap="square">
            <a:spAutoFit/>
          </a:bodyPr>
          <a:lstStyle/>
          <a:p>
            <a:r>
              <a:rPr lang="en-IN" b="1" dirty="0"/>
              <a:t>Management Groups</a:t>
            </a:r>
            <a:endParaRPr lang="en-IN" dirty="0"/>
          </a:p>
        </p:txBody>
      </p:sp>
    </p:spTree>
    <p:extLst>
      <p:ext uri="{BB962C8B-B14F-4D97-AF65-F5344CB8AC3E}">
        <p14:creationId xmlns:p14="http://schemas.microsoft.com/office/powerpoint/2010/main" val="10454041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7A66B-DDC3-9B8E-3F77-AF424D6087A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D843F34-578C-CD44-4F4A-BD051984C1A9}"/>
              </a:ext>
            </a:extLst>
          </p:cNvPr>
          <p:cNvSpPr txBox="1"/>
          <p:nvPr/>
        </p:nvSpPr>
        <p:spPr>
          <a:xfrm>
            <a:off x="681789" y="117693"/>
            <a:ext cx="11181348" cy="5078313"/>
          </a:xfrm>
          <a:prstGeom prst="rect">
            <a:avLst/>
          </a:prstGeom>
          <a:noFill/>
        </p:spPr>
        <p:txBody>
          <a:bodyPr wrap="square">
            <a:spAutoFit/>
          </a:bodyPr>
          <a:lstStyle/>
          <a:p>
            <a:r>
              <a:rPr lang="en-IN" dirty="0"/>
              <a:t>Now here's another important point.</a:t>
            </a:r>
          </a:p>
          <a:p>
            <a:r>
              <a:rPr lang="en-IN" dirty="0"/>
              <a:t>Settings applied at a Management Group are </a:t>
            </a:r>
            <a:r>
              <a:rPr lang="en-IN" b="1" dirty="0"/>
              <a:t>inherited</a:t>
            </a:r>
            <a:r>
              <a:rPr lang="en-IN" dirty="0"/>
              <a:t>.</a:t>
            </a:r>
          </a:p>
          <a:p>
            <a:r>
              <a:rPr lang="en-IN" dirty="0"/>
              <a:t>What does "inherited" mean?</a:t>
            </a:r>
          </a:p>
          <a:p>
            <a:r>
              <a:rPr lang="en-IN" dirty="0"/>
              <a:t>It means child resources automatically receive the same settings.</a:t>
            </a:r>
          </a:p>
          <a:p>
            <a:r>
              <a:rPr lang="en-IN" dirty="0"/>
              <a:t>For example...</a:t>
            </a:r>
          </a:p>
          <a:p>
            <a:r>
              <a:rPr lang="en-IN" dirty="0"/>
              <a:t>If you assign an Azure Policy to a Management Group...</a:t>
            </a:r>
          </a:p>
          <a:p>
            <a:r>
              <a:rPr lang="en-IN" dirty="0"/>
              <a:t>Every Subscription under that Management Group automatically follows that Policy.</a:t>
            </a:r>
          </a:p>
          <a:p>
            <a:r>
              <a:rPr lang="en-IN" dirty="0"/>
              <a:t>The same is true for Azure Role-Based Access Control (RBAC).</a:t>
            </a:r>
          </a:p>
          <a:p>
            <a:r>
              <a:rPr lang="en-IN" dirty="0"/>
              <a:t>Permissions assigned at the Management Group can automatically flow down to all child Subscriptions.</a:t>
            </a:r>
          </a:p>
          <a:p>
            <a:r>
              <a:rPr lang="en-IN" dirty="0"/>
              <a:t>This makes administration much easier.</a:t>
            </a:r>
          </a:p>
          <a:p>
            <a:r>
              <a:rPr lang="en-IN" b="1" dirty="0"/>
              <a:t>Now let's summarize the benefits.</a:t>
            </a:r>
          </a:p>
          <a:p>
            <a:r>
              <a:rPr lang="en-IN" dirty="0"/>
              <a:t>Management Groups help organizations:</a:t>
            </a:r>
          </a:p>
          <a:p>
            <a:r>
              <a:rPr lang="en-IN" dirty="0"/>
              <a:t>Organize large numbers of Azure Subscriptions. </a:t>
            </a:r>
          </a:p>
          <a:p>
            <a:r>
              <a:rPr lang="en-IN" dirty="0"/>
              <a:t>Apply permissions to multiple Subscriptions at once. </a:t>
            </a:r>
          </a:p>
          <a:p>
            <a:r>
              <a:rPr lang="en-IN" dirty="0"/>
              <a:t>Apply Azure Policies across multiple Subscriptions. </a:t>
            </a:r>
          </a:p>
          <a:p>
            <a:r>
              <a:rPr lang="en-IN" dirty="0"/>
              <a:t>Create a hierarchy for enterprise management. </a:t>
            </a:r>
          </a:p>
          <a:p>
            <a:r>
              <a:rPr lang="en-IN" dirty="0"/>
              <a:t>Reduce administrative work. </a:t>
            </a:r>
          </a:p>
          <a:p>
            <a:endParaRPr lang="en-IN" dirty="0"/>
          </a:p>
        </p:txBody>
      </p:sp>
      <p:sp>
        <p:nvSpPr>
          <p:cNvPr id="3" name="TextBox 2">
            <a:extLst>
              <a:ext uri="{FF2B5EF4-FFF2-40B4-BE49-F238E27FC236}">
                <a16:creationId xmlns:a16="http://schemas.microsoft.com/office/drawing/2014/main" id="{313DEEF7-86C4-1551-7046-992A9298BE4A}"/>
              </a:ext>
            </a:extLst>
          </p:cNvPr>
          <p:cNvSpPr txBox="1"/>
          <p:nvPr/>
        </p:nvSpPr>
        <p:spPr>
          <a:xfrm>
            <a:off x="9665368" y="92333"/>
            <a:ext cx="2526632" cy="369332"/>
          </a:xfrm>
          <a:prstGeom prst="rect">
            <a:avLst/>
          </a:prstGeom>
          <a:noFill/>
        </p:spPr>
        <p:txBody>
          <a:bodyPr wrap="square">
            <a:spAutoFit/>
          </a:bodyPr>
          <a:lstStyle/>
          <a:p>
            <a:r>
              <a:rPr lang="en-IN" b="1" dirty="0"/>
              <a:t>Management Groups</a:t>
            </a:r>
            <a:endParaRPr lang="en-IN" dirty="0"/>
          </a:p>
        </p:txBody>
      </p:sp>
    </p:spTree>
    <p:extLst>
      <p:ext uri="{BB962C8B-B14F-4D97-AF65-F5344CB8AC3E}">
        <p14:creationId xmlns:p14="http://schemas.microsoft.com/office/powerpoint/2010/main" val="14540559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B4A5CB-64AA-19EC-9F07-CBA863F2EEF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FF46533-A467-4098-4827-BA582C115630}"/>
              </a:ext>
            </a:extLst>
          </p:cNvPr>
          <p:cNvSpPr txBox="1"/>
          <p:nvPr/>
        </p:nvSpPr>
        <p:spPr>
          <a:xfrm>
            <a:off x="681789" y="117693"/>
            <a:ext cx="11181348" cy="4247317"/>
          </a:xfrm>
          <a:prstGeom prst="rect">
            <a:avLst/>
          </a:prstGeom>
          <a:noFill/>
        </p:spPr>
        <p:txBody>
          <a:bodyPr wrap="square">
            <a:spAutoFit/>
          </a:bodyPr>
          <a:lstStyle/>
          <a:p>
            <a:r>
              <a:rPr lang="en-IN" b="1" dirty="0"/>
              <a:t>Easy Way to Remember</a:t>
            </a:r>
          </a:p>
          <a:p>
            <a:r>
              <a:rPr lang="en-IN" dirty="0"/>
              <a:t>Imagine a large company.</a:t>
            </a:r>
          </a:p>
          <a:p>
            <a:r>
              <a:rPr lang="en-IN" dirty="0"/>
              <a:t>The </a:t>
            </a:r>
            <a:r>
              <a:rPr lang="en-IN" b="1" dirty="0"/>
              <a:t>Tenant</a:t>
            </a:r>
            <a:r>
              <a:rPr lang="en-IN" dirty="0"/>
              <a:t> is the entire company.</a:t>
            </a:r>
          </a:p>
          <a:p>
            <a:r>
              <a:rPr lang="en-IN" dirty="0"/>
              <a:t>Inside the company are different </a:t>
            </a:r>
            <a:r>
              <a:rPr lang="en-IN" b="1" dirty="0"/>
              <a:t>business divisions</a:t>
            </a:r>
            <a:r>
              <a:rPr lang="en-IN" dirty="0"/>
              <a:t>.</a:t>
            </a:r>
          </a:p>
          <a:p>
            <a:r>
              <a:rPr lang="en-IN" dirty="0"/>
              <a:t>Those business divisions are your </a:t>
            </a:r>
            <a:r>
              <a:rPr lang="en-IN" b="1" dirty="0"/>
              <a:t>Management Groups</a:t>
            </a:r>
            <a:r>
              <a:rPr lang="en-IN" dirty="0"/>
              <a:t>.</a:t>
            </a:r>
          </a:p>
          <a:p>
            <a:r>
              <a:rPr lang="en-IN" dirty="0"/>
              <a:t>Inside each division are different </a:t>
            </a:r>
            <a:r>
              <a:rPr lang="en-IN" b="1" dirty="0"/>
              <a:t>departments</a:t>
            </a:r>
            <a:r>
              <a:rPr lang="en-IN" dirty="0"/>
              <a:t>.</a:t>
            </a:r>
          </a:p>
          <a:p>
            <a:r>
              <a:rPr lang="en-IN" dirty="0"/>
              <a:t>Those are your </a:t>
            </a:r>
            <a:r>
              <a:rPr lang="en-IN" b="1" dirty="0"/>
              <a:t>Subscriptions</a:t>
            </a:r>
            <a:r>
              <a:rPr lang="en-IN" dirty="0"/>
              <a:t>.</a:t>
            </a:r>
          </a:p>
          <a:p>
            <a:r>
              <a:rPr lang="en-IN" dirty="0"/>
              <a:t>Inside each department are </a:t>
            </a:r>
            <a:r>
              <a:rPr lang="en-IN" b="1" dirty="0"/>
              <a:t>project folders</a:t>
            </a:r>
            <a:r>
              <a:rPr lang="en-IN" dirty="0"/>
              <a:t>.</a:t>
            </a:r>
          </a:p>
          <a:p>
            <a:r>
              <a:rPr lang="en-IN" dirty="0"/>
              <a:t>Those are your </a:t>
            </a:r>
            <a:r>
              <a:rPr lang="en-IN" b="1" dirty="0"/>
              <a:t>Resource Groups</a:t>
            </a:r>
            <a:r>
              <a:rPr lang="en-IN" dirty="0"/>
              <a:t>.</a:t>
            </a:r>
          </a:p>
          <a:p>
            <a:r>
              <a:rPr lang="en-IN" dirty="0"/>
              <a:t>Inside each project folder are the actual </a:t>
            </a:r>
            <a:r>
              <a:rPr lang="en-IN" b="1" dirty="0"/>
              <a:t>documents and files</a:t>
            </a:r>
            <a:r>
              <a:rPr lang="en-IN" dirty="0"/>
              <a:t>.</a:t>
            </a:r>
          </a:p>
          <a:p>
            <a:r>
              <a:rPr lang="en-IN" dirty="0"/>
              <a:t>Those are your Azure Resources.</a:t>
            </a:r>
          </a:p>
          <a:p>
            <a:r>
              <a:rPr lang="en-IN" dirty="0"/>
              <a:t>So the flow becomes:</a:t>
            </a:r>
          </a:p>
          <a:p>
            <a:r>
              <a:rPr lang="en-IN" b="1" dirty="0"/>
              <a:t>Company → Business Division → Department → Project Folder → Resources</a:t>
            </a:r>
            <a:endParaRPr lang="en-IN" dirty="0"/>
          </a:p>
          <a:p>
            <a:r>
              <a:rPr lang="en-IN" dirty="0"/>
              <a:t>Which maps to:</a:t>
            </a:r>
          </a:p>
          <a:p>
            <a:r>
              <a:rPr lang="en-IN" b="1" dirty="0"/>
              <a:t>Tenant → Management Group → Subscription → Resource Group → Resources</a:t>
            </a:r>
            <a:endParaRPr lang="en-IN" dirty="0"/>
          </a:p>
        </p:txBody>
      </p:sp>
      <p:sp>
        <p:nvSpPr>
          <p:cNvPr id="3" name="TextBox 2">
            <a:extLst>
              <a:ext uri="{FF2B5EF4-FFF2-40B4-BE49-F238E27FC236}">
                <a16:creationId xmlns:a16="http://schemas.microsoft.com/office/drawing/2014/main" id="{4632A79C-E2AD-EB77-029B-DEC20B19B973}"/>
              </a:ext>
            </a:extLst>
          </p:cNvPr>
          <p:cNvSpPr txBox="1"/>
          <p:nvPr/>
        </p:nvSpPr>
        <p:spPr>
          <a:xfrm>
            <a:off x="2638927" y="4872062"/>
            <a:ext cx="6096000" cy="1477328"/>
          </a:xfrm>
          <a:prstGeom prst="rect">
            <a:avLst/>
          </a:prstGeom>
          <a:noFill/>
        </p:spPr>
        <p:txBody>
          <a:bodyPr wrap="square">
            <a:spAutoFit/>
          </a:bodyPr>
          <a:lstStyle/>
          <a:p>
            <a:r>
              <a:rPr lang="en-IN" dirty="0"/>
              <a:t>Azure Management Groups provide a governance layer above Azure Subscriptions. They allow organizations to organize subscriptions into a hierarchy and apply Azure RBAC roles and Azure Policies consistently across multiple subscriptions from a single location.</a:t>
            </a:r>
          </a:p>
        </p:txBody>
      </p:sp>
    </p:spTree>
    <p:extLst>
      <p:ext uri="{BB962C8B-B14F-4D97-AF65-F5344CB8AC3E}">
        <p14:creationId xmlns:p14="http://schemas.microsoft.com/office/powerpoint/2010/main" val="9604525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EDFCAE-4DB9-52B9-6A69-754ACEB31BD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AA29CA5-08E3-E0F8-1C91-C27535E93C93}"/>
              </a:ext>
            </a:extLst>
          </p:cNvPr>
          <p:cNvSpPr txBox="1"/>
          <p:nvPr/>
        </p:nvSpPr>
        <p:spPr>
          <a:xfrm>
            <a:off x="681789" y="117693"/>
            <a:ext cx="11181348" cy="6740307"/>
          </a:xfrm>
          <a:prstGeom prst="rect">
            <a:avLst/>
          </a:prstGeom>
          <a:noFill/>
        </p:spPr>
        <p:txBody>
          <a:bodyPr wrap="square">
            <a:spAutoFit/>
          </a:bodyPr>
          <a:lstStyle/>
          <a:p>
            <a:r>
              <a:rPr lang="en-IN" dirty="0"/>
              <a:t>Now we've reached one of the most commonly used concepts in Azure.</a:t>
            </a:r>
          </a:p>
          <a:p>
            <a:r>
              <a:rPr lang="en-IN" b="1" dirty="0"/>
              <a:t>Resource Groups.</a:t>
            </a:r>
            <a:endParaRPr lang="en-IN" dirty="0"/>
          </a:p>
          <a:p>
            <a:r>
              <a:rPr lang="en-IN" dirty="0"/>
              <a:t>If you've ever created a Virtual Machine, Storage Account, or Virtual Network...</a:t>
            </a:r>
          </a:p>
          <a:p>
            <a:r>
              <a:rPr lang="en-IN" dirty="0"/>
              <a:t>You've already used a Resource Group.</a:t>
            </a:r>
          </a:p>
          <a:p>
            <a:r>
              <a:rPr lang="en-IN" dirty="0"/>
              <a:t>But what exactly is it?</a:t>
            </a:r>
          </a:p>
          <a:p>
            <a:r>
              <a:rPr lang="en-IN" dirty="0"/>
              <a:t>Let's find out.</a:t>
            </a:r>
          </a:p>
          <a:p>
            <a:endParaRPr lang="en-IN" dirty="0"/>
          </a:p>
          <a:p>
            <a:r>
              <a:rPr lang="en-IN" dirty="0"/>
              <a:t>Before I explain...</a:t>
            </a:r>
          </a:p>
          <a:p>
            <a:r>
              <a:rPr lang="en-IN" dirty="0"/>
              <a:t>Let me ask you a question….Imagine you're working on a project.</a:t>
            </a:r>
          </a:p>
          <a:p>
            <a:r>
              <a:rPr lang="en-IN" dirty="0"/>
              <a:t>The project needs:</a:t>
            </a:r>
          </a:p>
          <a:p>
            <a:r>
              <a:rPr lang="en-IN" dirty="0"/>
              <a:t>One Virtual Machine </a:t>
            </a:r>
          </a:p>
          <a:p>
            <a:r>
              <a:rPr lang="en-IN" dirty="0"/>
              <a:t>One Storage Account </a:t>
            </a:r>
          </a:p>
          <a:p>
            <a:r>
              <a:rPr lang="en-IN" dirty="0"/>
              <a:t>One Virtual Network </a:t>
            </a:r>
          </a:p>
          <a:p>
            <a:r>
              <a:rPr lang="en-IN" dirty="0"/>
              <a:t>One SQL Database </a:t>
            </a:r>
          </a:p>
          <a:p>
            <a:r>
              <a:rPr lang="en-IN" dirty="0"/>
              <a:t>One Key Vault </a:t>
            </a:r>
          </a:p>
          <a:p>
            <a:r>
              <a:rPr lang="en-IN" dirty="0"/>
              <a:t>Would you keep these resources scattered everywhere?</a:t>
            </a:r>
          </a:p>
          <a:p>
            <a:r>
              <a:rPr lang="en-IN" dirty="0"/>
              <a:t>Or would you keep everything related to the project in one place?</a:t>
            </a:r>
          </a:p>
          <a:p>
            <a:r>
              <a:rPr lang="en-IN" dirty="0"/>
              <a:t>Most people would keep everything together.</a:t>
            </a:r>
          </a:p>
          <a:p>
            <a:r>
              <a:rPr lang="en-IN" dirty="0"/>
              <a:t>That's exactly what a </a:t>
            </a:r>
            <a:r>
              <a:rPr lang="en-IN" b="1" dirty="0"/>
              <a:t>Resource Group</a:t>
            </a:r>
            <a:r>
              <a:rPr lang="en-IN" dirty="0"/>
              <a:t> does.</a:t>
            </a:r>
          </a:p>
          <a:p>
            <a:br>
              <a:rPr lang="en-IN" dirty="0"/>
            </a:br>
            <a:r>
              <a:rPr lang="en-IN" b="1" dirty="0"/>
              <a:t>What is a Resource Group?</a:t>
            </a:r>
          </a:p>
          <a:p>
            <a:r>
              <a:rPr lang="en-IN" dirty="0"/>
              <a:t>In simple words...</a:t>
            </a:r>
          </a:p>
          <a:p>
            <a:r>
              <a:rPr lang="en-IN" dirty="0"/>
              <a:t>A </a:t>
            </a:r>
            <a:r>
              <a:rPr lang="en-IN" b="1" dirty="0"/>
              <a:t>Resource Group</a:t>
            </a:r>
            <a:r>
              <a:rPr lang="en-IN" dirty="0"/>
              <a:t> is a </a:t>
            </a:r>
            <a:r>
              <a:rPr lang="en-IN" b="1" dirty="0"/>
              <a:t>container that holds related Azure resources</a:t>
            </a:r>
            <a:r>
              <a:rPr lang="en-IN" dirty="0"/>
              <a:t>.</a:t>
            </a:r>
          </a:p>
          <a:p>
            <a:r>
              <a:rPr lang="en-IN" dirty="0"/>
              <a:t>It helps you organize resources that belong to the same application, project, or environment.</a:t>
            </a:r>
          </a:p>
        </p:txBody>
      </p:sp>
      <p:sp>
        <p:nvSpPr>
          <p:cNvPr id="6" name="TextBox 5">
            <a:extLst>
              <a:ext uri="{FF2B5EF4-FFF2-40B4-BE49-F238E27FC236}">
                <a16:creationId xmlns:a16="http://schemas.microsoft.com/office/drawing/2014/main" id="{EE275B65-E34C-EE65-62DF-75A0B61FF1B7}"/>
              </a:ext>
            </a:extLst>
          </p:cNvPr>
          <p:cNvSpPr txBox="1"/>
          <p:nvPr/>
        </p:nvSpPr>
        <p:spPr>
          <a:xfrm>
            <a:off x="10042358" y="236439"/>
            <a:ext cx="2149642" cy="369332"/>
          </a:xfrm>
          <a:prstGeom prst="rect">
            <a:avLst/>
          </a:prstGeom>
          <a:noFill/>
        </p:spPr>
        <p:txBody>
          <a:bodyPr wrap="square">
            <a:spAutoFit/>
          </a:bodyPr>
          <a:lstStyle/>
          <a:p>
            <a:r>
              <a:rPr lang="en-IN" b="1" dirty="0"/>
              <a:t>Resource Groups</a:t>
            </a:r>
            <a:endParaRPr lang="en-IN" dirty="0"/>
          </a:p>
        </p:txBody>
      </p:sp>
    </p:spTree>
    <p:extLst>
      <p:ext uri="{BB962C8B-B14F-4D97-AF65-F5344CB8AC3E}">
        <p14:creationId xmlns:p14="http://schemas.microsoft.com/office/powerpoint/2010/main" val="22569784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0B117F-84D2-4174-02B5-200015840E3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35D5165-467C-01F4-03E4-724B9BF44D80}"/>
              </a:ext>
            </a:extLst>
          </p:cNvPr>
          <p:cNvSpPr txBox="1"/>
          <p:nvPr/>
        </p:nvSpPr>
        <p:spPr>
          <a:xfrm>
            <a:off x="681789" y="117693"/>
            <a:ext cx="11181348" cy="6740307"/>
          </a:xfrm>
          <a:prstGeom prst="rect">
            <a:avLst/>
          </a:prstGeom>
          <a:noFill/>
        </p:spPr>
        <p:txBody>
          <a:bodyPr wrap="square">
            <a:spAutoFit/>
          </a:bodyPr>
          <a:lstStyle/>
          <a:p>
            <a:r>
              <a:rPr lang="en-IN" dirty="0"/>
              <a:t>For example...</a:t>
            </a:r>
          </a:p>
          <a:p>
            <a:r>
              <a:rPr lang="en-IN" dirty="0"/>
              <a:t>Suppose you're building an online shopping website.</a:t>
            </a:r>
          </a:p>
          <a:p>
            <a:r>
              <a:rPr lang="en-IN" dirty="0"/>
              <a:t>Your application needs:</a:t>
            </a:r>
          </a:p>
          <a:p>
            <a:r>
              <a:rPr lang="en-IN" dirty="0"/>
              <a:t>A Virtual Machine </a:t>
            </a:r>
          </a:p>
          <a:p>
            <a:r>
              <a:rPr lang="en-IN" dirty="0"/>
              <a:t>A SQL Database </a:t>
            </a:r>
          </a:p>
          <a:p>
            <a:r>
              <a:rPr lang="en-IN" dirty="0"/>
              <a:t>A Storage Account </a:t>
            </a:r>
          </a:p>
          <a:p>
            <a:r>
              <a:rPr lang="en-IN" dirty="0"/>
              <a:t>A Load Balancer </a:t>
            </a:r>
          </a:p>
          <a:p>
            <a:r>
              <a:rPr lang="en-IN" dirty="0"/>
              <a:t>A Virtual Network </a:t>
            </a:r>
          </a:p>
          <a:p>
            <a:r>
              <a:rPr lang="en-IN" dirty="0"/>
              <a:t>Instead of creating these resources separately...You create one Resource Group called:</a:t>
            </a:r>
          </a:p>
          <a:p>
            <a:r>
              <a:rPr lang="en-IN" b="1" dirty="0" err="1"/>
              <a:t>ShoppingApp</a:t>
            </a:r>
            <a:r>
              <a:rPr lang="en-IN" b="1" dirty="0"/>
              <a:t>-RG</a:t>
            </a:r>
            <a:endParaRPr lang="en-IN" dirty="0"/>
          </a:p>
          <a:p>
            <a:r>
              <a:rPr lang="en-IN" dirty="0"/>
              <a:t>Then place all these resources inside it.</a:t>
            </a:r>
          </a:p>
          <a:p>
            <a:r>
              <a:rPr lang="en-IN" dirty="0"/>
              <a:t>Now everything related to that application is in one place.</a:t>
            </a:r>
          </a:p>
          <a:p>
            <a:br>
              <a:rPr lang="en-IN" dirty="0"/>
            </a:br>
            <a:r>
              <a:rPr lang="en-IN" dirty="0"/>
              <a:t>Let's take another example.</a:t>
            </a:r>
          </a:p>
          <a:p>
            <a:r>
              <a:rPr lang="en-IN" dirty="0"/>
              <a:t>Suppose your company has three environments.</a:t>
            </a:r>
          </a:p>
          <a:p>
            <a:r>
              <a:rPr lang="en-IN" dirty="0"/>
              <a:t>Development </a:t>
            </a:r>
          </a:p>
          <a:p>
            <a:r>
              <a:rPr lang="en-IN" dirty="0"/>
              <a:t>Testing </a:t>
            </a:r>
          </a:p>
          <a:p>
            <a:r>
              <a:rPr lang="en-IN" dirty="0"/>
              <a:t>Production </a:t>
            </a:r>
          </a:p>
          <a:p>
            <a:r>
              <a:rPr lang="en-IN" dirty="0"/>
              <a:t>You could create:</a:t>
            </a:r>
          </a:p>
          <a:p>
            <a:r>
              <a:rPr lang="en-IN" dirty="0"/>
              <a:t>Dev-RG </a:t>
            </a:r>
          </a:p>
          <a:p>
            <a:r>
              <a:rPr lang="en-IN" dirty="0"/>
              <a:t>Test-RG </a:t>
            </a:r>
          </a:p>
          <a:p>
            <a:r>
              <a:rPr lang="en-IN" dirty="0"/>
              <a:t>Prod-RG </a:t>
            </a:r>
          </a:p>
          <a:p>
            <a:r>
              <a:rPr lang="en-IN" dirty="0"/>
              <a:t>Each Resource Group contains only the resources for that environment.</a:t>
            </a:r>
          </a:p>
          <a:p>
            <a:r>
              <a:rPr lang="en-IN" dirty="0"/>
              <a:t>This makes management much easier.</a:t>
            </a:r>
          </a:p>
        </p:txBody>
      </p:sp>
      <p:sp>
        <p:nvSpPr>
          <p:cNvPr id="6" name="TextBox 5">
            <a:extLst>
              <a:ext uri="{FF2B5EF4-FFF2-40B4-BE49-F238E27FC236}">
                <a16:creationId xmlns:a16="http://schemas.microsoft.com/office/drawing/2014/main" id="{2BBC5A22-A614-59DA-7BA7-00B131EE7EE2}"/>
              </a:ext>
            </a:extLst>
          </p:cNvPr>
          <p:cNvSpPr txBox="1"/>
          <p:nvPr/>
        </p:nvSpPr>
        <p:spPr>
          <a:xfrm>
            <a:off x="10042358" y="236439"/>
            <a:ext cx="2149642" cy="369332"/>
          </a:xfrm>
          <a:prstGeom prst="rect">
            <a:avLst/>
          </a:prstGeom>
          <a:noFill/>
        </p:spPr>
        <p:txBody>
          <a:bodyPr wrap="square">
            <a:spAutoFit/>
          </a:bodyPr>
          <a:lstStyle/>
          <a:p>
            <a:r>
              <a:rPr lang="en-IN" b="1" dirty="0"/>
              <a:t>Resource Groups</a:t>
            </a:r>
            <a:endParaRPr lang="en-IN" dirty="0"/>
          </a:p>
        </p:txBody>
      </p:sp>
    </p:spTree>
    <p:extLst>
      <p:ext uri="{BB962C8B-B14F-4D97-AF65-F5344CB8AC3E}">
        <p14:creationId xmlns:p14="http://schemas.microsoft.com/office/powerpoint/2010/main" val="81275862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89C75E-A484-F583-3EF5-30009E448381}"/>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5D453CB-E2E8-8CB4-6D8B-31C6E4C678E4}"/>
              </a:ext>
            </a:extLst>
          </p:cNvPr>
          <p:cNvSpPr txBox="1"/>
          <p:nvPr/>
        </p:nvSpPr>
        <p:spPr>
          <a:xfrm>
            <a:off x="681789" y="117693"/>
            <a:ext cx="11181348" cy="6463308"/>
          </a:xfrm>
          <a:prstGeom prst="rect">
            <a:avLst/>
          </a:prstGeom>
          <a:noFill/>
        </p:spPr>
        <p:txBody>
          <a:bodyPr wrap="square">
            <a:spAutoFit/>
          </a:bodyPr>
          <a:lstStyle/>
          <a:p>
            <a:r>
              <a:rPr lang="en-IN" dirty="0"/>
              <a:t>Now here's an important question.</a:t>
            </a:r>
          </a:p>
          <a:p>
            <a:r>
              <a:rPr lang="en-IN" b="1" dirty="0"/>
              <a:t>Can different types of resources exist in the same Resource Group?</a:t>
            </a:r>
            <a:endParaRPr lang="en-IN" dirty="0"/>
          </a:p>
          <a:p>
            <a:r>
              <a:rPr lang="en-IN" dirty="0"/>
              <a:t>Absolutely.</a:t>
            </a:r>
          </a:p>
          <a:p>
            <a:r>
              <a:rPr lang="en-IN" dirty="0"/>
              <a:t>A Resource Group can contain many different Azure resources, such as:</a:t>
            </a:r>
          </a:p>
          <a:p>
            <a:r>
              <a:rPr lang="en-IN" dirty="0"/>
              <a:t>VM, Database, App Service etc</a:t>
            </a:r>
          </a:p>
          <a:p>
            <a:r>
              <a:rPr lang="en-IN" dirty="0"/>
              <a:t>You are not limited to just one resource type.</a:t>
            </a:r>
          </a:p>
          <a:p>
            <a:br>
              <a:rPr lang="en-IN" dirty="0"/>
            </a:br>
            <a:endParaRPr lang="en-IN" dirty="0"/>
          </a:p>
          <a:p>
            <a:r>
              <a:rPr lang="en-IN" dirty="0"/>
              <a:t>Now let's talk about management.</a:t>
            </a:r>
          </a:p>
          <a:p>
            <a:r>
              <a:rPr lang="en-IN" dirty="0"/>
              <a:t>Suppose you want to see all the resources used by one application.</a:t>
            </a:r>
          </a:p>
          <a:p>
            <a:r>
              <a:rPr lang="en-IN" dirty="0"/>
              <a:t>Instead of searching across the entire Azure Subscription...</a:t>
            </a:r>
          </a:p>
          <a:p>
            <a:r>
              <a:rPr lang="en-IN" dirty="0"/>
              <a:t>You simply open the Resource Group.</a:t>
            </a:r>
          </a:p>
          <a:p>
            <a:r>
              <a:rPr lang="en-IN" dirty="0"/>
              <a:t>Everything is there.</a:t>
            </a:r>
          </a:p>
          <a:p>
            <a:r>
              <a:rPr lang="en-IN" dirty="0"/>
              <a:t>This makes administration much easier.</a:t>
            </a:r>
          </a:p>
          <a:p>
            <a:br>
              <a:rPr lang="en-IN" dirty="0"/>
            </a:br>
            <a:endParaRPr lang="en-IN" dirty="0"/>
          </a:p>
          <a:p>
            <a:r>
              <a:rPr lang="en-IN" dirty="0"/>
              <a:t>Another benefit is permissions.</a:t>
            </a:r>
          </a:p>
          <a:p>
            <a:r>
              <a:rPr lang="en-IN" dirty="0"/>
              <a:t>Suppose admin1 manages the HR application.</a:t>
            </a:r>
          </a:p>
          <a:p>
            <a:r>
              <a:rPr lang="en-IN" dirty="0"/>
              <a:t>Admin2 manages the Finance application.</a:t>
            </a:r>
          </a:p>
          <a:p>
            <a:r>
              <a:rPr lang="en-IN" dirty="0"/>
              <a:t>You can give:</a:t>
            </a:r>
          </a:p>
          <a:p>
            <a:r>
              <a:rPr lang="en-IN" dirty="0"/>
              <a:t>Admin1 access only to the HR Resource Group. </a:t>
            </a:r>
          </a:p>
          <a:p>
            <a:r>
              <a:rPr lang="en-IN" dirty="0"/>
              <a:t>Admin2 access only to the Finance Resource Group. </a:t>
            </a:r>
          </a:p>
          <a:p>
            <a:r>
              <a:rPr lang="en-IN" dirty="0"/>
              <a:t>They won't be able to modify each other's resources.</a:t>
            </a:r>
          </a:p>
        </p:txBody>
      </p:sp>
      <p:sp>
        <p:nvSpPr>
          <p:cNvPr id="3" name="TextBox 2">
            <a:extLst>
              <a:ext uri="{FF2B5EF4-FFF2-40B4-BE49-F238E27FC236}">
                <a16:creationId xmlns:a16="http://schemas.microsoft.com/office/drawing/2014/main" id="{75032303-7D33-B772-BF52-BDD0762F488A}"/>
              </a:ext>
            </a:extLst>
          </p:cNvPr>
          <p:cNvSpPr txBox="1"/>
          <p:nvPr/>
        </p:nvSpPr>
        <p:spPr>
          <a:xfrm>
            <a:off x="10042358" y="236439"/>
            <a:ext cx="2149642" cy="369332"/>
          </a:xfrm>
          <a:prstGeom prst="rect">
            <a:avLst/>
          </a:prstGeom>
          <a:noFill/>
        </p:spPr>
        <p:txBody>
          <a:bodyPr wrap="square">
            <a:spAutoFit/>
          </a:bodyPr>
          <a:lstStyle/>
          <a:p>
            <a:r>
              <a:rPr lang="en-IN" b="1" dirty="0"/>
              <a:t>Resource Groups</a:t>
            </a:r>
            <a:endParaRPr lang="en-IN" dirty="0"/>
          </a:p>
        </p:txBody>
      </p:sp>
    </p:spTree>
    <p:extLst>
      <p:ext uri="{BB962C8B-B14F-4D97-AF65-F5344CB8AC3E}">
        <p14:creationId xmlns:p14="http://schemas.microsoft.com/office/powerpoint/2010/main" val="17500731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FD4F13-D808-187E-3283-306039C2F21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D44A6AB-7B67-B103-A9BF-CD7F6E9611F0}"/>
              </a:ext>
            </a:extLst>
          </p:cNvPr>
          <p:cNvSpPr txBox="1"/>
          <p:nvPr/>
        </p:nvSpPr>
        <p:spPr>
          <a:xfrm>
            <a:off x="681789" y="117693"/>
            <a:ext cx="11181348" cy="6463308"/>
          </a:xfrm>
          <a:prstGeom prst="rect">
            <a:avLst/>
          </a:prstGeom>
          <a:noFill/>
        </p:spPr>
        <p:txBody>
          <a:bodyPr wrap="square">
            <a:spAutoFit/>
          </a:bodyPr>
          <a:lstStyle/>
          <a:p>
            <a:r>
              <a:rPr lang="en-IN" dirty="0"/>
              <a:t>Let's look at a practical example.</a:t>
            </a:r>
          </a:p>
          <a:p>
            <a:r>
              <a:rPr lang="en-IN" dirty="0"/>
              <a:t>Suppose you're deploying a company website.</a:t>
            </a:r>
          </a:p>
          <a:p>
            <a:r>
              <a:rPr lang="en-IN" dirty="0"/>
              <a:t>You create:</a:t>
            </a:r>
          </a:p>
          <a:p>
            <a:r>
              <a:rPr lang="en-IN" b="1" dirty="0"/>
              <a:t>Subscription</a:t>
            </a:r>
            <a:endParaRPr lang="en-IN" dirty="0"/>
          </a:p>
          <a:p>
            <a:r>
              <a:rPr lang="en-IN" dirty="0"/>
              <a:t>↓</a:t>
            </a:r>
          </a:p>
          <a:p>
            <a:r>
              <a:rPr lang="en-IN" b="1" dirty="0"/>
              <a:t>Website-RG</a:t>
            </a:r>
            <a:endParaRPr lang="en-IN" dirty="0"/>
          </a:p>
          <a:p>
            <a:r>
              <a:rPr lang="en-IN" dirty="0"/>
              <a:t>↓</a:t>
            </a:r>
          </a:p>
          <a:p>
            <a:r>
              <a:rPr lang="en-IN" dirty="0"/>
              <a:t>Virtual Machine, Storage Account, Azure SQL Database, Virtual Network </a:t>
            </a:r>
          </a:p>
          <a:p>
            <a:r>
              <a:rPr lang="en-IN" dirty="0"/>
              <a:t>Load Balancer </a:t>
            </a:r>
          </a:p>
          <a:p>
            <a:r>
              <a:rPr lang="en-IN" dirty="0"/>
              <a:t>Key Vault </a:t>
            </a:r>
          </a:p>
          <a:p>
            <a:r>
              <a:rPr lang="en-IN" dirty="0"/>
              <a:t>Everything related to the website stays together.</a:t>
            </a:r>
          </a:p>
          <a:p>
            <a:r>
              <a:rPr lang="en-IN" dirty="0"/>
              <a:t>If another application is developed later...</a:t>
            </a:r>
          </a:p>
          <a:p>
            <a:r>
              <a:rPr lang="en-IN" dirty="0"/>
              <a:t>You simply create another Resource Group.</a:t>
            </a:r>
          </a:p>
          <a:p>
            <a:br>
              <a:rPr lang="en-IN" dirty="0"/>
            </a:br>
            <a:endParaRPr lang="en-IN" dirty="0"/>
          </a:p>
          <a:p>
            <a:r>
              <a:rPr lang="en-IN" b="1" dirty="0"/>
              <a:t>Now let's summarize the benefits.</a:t>
            </a:r>
          </a:p>
          <a:p>
            <a:r>
              <a:rPr lang="en-IN" dirty="0"/>
              <a:t>Resource Groups help you:</a:t>
            </a:r>
          </a:p>
          <a:p>
            <a:r>
              <a:rPr lang="en-IN" dirty="0"/>
              <a:t>Organize related Azure resources. </a:t>
            </a:r>
          </a:p>
          <a:p>
            <a:r>
              <a:rPr lang="en-IN" dirty="0"/>
              <a:t>Manage permissions easily. </a:t>
            </a:r>
          </a:p>
          <a:p>
            <a:r>
              <a:rPr lang="en-IN" dirty="0"/>
              <a:t>Monitor resources together. </a:t>
            </a:r>
          </a:p>
          <a:p>
            <a:r>
              <a:rPr lang="en-IN" dirty="0"/>
              <a:t>Deploy resources together. </a:t>
            </a:r>
          </a:p>
          <a:p>
            <a:r>
              <a:rPr lang="en-IN" dirty="0"/>
              <a:t>Delete resources together. </a:t>
            </a:r>
          </a:p>
          <a:p>
            <a:r>
              <a:rPr lang="en-IN" dirty="0"/>
              <a:t>Simplify administration. </a:t>
            </a:r>
          </a:p>
        </p:txBody>
      </p:sp>
      <p:sp>
        <p:nvSpPr>
          <p:cNvPr id="3" name="TextBox 2">
            <a:extLst>
              <a:ext uri="{FF2B5EF4-FFF2-40B4-BE49-F238E27FC236}">
                <a16:creationId xmlns:a16="http://schemas.microsoft.com/office/drawing/2014/main" id="{B13FF268-2787-2C11-2219-7E35DC005B7B}"/>
              </a:ext>
            </a:extLst>
          </p:cNvPr>
          <p:cNvSpPr txBox="1"/>
          <p:nvPr/>
        </p:nvSpPr>
        <p:spPr>
          <a:xfrm>
            <a:off x="10042358" y="236439"/>
            <a:ext cx="2149642" cy="369332"/>
          </a:xfrm>
          <a:prstGeom prst="rect">
            <a:avLst/>
          </a:prstGeom>
          <a:noFill/>
        </p:spPr>
        <p:txBody>
          <a:bodyPr wrap="square">
            <a:spAutoFit/>
          </a:bodyPr>
          <a:lstStyle/>
          <a:p>
            <a:r>
              <a:rPr lang="en-IN" b="1" dirty="0"/>
              <a:t>Resource Groups</a:t>
            </a:r>
            <a:endParaRPr lang="en-IN" dirty="0"/>
          </a:p>
        </p:txBody>
      </p:sp>
    </p:spTree>
    <p:extLst>
      <p:ext uri="{BB962C8B-B14F-4D97-AF65-F5344CB8AC3E}">
        <p14:creationId xmlns:p14="http://schemas.microsoft.com/office/powerpoint/2010/main" val="81968117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28350C-6960-02D8-CBBC-1E71696773E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5C36BAC-BBAC-4089-C0DA-5FAE277C0451}"/>
              </a:ext>
            </a:extLst>
          </p:cNvPr>
          <p:cNvSpPr txBox="1"/>
          <p:nvPr/>
        </p:nvSpPr>
        <p:spPr>
          <a:xfrm>
            <a:off x="681789" y="117693"/>
            <a:ext cx="11181348" cy="6186309"/>
          </a:xfrm>
          <a:prstGeom prst="rect">
            <a:avLst/>
          </a:prstGeom>
          <a:noFill/>
        </p:spPr>
        <p:txBody>
          <a:bodyPr wrap="square">
            <a:spAutoFit/>
          </a:bodyPr>
          <a:lstStyle/>
          <a:p>
            <a:r>
              <a:rPr lang="en-IN" b="1" dirty="0"/>
              <a:t>Easy Way to Remember</a:t>
            </a:r>
          </a:p>
          <a:p>
            <a:r>
              <a:rPr lang="en-IN" dirty="0"/>
              <a:t>Imagine you're building a house.</a:t>
            </a:r>
          </a:p>
          <a:p>
            <a:r>
              <a:rPr lang="en-IN" dirty="0"/>
              <a:t>You buy:</a:t>
            </a:r>
          </a:p>
          <a:p>
            <a:r>
              <a:rPr lang="en-IN" dirty="0"/>
              <a:t>Bricks </a:t>
            </a:r>
          </a:p>
          <a:p>
            <a:r>
              <a:rPr lang="en-IN" dirty="0"/>
              <a:t>Cement </a:t>
            </a:r>
          </a:p>
          <a:p>
            <a:r>
              <a:rPr lang="en-IN" dirty="0"/>
              <a:t>Steel </a:t>
            </a:r>
          </a:p>
          <a:p>
            <a:r>
              <a:rPr lang="en-IN" dirty="0"/>
              <a:t>Paint </a:t>
            </a:r>
          </a:p>
          <a:p>
            <a:r>
              <a:rPr lang="en-IN" dirty="0"/>
              <a:t>Doors </a:t>
            </a:r>
          </a:p>
          <a:p>
            <a:r>
              <a:rPr lang="en-IN" dirty="0"/>
              <a:t>Windows </a:t>
            </a:r>
          </a:p>
          <a:p>
            <a:r>
              <a:rPr lang="en-IN" dirty="0"/>
              <a:t>Instead of leaving these materials in different places...</a:t>
            </a:r>
          </a:p>
          <a:p>
            <a:r>
              <a:rPr lang="en-IN" dirty="0"/>
              <a:t>You keep everything at the construction site.</a:t>
            </a:r>
          </a:p>
          <a:p>
            <a:r>
              <a:rPr lang="en-IN" dirty="0"/>
              <a:t>The </a:t>
            </a:r>
            <a:r>
              <a:rPr lang="en-IN" b="1" dirty="0"/>
              <a:t>construction site</a:t>
            </a:r>
            <a:r>
              <a:rPr lang="en-IN" dirty="0"/>
              <a:t> is your </a:t>
            </a:r>
            <a:r>
              <a:rPr lang="en-IN" b="1" dirty="0"/>
              <a:t>Resource Group</a:t>
            </a:r>
            <a:r>
              <a:rPr lang="en-IN" dirty="0"/>
              <a:t>.</a:t>
            </a:r>
          </a:p>
          <a:p>
            <a:r>
              <a:rPr lang="en-IN" dirty="0"/>
              <a:t>The </a:t>
            </a:r>
            <a:r>
              <a:rPr lang="en-IN" b="1" dirty="0"/>
              <a:t>building materials</a:t>
            </a:r>
            <a:r>
              <a:rPr lang="en-IN" dirty="0"/>
              <a:t> are your Azure Resources.</a:t>
            </a:r>
          </a:p>
          <a:p>
            <a:r>
              <a:rPr lang="en-IN" dirty="0"/>
              <a:t>Everything needed for one project stays together.</a:t>
            </a:r>
          </a:p>
          <a:p>
            <a:r>
              <a:rPr lang="en-IN" b="1" dirty="0"/>
              <a:t>Quick Summary</a:t>
            </a:r>
          </a:p>
          <a:p>
            <a:r>
              <a:rPr lang="en-IN" dirty="0"/>
              <a:t>A Resource Group is a logical container for Azure resources. </a:t>
            </a:r>
          </a:p>
          <a:p>
            <a:r>
              <a:rPr lang="en-IN" dirty="0"/>
              <a:t>It holds related resources for an application or project. </a:t>
            </a:r>
          </a:p>
          <a:p>
            <a:r>
              <a:rPr lang="en-IN" dirty="0"/>
              <a:t>Every Azure resource belongs to one Resource Group. </a:t>
            </a:r>
          </a:p>
          <a:p>
            <a:r>
              <a:rPr lang="en-IN" dirty="0"/>
              <a:t>A Resource Group belongs to one Azure Subscription. </a:t>
            </a:r>
          </a:p>
          <a:p>
            <a:r>
              <a:rPr lang="en-IN" dirty="0"/>
              <a:t>It simplifies organization, permissions, deployment, monitoring, and deletion. </a:t>
            </a:r>
          </a:p>
          <a:p>
            <a:r>
              <a:rPr lang="en-IN" dirty="0"/>
              <a:t>Deleting a Resource Group deletes all resources inside it. </a:t>
            </a:r>
          </a:p>
          <a:p>
            <a:endParaRPr lang="en-IN" dirty="0"/>
          </a:p>
        </p:txBody>
      </p:sp>
      <p:sp>
        <p:nvSpPr>
          <p:cNvPr id="3" name="TextBox 2">
            <a:extLst>
              <a:ext uri="{FF2B5EF4-FFF2-40B4-BE49-F238E27FC236}">
                <a16:creationId xmlns:a16="http://schemas.microsoft.com/office/drawing/2014/main" id="{ED16E9F6-B793-0124-E409-939D44B7C089}"/>
              </a:ext>
            </a:extLst>
          </p:cNvPr>
          <p:cNvSpPr txBox="1"/>
          <p:nvPr/>
        </p:nvSpPr>
        <p:spPr>
          <a:xfrm>
            <a:off x="10042358" y="236439"/>
            <a:ext cx="2149642" cy="369332"/>
          </a:xfrm>
          <a:prstGeom prst="rect">
            <a:avLst/>
          </a:prstGeom>
          <a:noFill/>
        </p:spPr>
        <p:txBody>
          <a:bodyPr wrap="square">
            <a:spAutoFit/>
          </a:bodyPr>
          <a:lstStyle/>
          <a:p>
            <a:r>
              <a:rPr lang="en-IN" b="1" dirty="0"/>
              <a:t>Resource Groups</a:t>
            </a:r>
            <a:endParaRPr lang="en-IN" dirty="0"/>
          </a:p>
        </p:txBody>
      </p:sp>
    </p:spTree>
    <p:extLst>
      <p:ext uri="{BB962C8B-B14F-4D97-AF65-F5344CB8AC3E}">
        <p14:creationId xmlns:p14="http://schemas.microsoft.com/office/powerpoint/2010/main" val="412516375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48339F-F254-6C8E-06BE-90C263669E1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66883C8-8A7E-B327-AE71-52DA64ADA083}"/>
              </a:ext>
            </a:extLst>
          </p:cNvPr>
          <p:cNvSpPr txBox="1"/>
          <p:nvPr/>
        </p:nvSpPr>
        <p:spPr>
          <a:xfrm>
            <a:off x="681789" y="117693"/>
            <a:ext cx="11181348" cy="5355312"/>
          </a:xfrm>
          <a:prstGeom prst="rect">
            <a:avLst/>
          </a:prstGeom>
          <a:noFill/>
        </p:spPr>
        <p:txBody>
          <a:bodyPr wrap="square">
            <a:spAutoFit/>
          </a:bodyPr>
          <a:lstStyle/>
          <a:p>
            <a:r>
              <a:rPr lang="en-IN" b="1" dirty="0"/>
              <a:t>JSON</a:t>
            </a:r>
          </a:p>
          <a:p>
            <a:r>
              <a:rPr lang="en-IN" b="1" dirty="0"/>
              <a:t>Even simpler (classroom style)</a:t>
            </a:r>
          </a:p>
          <a:p>
            <a:r>
              <a:rPr lang="en-IN" dirty="0"/>
              <a:t>The browser asks for some data. </a:t>
            </a:r>
          </a:p>
          <a:p>
            <a:r>
              <a:rPr lang="en-IN" dirty="0"/>
              <a:t>The web server receives the request. </a:t>
            </a:r>
          </a:p>
          <a:p>
            <a:r>
              <a:rPr lang="en-IN" dirty="0"/>
              <a:t>The web server reads the data from the database. </a:t>
            </a:r>
          </a:p>
          <a:p>
            <a:r>
              <a:rPr lang="en-IN" dirty="0"/>
              <a:t>The server sends the data back as </a:t>
            </a:r>
            <a:r>
              <a:rPr lang="en-IN" b="1" dirty="0"/>
              <a:t>JSON</a:t>
            </a:r>
            <a:r>
              <a:rPr lang="en-IN" dirty="0"/>
              <a:t>. </a:t>
            </a:r>
          </a:p>
          <a:p>
            <a:r>
              <a:rPr lang="en-IN" dirty="0"/>
              <a:t>The browser reads the JSON and displays it on the screen. </a:t>
            </a:r>
          </a:p>
          <a:p>
            <a:r>
              <a:rPr lang="en-IN" b="1" dirty="0"/>
              <a:t>What is JSON?</a:t>
            </a:r>
          </a:p>
          <a:p>
            <a:r>
              <a:rPr lang="en-IN" b="1" dirty="0"/>
              <a:t>JSON is a simple text format used to exchange data between two computers. It organizes data into "name : value" pairs, making it easy for both humans and programs to read.</a:t>
            </a:r>
            <a:endParaRPr lang="en-IN" dirty="0"/>
          </a:p>
          <a:p>
            <a:r>
              <a:rPr lang="en-IN" b="1" dirty="0"/>
              <a:t>Why do we use JSON?</a:t>
            </a:r>
          </a:p>
          <a:p>
            <a:r>
              <a:rPr lang="en-IN" dirty="0"/>
              <a:t>✅ It is easy for computers to read. </a:t>
            </a:r>
          </a:p>
          <a:p>
            <a:r>
              <a:rPr lang="en-IN" dirty="0"/>
              <a:t>✅ It is easy for developers to understand. </a:t>
            </a:r>
          </a:p>
          <a:p>
            <a:r>
              <a:rPr lang="en-IN" dirty="0"/>
              <a:t>✅ It is smaller and faster than many older data formats. </a:t>
            </a:r>
          </a:p>
          <a:p>
            <a:r>
              <a:rPr lang="en-IN" dirty="0"/>
              <a:t>✅ Almost every programming language can work with JSON. </a:t>
            </a:r>
          </a:p>
          <a:p>
            <a:r>
              <a:rPr lang="en-IN" dirty="0"/>
              <a:t>✅ REST APIs use JSON as the standard way to exchange data.</a:t>
            </a:r>
          </a:p>
          <a:p>
            <a:endParaRPr lang="en-IN" dirty="0"/>
          </a:p>
          <a:p>
            <a:r>
              <a:rPr lang="en-IN" dirty="0"/>
              <a:t>The database stores the data. The web server fetches it, converts it into JSON, and sends it to the browser because JSON is a simple, standard format that both the server and the browser understand.</a:t>
            </a:r>
          </a:p>
        </p:txBody>
      </p:sp>
      <p:sp>
        <p:nvSpPr>
          <p:cNvPr id="3" name="TextBox 2">
            <a:extLst>
              <a:ext uri="{FF2B5EF4-FFF2-40B4-BE49-F238E27FC236}">
                <a16:creationId xmlns:a16="http://schemas.microsoft.com/office/drawing/2014/main" id="{586EE2BD-9EB7-EF37-AB82-02A68F144D63}"/>
              </a:ext>
            </a:extLst>
          </p:cNvPr>
          <p:cNvSpPr txBox="1"/>
          <p:nvPr/>
        </p:nvSpPr>
        <p:spPr>
          <a:xfrm>
            <a:off x="10403305" y="117693"/>
            <a:ext cx="1307432" cy="369332"/>
          </a:xfrm>
          <a:prstGeom prst="rect">
            <a:avLst/>
          </a:prstGeom>
          <a:noFill/>
        </p:spPr>
        <p:txBody>
          <a:bodyPr wrap="square">
            <a:spAutoFit/>
          </a:bodyPr>
          <a:lstStyle/>
          <a:p>
            <a:r>
              <a:rPr lang="en-IN" b="1" dirty="0"/>
              <a:t>JSON</a:t>
            </a:r>
          </a:p>
        </p:txBody>
      </p:sp>
    </p:spTree>
    <p:extLst>
      <p:ext uri="{BB962C8B-B14F-4D97-AF65-F5344CB8AC3E}">
        <p14:creationId xmlns:p14="http://schemas.microsoft.com/office/powerpoint/2010/main" val="2237320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6BF200-10AF-F552-0C6C-1CB8B687C76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8385DB8-7331-C31C-C857-AFC11BE709FE}"/>
              </a:ext>
            </a:extLst>
          </p:cNvPr>
          <p:cNvSpPr txBox="1"/>
          <p:nvPr/>
        </p:nvSpPr>
        <p:spPr>
          <a:xfrm>
            <a:off x="681789" y="117693"/>
            <a:ext cx="11181348" cy="369332"/>
          </a:xfrm>
          <a:prstGeom prst="rect">
            <a:avLst/>
          </a:prstGeom>
          <a:noFill/>
        </p:spPr>
        <p:txBody>
          <a:bodyPr wrap="square">
            <a:spAutoFit/>
          </a:bodyPr>
          <a:lstStyle/>
          <a:p>
            <a:r>
              <a:rPr lang="en-IN" b="1" dirty="0"/>
              <a:t>JSON</a:t>
            </a:r>
          </a:p>
        </p:txBody>
      </p:sp>
      <p:graphicFrame>
        <p:nvGraphicFramePr>
          <p:cNvPr id="6" name="Table 5">
            <a:extLst>
              <a:ext uri="{FF2B5EF4-FFF2-40B4-BE49-F238E27FC236}">
                <a16:creationId xmlns:a16="http://schemas.microsoft.com/office/drawing/2014/main" id="{A7FE9D55-8133-943B-47B4-10D970E9322A}"/>
              </a:ext>
            </a:extLst>
          </p:cNvPr>
          <p:cNvGraphicFramePr>
            <a:graphicFrameLocks noGrp="1"/>
          </p:cNvGraphicFramePr>
          <p:nvPr>
            <p:extLst>
              <p:ext uri="{D42A27DB-BD31-4B8C-83A1-F6EECF244321}">
                <p14:modId xmlns:p14="http://schemas.microsoft.com/office/powerpoint/2010/main" val="1434617375"/>
              </p:ext>
            </p:extLst>
          </p:nvPr>
        </p:nvGraphicFramePr>
        <p:xfrm>
          <a:off x="2474494" y="2777096"/>
          <a:ext cx="7884696" cy="1097280"/>
        </p:xfrm>
        <a:graphic>
          <a:graphicData uri="http://schemas.openxmlformats.org/drawingml/2006/table">
            <a:tbl>
              <a:tblPr/>
              <a:tblGrid>
                <a:gridCol w="2628232">
                  <a:extLst>
                    <a:ext uri="{9D8B030D-6E8A-4147-A177-3AD203B41FA5}">
                      <a16:colId xmlns:a16="http://schemas.microsoft.com/office/drawing/2014/main" val="1173491334"/>
                    </a:ext>
                  </a:extLst>
                </a:gridCol>
                <a:gridCol w="2628232">
                  <a:extLst>
                    <a:ext uri="{9D8B030D-6E8A-4147-A177-3AD203B41FA5}">
                      <a16:colId xmlns:a16="http://schemas.microsoft.com/office/drawing/2014/main" val="4043762667"/>
                    </a:ext>
                  </a:extLst>
                </a:gridCol>
                <a:gridCol w="2628232">
                  <a:extLst>
                    <a:ext uri="{9D8B030D-6E8A-4147-A177-3AD203B41FA5}">
                      <a16:colId xmlns:a16="http://schemas.microsoft.com/office/drawing/2014/main" val="774372139"/>
                    </a:ext>
                  </a:extLst>
                </a:gridCol>
              </a:tblGrid>
              <a:tr h="0">
                <a:tc>
                  <a:txBody>
                    <a:bodyPr/>
                    <a:lstStyle/>
                    <a:p>
                      <a:pPr>
                        <a:buNone/>
                      </a:pPr>
                      <a:r>
                        <a:rPr lang="en-IN" dirty="0"/>
                        <a:t>Id</a:t>
                      </a:r>
                    </a:p>
                  </a:txBody>
                  <a:tcPr anchor="ctr">
                    <a:lnL>
                      <a:noFill/>
                    </a:lnL>
                    <a:lnR>
                      <a:noFill/>
                    </a:lnR>
                    <a:lnT>
                      <a:noFill/>
                    </a:lnT>
                    <a:lnB>
                      <a:noFill/>
                    </a:lnB>
                    <a:noFill/>
                  </a:tcPr>
                </a:tc>
                <a:tc>
                  <a:txBody>
                    <a:bodyPr/>
                    <a:lstStyle/>
                    <a:p>
                      <a:pPr>
                        <a:buNone/>
                      </a:pPr>
                      <a:r>
                        <a:rPr lang="en-IN"/>
                        <a:t>Name</a:t>
                      </a:r>
                    </a:p>
                  </a:txBody>
                  <a:tcPr anchor="ctr">
                    <a:lnL>
                      <a:noFill/>
                    </a:lnL>
                    <a:lnR>
                      <a:noFill/>
                    </a:lnR>
                    <a:lnT>
                      <a:noFill/>
                    </a:lnT>
                    <a:lnB>
                      <a:noFill/>
                    </a:lnB>
                    <a:noFill/>
                  </a:tcPr>
                </a:tc>
                <a:tc>
                  <a:txBody>
                    <a:bodyPr/>
                    <a:lstStyle/>
                    <a:p>
                      <a:pPr>
                        <a:buNone/>
                      </a:pPr>
                      <a:r>
                        <a:rPr lang="en-IN"/>
                        <a:t>Price</a:t>
                      </a:r>
                    </a:p>
                  </a:txBody>
                  <a:tcPr anchor="ctr">
                    <a:lnL>
                      <a:noFill/>
                    </a:lnL>
                    <a:lnR>
                      <a:noFill/>
                    </a:lnR>
                    <a:lnT>
                      <a:noFill/>
                    </a:lnT>
                    <a:lnB>
                      <a:noFill/>
                    </a:lnB>
                    <a:noFill/>
                  </a:tcPr>
                </a:tc>
                <a:extLst>
                  <a:ext uri="{0D108BD9-81ED-4DB2-BD59-A6C34878D82A}">
                    <a16:rowId xmlns:a16="http://schemas.microsoft.com/office/drawing/2014/main" val="3262483883"/>
                  </a:ext>
                </a:extLst>
              </a:tr>
              <a:tr h="0">
                <a:tc>
                  <a:txBody>
                    <a:bodyPr/>
                    <a:lstStyle/>
                    <a:p>
                      <a:pPr>
                        <a:buNone/>
                      </a:pPr>
                      <a:r>
                        <a:rPr lang="en-IN"/>
                        <a:t>1</a:t>
                      </a:r>
                    </a:p>
                  </a:txBody>
                  <a:tcPr anchor="ctr">
                    <a:lnL>
                      <a:noFill/>
                    </a:lnL>
                    <a:lnR>
                      <a:noFill/>
                    </a:lnR>
                    <a:lnT>
                      <a:noFill/>
                    </a:lnT>
                    <a:lnB>
                      <a:noFill/>
                    </a:lnB>
                    <a:noFill/>
                  </a:tcPr>
                </a:tc>
                <a:tc>
                  <a:txBody>
                    <a:bodyPr/>
                    <a:lstStyle/>
                    <a:p>
                      <a:pPr>
                        <a:buNone/>
                      </a:pPr>
                      <a:r>
                        <a:rPr lang="en-IN"/>
                        <a:t>Laptop</a:t>
                      </a:r>
                    </a:p>
                  </a:txBody>
                  <a:tcPr anchor="ctr">
                    <a:lnL>
                      <a:noFill/>
                    </a:lnL>
                    <a:lnR>
                      <a:noFill/>
                    </a:lnR>
                    <a:lnT>
                      <a:noFill/>
                    </a:lnT>
                    <a:lnB>
                      <a:noFill/>
                    </a:lnB>
                    <a:noFill/>
                  </a:tcPr>
                </a:tc>
                <a:tc>
                  <a:txBody>
                    <a:bodyPr/>
                    <a:lstStyle/>
                    <a:p>
                      <a:pPr>
                        <a:buNone/>
                      </a:pPr>
                      <a:r>
                        <a:rPr lang="en-IN"/>
                        <a:t>50000</a:t>
                      </a:r>
                    </a:p>
                  </a:txBody>
                  <a:tcPr anchor="ctr">
                    <a:lnL>
                      <a:noFill/>
                    </a:lnL>
                    <a:lnR>
                      <a:noFill/>
                    </a:lnR>
                    <a:lnT>
                      <a:noFill/>
                    </a:lnT>
                    <a:lnB>
                      <a:noFill/>
                    </a:lnB>
                    <a:noFill/>
                  </a:tcPr>
                </a:tc>
                <a:extLst>
                  <a:ext uri="{0D108BD9-81ED-4DB2-BD59-A6C34878D82A}">
                    <a16:rowId xmlns:a16="http://schemas.microsoft.com/office/drawing/2014/main" val="2096204715"/>
                  </a:ext>
                </a:extLst>
              </a:tr>
              <a:tr h="0">
                <a:tc>
                  <a:txBody>
                    <a:bodyPr/>
                    <a:lstStyle/>
                    <a:p>
                      <a:pPr>
                        <a:buNone/>
                      </a:pPr>
                      <a:r>
                        <a:rPr lang="en-IN"/>
                        <a:t>2</a:t>
                      </a:r>
                    </a:p>
                  </a:txBody>
                  <a:tcPr anchor="ctr">
                    <a:lnL>
                      <a:noFill/>
                    </a:lnL>
                    <a:lnR>
                      <a:noFill/>
                    </a:lnR>
                    <a:lnT>
                      <a:noFill/>
                    </a:lnT>
                    <a:lnB>
                      <a:noFill/>
                    </a:lnB>
                    <a:noFill/>
                  </a:tcPr>
                </a:tc>
                <a:tc>
                  <a:txBody>
                    <a:bodyPr/>
                    <a:lstStyle/>
                    <a:p>
                      <a:pPr>
                        <a:buNone/>
                      </a:pPr>
                      <a:r>
                        <a:rPr lang="en-IN"/>
                        <a:t>Mouse</a:t>
                      </a:r>
                    </a:p>
                  </a:txBody>
                  <a:tcPr anchor="ctr">
                    <a:lnL>
                      <a:noFill/>
                    </a:lnL>
                    <a:lnR>
                      <a:noFill/>
                    </a:lnR>
                    <a:lnT>
                      <a:noFill/>
                    </a:lnT>
                    <a:lnB>
                      <a:noFill/>
                    </a:lnB>
                    <a:noFill/>
                  </a:tcPr>
                </a:tc>
                <a:tc>
                  <a:txBody>
                    <a:bodyPr/>
                    <a:lstStyle/>
                    <a:p>
                      <a:pPr>
                        <a:buNone/>
                      </a:pPr>
                      <a:r>
                        <a:rPr lang="en-IN" dirty="0"/>
                        <a:t>500</a:t>
                      </a:r>
                    </a:p>
                  </a:txBody>
                  <a:tcPr anchor="ctr">
                    <a:lnL>
                      <a:noFill/>
                    </a:lnL>
                    <a:lnR>
                      <a:noFill/>
                    </a:lnR>
                    <a:lnT>
                      <a:noFill/>
                    </a:lnT>
                    <a:lnB>
                      <a:noFill/>
                    </a:lnB>
                    <a:noFill/>
                  </a:tcPr>
                </a:tc>
                <a:extLst>
                  <a:ext uri="{0D108BD9-81ED-4DB2-BD59-A6C34878D82A}">
                    <a16:rowId xmlns:a16="http://schemas.microsoft.com/office/drawing/2014/main" val="2118484930"/>
                  </a:ext>
                </a:extLst>
              </a:tr>
            </a:tbl>
          </a:graphicData>
        </a:graphic>
      </p:graphicFrame>
      <p:sp>
        <p:nvSpPr>
          <p:cNvPr id="8" name="TextBox 7">
            <a:extLst>
              <a:ext uri="{FF2B5EF4-FFF2-40B4-BE49-F238E27FC236}">
                <a16:creationId xmlns:a16="http://schemas.microsoft.com/office/drawing/2014/main" id="{B5D729D8-205A-9878-C805-9B5F2BCF5ABE}"/>
              </a:ext>
            </a:extLst>
          </p:cNvPr>
          <p:cNvSpPr txBox="1"/>
          <p:nvPr/>
        </p:nvSpPr>
        <p:spPr>
          <a:xfrm>
            <a:off x="3368842" y="-32578"/>
            <a:ext cx="6096000" cy="7294305"/>
          </a:xfrm>
          <a:prstGeom prst="rect">
            <a:avLst/>
          </a:prstGeom>
          <a:noFill/>
        </p:spPr>
        <p:txBody>
          <a:bodyPr wrap="square">
            <a:spAutoFit/>
          </a:bodyPr>
          <a:lstStyle/>
          <a:p>
            <a:pPr>
              <a:buFont typeface="+mj-lt"/>
              <a:buAutoNum type="arabicPeriod"/>
            </a:pPr>
            <a:r>
              <a:rPr lang="en-IN" b="1" dirty="0"/>
              <a:t>Browser → Web Server</a:t>
            </a:r>
            <a:r>
              <a:rPr lang="en-IN" dirty="0"/>
              <a:t> </a:t>
            </a:r>
          </a:p>
          <a:p>
            <a:pPr marL="742950" lvl="1" indent="-285750">
              <a:buFont typeface="+mj-lt"/>
              <a:buAutoNum type="arabicPeriod"/>
            </a:pPr>
            <a:r>
              <a:rPr lang="en-IN" dirty="0"/>
              <a:t>Sends an HTTP request. </a:t>
            </a:r>
          </a:p>
          <a:p>
            <a:pPr lvl="1"/>
            <a:r>
              <a:rPr lang="en-IN" dirty="0"/>
              <a:t>Example:</a:t>
            </a:r>
          </a:p>
          <a:p>
            <a:pPr lvl="1" rtl="0"/>
            <a:r>
              <a:rPr lang="en-IN" dirty="0">
                <a:latin typeface="Courier New" panose="02070309020205020404" pitchFamily="49" charset="0"/>
              </a:rPr>
              <a:t>GET /</a:t>
            </a:r>
            <a:r>
              <a:rPr lang="en-IN" dirty="0" err="1">
                <a:latin typeface="Courier New" panose="02070309020205020404" pitchFamily="49" charset="0"/>
              </a:rPr>
              <a:t>api</a:t>
            </a:r>
            <a:r>
              <a:rPr lang="en-IN" dirty="0">
                <a:latin typeface="Courier New" panose="02070309020205020404" pitchFamily="49" charset="0"/>
              </a:rPr>
              <a:t>/products</a:t>
            </a:r>
          </a:p>
          <a:p>
            <a:pPr>
              <a:buFont typeface="+mj-lt"/>
              <a:buAutoNum type="arabicPeriod"/>
            </a:pPr>
            <a:r>
              <a:rPr lang="en-IN" b="1" dirty="0"/>
              <a:t>Web Server → Database</a:t>
            </a:r>
            <a:r>
              <a:rPr lang="en-IN" dirty="0"/>
              <a:t> </a:t>
            </a:r>
          </a:p>
          <a:p>
            <a:pPr marL="742950" lvl="1" indent="-285750">
              <a:buFont typeface="+mj-lt"/>
              <a:buAutoNum type="arabicPeriod"/>
            </a:pPr>
            <a:r>
              <a:rPr lang="en-IN" dirty="0"/>
              <a:t>Sends an SQL query. </a:t>
            </a:r>
          </a:p>
          <a:p>
            <a:pPr marL="742950" lvl="1" indent="-285750">
              <a:buFont typeface="+mj-lt"/>
              <a:buAutoNum type="arabicPeriod"/>
            </a:pPr>
            <a:r>
              <a:rPr lang="en-IN" dirty="0"/>
              <a:t>Example:</a:t>
            </a:r>
          </a:p>
          <a:p>
            <a:pPr marL="742950" lvl="1" indent="-285750" rtl="0">
              <a:buFont typeface="+mj-lt"/>
              <a:buAutoNum type="arabicPeriod"/>
            </a:pPr>
            <a:r>
              <a:rPr lang="en-IN" dirty="0">
                <a:latin typeface="Courier New" panose="02070309020205020404" pitchFamily="49" charset="0"/>
              </a:rPr>
              <a:t>SELECT * FROM Products;</a:t>
            </a:r>
          </a:p>
          <a:p>
            <a:pPr>
              <a:buFont typeface="+mj-lt"/>
              <a:buAutoNum type="arabicPeriod"/>
            </a:pPr>
            <a:r>
              <a:rPr lang="en-IN" b="1" dirty="0"/>
              <a:t>Database → Web Server</a:t>
            </a:r>
            <a:endParaRPr lang="en-IN" dirty="0"/>
          </a:p>
          <a:p>
            <a:pPr marL="742950" lvl="1" indent="-285750">
              <a:buFont typeface="+mj-lt"/>
              <a:buAutoNum type="arabicPeriod"/>
            </a:pPr>
            <a:r>
              <a:rPr lang="en-IN" dirty="0"/>
              <a:t>Returns rows of data. </a:t>
            </a:r>
          </a:p>
          <a:p>
            <a:pPr>
              <a:buFont typeface="+mj-lt"/>
              <a:buAutoNum type="arabicPeriod"/>
            </a:pPr>
            <a:endParaRPr lang="en-IN" b="1" dirty="0"/>
          </a:p>
          <a:p>
            <a:pPr>
              <a:buFont typeface="+mj-lt"/>
              <a:buAutoNum type="arabicPeriod"/>
            </a:pPr>
            <a:endParaRPr lang="en-IN" b="1" dirty="0"/>
          </a:p>
          <a:p>
            <a:pPr>
              <a:buFont typeface="+mj-lt"/>
              <a:buAutoNum type="arabicPeriod"/>
            </a:pPr>
            <a:endParaRPr lang="en-IN" b="1" dirty="0"/>
          </a:p>
          <a:p>
            <a:pPr>
              <a:buFont typeface="+mj-lt"/>
              <a:buAutoNum type="arabicPeriod"/>
            </a:pPr>
            <a:endParaRPr lang="en-IN" b="1" dirty="0"/>
          </a:p>
          <a:p>
            <a:pPr>
              <a:buFont typeface="+mj-lt"/>
              <a:buAutoNum type="arabicPeriod"/>
            </a:pPr>
            <a:endParaRPr lang="en-IN" b="1" dirty="0"/>
          </a:p>
          <a:p>
            <a:pPr>
              <a:buFont typeface="+mj-lt"/>
              <a:buAutoNum type="arabicPeriod"/>
            </a:pPr>
            <a:r>
              <a:rPr lang="en-IN" b="1" dirty="0"/>
              <a:t>Web Server → Browser</a:t>
            </a:r>
            <a:endParaRPr lang="en-IN" dirty="0"/>
          </a:p>
          <a:p>
            <a:pPr marL="742950" lvl="1" indent="-285750">
              <a:buFont typeface="+mj-lt"/>
              <a:buAutoNum type="arabicPeriod"/>
            </a:pPr>
            <a:r>
              <a:rPr lang="en-IN" dirty="0"/>
              <a:t>Converts the database rows into JSON. </a:t>
            </a:r>
          </a:p>
          <a:p>
            <a:pPr rtl="0">
              <a:buFont typeface="+mj-lt"/>
              <a:buAutoNum type="arabicPeriod"/>
            </a:pPr>
            <a:r>
              <a:rPr lang="en-IN" dirty="0">
                <a:latin typeface="Courier New" panose="02070309020205020404" pitchFamily="49" charset="0"/>
              </a:rPr>
              <a:t>{</a:t>
            </a:r>
          </a:p>
          <a:p>
            <a:pPr rtl="0">
              <a:buFont typeface="+mj-lt"/>
              <a:buAutoNum type="arabicPeriod"/>
            </a:pPr>
            <a:r>
              <a:rPr lang="en-IN" dirty="0">
                <a:latin typeface="Courier New" panose="02070309020205020404" pitchFamily="49" charset="0"/>
              </a:rPr>
              <a:t>  "id": 1,</a:t>
            </a:r>
          </a:p>
          <a:p>
            <a:pPr rtl="0">
              <a:buFont typeface="+mj-lt"/>
              <a:buAutoNum type="arabicPeriod"/>
            </a:pPr>
            <a:r>
              <a:rPr lang="en-IN" dirty="0">
                <a:latin typeface="Courier New" panose="02070309020205020404" pitchFamily="49" charset="0"/>
              </a:rPr>
              <a:t>  "name": "Laptop",</a:t>
            </a:r>
          </a:p>
          <a:p>
            <a:pPr rtl="0">
              <a:buFont typeface="+mj-lt"/>
              <a:buAutoNum type="arabicPeriod"/>
            </a:pPr>
            <a:r>
              <a:rPr lang="en-IN" dirty="0">
                <a:latin typeface="Courier New" panose="02070309020205020404" pitchFamily="49" charset="0"/>
              </a:rPr>
              <a:t>  "price": 50000</a:t>
            </a:r>
          </a:p>
          <a:p>
            <a:pPr rtl="0">
              <a:buFont typeface="+mj-lt"/>
              <a:buAutoNum type="arabicPeriod"/>
            </a:pPr>
            <a:r>
              <a:rPr lang="en-IN" dirty="0">
                <a:latin typeface="Courier New" panose="02070309020205020404" pitchFamily="49" charset="0"/>
              </a:rPr>
              <a:t>}</a:t>
            </a:r>
          </a:p>
          <a:p>
            <a:pPr>
              <a:buFont typeface="+mj-lt"/>
              <a:buAutoNum type="arabicPeriod"/>
            </a:pPr>
            <a:r>
              <a:rPr lang="en-IN" b="1" dirty="0"/>
              <a:t>Browser</a:t>
            </a:r>
            <a:r>
              <a:rPr lang="en-IN" dirty="0"/>
              <a:t> </a:t>
            </a:r>
          </a:p>
          <a:p>
            <a:pPr marL="742950" lvl="1" indent="-285750">
              <a:buFont typeface="+mj-lt"/>
              <a:buAutoNum type="arabicPeriod"/>
            </a:pPr>
            <a:r>
              <a:rPr lang="en-IN" dirty="0"/>
              <a:t>Reads the JSON. </a:t>
            </a:r>
          </a:p>
          <a:p>
            <a:pPr marL="742950" lvl="1" indent="-285750">
              <a:buFont typeface="+mj-lt"/>
              <a:buAutoNum type="arabicPeriod"/>
            </a:pPr>
            <a:r>
              <a:rPr lang="en-IN" dirty="0"/>
              <a:t>Displays it as a web page or in your application. </a:t>
            </a:r>
          </a:p>
        </p:txBody>
      </p:sp>
      <p:sp>
        <p:nvSpPr>
          <p:cNvPr id="10" name="TextBox 9">
            <a:extLst>
              <a:ext uri="{FF2B5EF4-FFF2-40B4-BE49-F238E27FC236}">
                <a16:creationId xmlns:a16="http://schemas.microsoft.com/office/drawing/2014/main" id="{6E812E62-A2E2-CF3F-55CD-7D733A3B8F8B}"/>
              </a:ext>
            </a:extLst>
          </p:cNvPr>
          <p:cNvSpPr txBox="1"/>
          <p:nvPr/>
        </p:nvSpPr>
        <p:spPr>
          <a:xfrm>
            <a:off x="10772274" y="117693"/>
            <a:ext cx="898358" cy="369332"/>
          </a:xfrm>
          <a:prstGeom prst="rect">
            <a:avLst/>
          </a:prstGeom>
          <a:noFill/>
        </p:spPr>
        <p:txBody>
          <a:bodyPr wrap="square">
            <a:spAutoFit/>
          </a:bodyPr>
          <a:lstStyle/>
          <a:p>
            <a:r>
              <a:rPr lang="en-IN" b="1" dirty="0"/>
              <a:t>JSON</a:t>
            </a:r>
          </a:p>
        </p:txBody>
      </p:sp>
    </p:spTree>
    <p:extLst>
      <p:ext uri="{BB962C8B-B14F-4D97-AF65-F5344CB8AC3E}">
        <p14:creationId xmlns:p14="http://schemas.microsoft.com/office/powerpoint/2010/main" val="83267145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593EC6-1CBD-2B1F-ECD5-531328FA5448}"/>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E0BCF5A-3125-3E8D-1096-81C1BEA749E6}"/>
              </a:ext>
            </a:extLst>
          </p:cNvPr>
          <p:cNvSpPr txBox="1"/>
          <p:nvPr/>
        </p:nvSpPr>
        <p:spPr>
          <a:xfrm>
            <a:off x="681789" y="117693"/>
            <a:ext cx="11181348" cy="6463308"/>
          </a:xfrm>
          <a:prstGeom prst="rect">
            <a:avLst/>
          </a:prstGeom>
          <a:noFill/>
        </p:spPr>
        <p:txBody>
          <a:bodyPr wrap="square">
            <a:spAutoFit/>
          </a:bodyPr>
          <a:lstStyle/>
          <a:p>
            <a:r>
              <a:rPr lang="en-IN" b="1" dirty="0"/>
              <a:t>JSON</a:t>
            </a:r>
          </a:p>
          <a:p>
            <a:r>
              <a:rPr lang="en-IN" dirty="0"/>
              <a:t>why brackets in Json, why not simple plain English</a:t>
            </a:r>
          </a:p>
          <a:p>
            <a:r>
              <a:rPr lang="en-IN" dirty="0"/>
              <a:t>This is one of the best beginner questions. The answer is </a:t>
            </a:r>
            <a:r>
              <a:rPr lang="en-IN" b="1" dirty="0"/>
              <a:t>because computers need structure, not just words.</a:t>
            </a:r>
          </a:p>
          <a:p>
            <a:r>
              <a:rPr lang="en-IN" b="1" dirty="0"/>
              <a:t>Imagine the server sends plain English</a:t>
            </a:r>
          </a:p>
          <a:p>
            <a:r>
              <a:rPr lang="en-IN" dirty="0"/>
              <a:t>Product is Laptop. </a:t>
            </a:r>
          </a:p>
          <a:p>
            <a:r>
              <a:rPr lang="en-IN" dirty="0"/>
              <a:t>Price is 50000.</a:t>
            </a:r>
          </a:p>
          <a:p>
            <a:r>
              <a:rPr lang="en-IN" dirty="0"/>
              <a:t>Category is Electronics.</a:t>
            </a:r>
          </a:p>
          <a:p>
            <a:r>
              <a:rPr lang="en-IN" dirty="0"/>
              <a:t>A human understands this immediately. But a computer has questions: Which word is the product name? </a:t>
            </a:r>
          </a:p>
          <a:p>
            <a:r>
              <a:rPr lang="en-IN" dirty="0"/>
              <a:t>Is </a:t>
            </a:r>
            <a:r>
              <a:rPr lang="en-IN" b="1" dirty="0"/>
              <a:t>50000</a:t>
            </a:r>
            <a:r>
              <a:rPr lang="en-IN" dirty="0"/>
              <a:t> the price or the product ID? What if the sentence changes? </a:t>
            </a:r>
          </a:p>
          <a:p>
            <a:r>
              <a:rPr lang="en-IN" dirty="0"/>
              <a:t>For example:</a:t>
            </a:r>
          </a:p>
          <a:p>
            <a:r>
              <a:rPr lang="en-IN" dirty="0"/>
              <a:t>Laptop costs 50000.</a:t>
            </a:r>
          </a:p>
          <a:p>
            <a:r>
              <a:rPr lang="en-IN" dirty="0"/>
              <a:t>or</a:t>
            </a:r>
          </a:p>
          <a:p>
            <a:r>
              <a:rPr lang="en-IN" dirty="0"/>
              <a:t>The price of Laptop is 50000.</a:t>
            </a:r>
          </a:p>
          <a:p>
            <a:r>
              <a:rPr lang="en-IN" dirty="0"/>
              <a:t>The meaning is the same for us, but now the computer has to understand different sentence structures.</a:t>
            </a:r>
          </a:p>
          <a:p>
            <a:br>
              <a:rPr lang="en-IN" dirty="0"/>
            </a:br>
            <a:endParaRPr lang="en-IN" dirty="0"/>
          </a:p>
          <a:p>
            <a:r>
              <a:rPr lang="en-IN" b="1" dirty="0"/>
              <a:t>JSON gives every value a label</a:t>
            </a:r>
          </a:p>
          <a:p>
            <a:r>
              <a:rPr lang="en-IN" dirty="0"/>
              <a:t>{</a:t>
            </a:r>
          </a:p>
          <a:p>
            <a:r>
              <a:rPr lang="en-IN" dirty="0"/>
              <a:t>  "name": "Laptop",</a:t>
            </a:r>
          </a:p>
          <a:p>
            <a:r>
              <a:rPr lang="en-IN" dirty="0"/>
              <a:t>  "price": 50000,</a:t>
            </a:r>
          </a:p>
          <a:p>
            <a:r>
              <a:rPr lang="en-IN" dirty="0"/>
              <a:t>  "category": "Electronics"</a:t>
            </a:r>
          </a:p>
          <a:p>
            <a:r>
              <a:rPr lang="en-IN" dirty="0"/>
              <a:t>}</a:t>
            </a:r>
          </a:p>
          <a:p>
            <a:endParaRPr lang="en-IN" dirty="0"/>
          </a:p>
        </p:txBody>
      </p:sp>
      <p:sp>
        <p:nvSpPr>
          <p:cNvPr id="3" name="TextBox 2">
            <a:extLst>
              <a:ext uri="{FF2B5EF4-FFF2-40B4-BE49-F238E27FC236}">
                <a16:creationId xmlns:a16="http://schemas.microsoft.com/office/drawing/2014/main" id="{86AF2904-1EDF-F078-8D17-CC4B36D5DAC9}"/>
              </a:ext>
            </a:extLst>
          </p:cNvPr>
          <p:cNvSpPr txBox="1"/>
          <p:nvPr/>
        </p:nvSpPr>
        <p:spPr>
          <a:xfrm>
            <a:off x="4892842" y="4541058"/>
            <a:ext cx="6096000" cy="1754326"/>
          </a:xfrm>
          <a:prstGeom prst="rect">
            <a:avLst/>
          </a:prstGeom>
          <a:noFill/>
        </p:spPr>
        <p:txBody>
          <a:bodyPr wrap="square">
            <a:spAutoFit/>
          </a:bodyPr>
          <a:lstStyle/>
          <a:p>
            <a:r>
              <a:rPr lang="en-IN" dirty="0"/>
              <a:t>Now there is no confusion.</a:t>
            </a:r>
          </a:p>
          <a:p>
            <a:r>
              <a:rPr lang="en-IN" dirty="0"/>
              <a:t>The computer knows:</a:t>
            </a:r>
          </a:p>
          <a:p>
            <a:r>
              <a:rPr lang="en-IN" dirty="0"/>
              <a:t>"name" → Laptop </a:t>
            </a:r>
          </a:p>
          <a:p>
            <a:r>
              <a:rPr lang="en-IN" dirty="0"/>
              <a:t>"price" → 50000 </a:t>
            </a:r>
          </a:p>
          <a:p>
            <a:r>
              <a:rPr lang="en-IN" dirty="0"/>
              <a:t>"category" → Electronics </a:t>
            </a:r>
          </a:p>
          <a:p>
            <a:r>
              <a:rPr lang="en-IN" dirty="0"/>
              <a:t>It doesn't have to understand English grammar.</a:t>
            </a:r>
          </a:p>
        </p:txBody>
      </p:sp>
      <p:sp>
        <p:nvSpPr>
          <p:cNvPr id="6" name="TextBox 5">
            <a:extLst>
              <a:ext uri="{FF2B5EF4-FFF2-40B4-BE49-F238E27FC236}">
                <a16:creationId xmlns:a16="http://schemas.microsoft.com/office/drawing/2014/main" id="{79F7A514-B059-EDE6-5615-D0F3C567336F}"/>
              </a:ext>
            </a:extLst>
          </p:cNvPr>
          <p:cNvSpPr txBox="1"/>
          <p:nvPr/>
        </p:nvSpPr>
        <p:spPr>
          <a:xfrm>
            <a:off x="10772274" y="117693"/>
            <a:ext cx="898358" cy="369332"/>
          </a:xfrm>
          <a:prstGeom prst="rect">
            <a:avLst/>
          </a:prstGeom>
          <a:noFill/>
        </p:spPr>
        <p:txBody>
          <a:bodyPr wrap="square">
            <a:spAutoFit/>
          </a:bodyPr>
          <a:lstStyle/>
          <a:p>
            <a:r>
              <a:rPr lang="en-IN" b="1" dirty="0"/>
              <a:t>JSON</a:t>
            </a:r>
          </a:p>
        </p:txBody>
      </p:sp>
    </p:spTree>
    <p:extLst>
      <p:ext uri="{BB962C8B-B14F-4D97-AF65-F5344CB8AC3E}">
        <p14:creationId xmlns:p14="http://schemas.microsoft.com/office/powerpoint/2010/main" val="330383019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6CD40B-0FC7-C87F-8994-19332E9478F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A96CFB6-9329-BD0A-D8AD-D0155A0575B4}"/>
              </a:ext>
            </a:extLst>
          </p:cNvPr>
          <p:cNvSpPr txBox="1"/>
          <p:nvPr/>
        </p:nvSpPr>
        <p:spPr>
          <a:xfrm>
            <a:off x="681789" y="117693"/>
            <a:ext cx="11181348" cy="7017306"/>
          </a:xfrm>
          <a:prstGeom prst="rect">
            <a:avLst/>
          </a:prstGeom>
          <a:noFill/>
        </p:spPr>
        <p:txBody>
          <a:bodyPr wrap="square">
            <a:spAutoFit/>
          </a:bodyPr>
          <a:lstStyle/>
          <a:p>
            <a:r>
              <a:rPr lang="en-IN" b="1" dirty="0"/>
              <a:t>JSON</a:t>
            </a:r>
          </a:p>
          <a:p>
            <a:r>
              <a:rPr lang="en-IN" dirty="0"/>
              <a:t>Humans understand sentences, but computers understand structured data. JSON uses brackets and labels to organize data so every computer, browser, and programming language can read it quickly and accurately.</a:t>
            </a:r>
          </a:p>
          <a:p>
            <a:r>
              <a:rPr lang="en-IN" b="1" dirty="0"/>
              <a:t>Why the brackets? </a:t>
            </a:r>
            <a:r>
              <a:rPr lang="en-IN" dirty="0"/>
              <a:t>The brackets show the </a:t>
            </a:r>
            <a:r>
              <a:rPr lang="en-IN" b="1" dirty="0"/>
              <a:t>structure</a:t>
            </a:r>
            <a:r>
              <a:rPr lang="en-IN" dirty="0"/>
              <a:t> of the data.</a:t>
            </a:r>
          </a:p>
          <a:p>
            <a:r>
              <a:rPr lang="en-IN" b="1" dirty="0"/>
              <a:t>Curly braces { }</a:t>
            </a:r>
          </a:p>
          <a:p>
            <a:r>
              <a:rPr lang="en-IN" dirty="0"/>
              <a:t>Mean:</a:t>
            </a:r>
          </a:p>
          <a:p>
            <a:r>
              <a:rPr lang="en-IN" dirty="0"/>
              <a:t>"This is one object."</a:t>
            </a:r>
          </a:p>
          <a:p>
            <a:r>
              <a:rPr lang="en-IN" dirty="0"/>
              <a:t>Example:</a:t>
            </a:r>
          </a:p>
          <a:p>
            <a:r>
              <a:rPr lang="en-IN" dirty="0"/>
              <a:t>{</a:t>
            </a:r>
          </a:p>
          <a:p>
            <a:r>
              <a:rPr lang="en-IN" dirty="0"/>
              <a:t>  "name": "Laptop",</a:t>
            </a:r>
          </a:p>
          <a:p>
            <a:r>
              <a:rPr lang="en-IN" dirty="0"/>
              <a:t>  "price": 50000</a:t>
            </a:r>
          </a:p>
          <a:p>
            <a:r>
              <a:rPr lang="en-IN" dirty="0"/>
              <a:t>}</a:t>
            </a:r>
          </a:p>
          <a:p>
            <a:r>
              <a:rPr lang="en-IN" dirty="0"/>
              <a:t>Think of it as one product.</a:t>
            </a:r>
          </a:p>
          <a:p>
            <a:r>
              <a:rPr lang="en-IN" b="1" dirty="0"/>
              <a:t>Square brackets [ ]</a:t>
            </a:r>
          </a:p>
          <a:p>
            <a:r>
              <a:rPr lang="en-IN" dirty="0"/>
              <a:t>Mean:</a:t>
            </a:r>
          </a:p>
          <a:p>
            <a:r>
              <a:rPr lang="en-IN" dirty="0"/>
              <a:t>"This is a list of objects."</a:t>
            </a:r>
          </a:p>
          <a:p>
            <a:r>
              <a:rPr lang="en-IN" dirty="0"/>
              <a:t>[</a:t>
            </a:r>
          </a:p>
          <a:p>
            <a:r>
              <a:rPr lang="en-IN" dirty="0"/>
              <a:t>  {</a:t>
            </a:r>
          </a:p>
          <a:p>
            <a:r>
              <a:rPr lang="en-IN" dirty="0"/>
              <a:t>    "name": "Laptop"</a:t>
            </a:r>
          </a:p>
          <a:p>
            <a:r>
              <a:rPr lang="en-IN" dirty="0"/>
              <a:t>  },</a:t>
            </a:r>
          </a:p>
          <a:p>
            <a:r>
              <a:rPr lang="en-IN" dirty="0"/>
              <a:t>  {</a:t>
            </a:r>
          </a:p>
          <a:p>
            <a:r>
              <a:rPr lang="en-IN" dirty="0"/>
              <a:t>    "name": "Mouse"</a:t>
            </a:r>
          </a:p>
          <a:p>
            <a:r>
              <a:rPr lang="en-IN" dirty="0"/>
              <a:t>  }</a:t>
            </a:r>
          </a:p>
          <a:p>
            <a:r>
              <a:rPr lang="en-IN" dirty="0"/>
              <a:t>]</a:t>
            </a:r>
          </a:p>
          <a:p>
            <a:endParaRPr lang="en-IN" dirty="0"/>
          </a:p>
        </p:txBody>
      </p:sp>
      <p:sp>
        <p:nvSpPr>
          <p:cNvPr id="4" name="TextBox 3">
            <a:extLst>
              <a:ext uri="{FF2B5EF4-FFF2-40B4-BE49-F238E27FC236}">
                <a16:creationId xmlns:a16="http://schemas.microsoft.com/office/drawing/2014/main" id="{F877DD6B-1FA3-C279-543A-A738D57E2D75}"/>
              </a:ext>
            </a:extLst>
          </p:cNvPr>
          <p:cNvSpPr txBox="1"/>
          <p:nvPr/>
        </p:nvSpPr>
        <p:spPr>
          <a:xfrm>
            <a:off x="3152273" y="3662441"/>
            <a:ext cx="6096000" cy="369332"/>
          </a:xfrm>
          <a:prstGeom prst="rect">
            <a:avLst/>
          </a:prstGeom>
          <a:noFill/>
        </p:spPr>
        <p:txBody>
          <a:bodyPr wrap="square">
            <a:spAutoFit/>
          </a:bodyPr>
          <a:lstStyle/>
          <a:p>
            <a:r>
              <a:rPr lang="en-IN" dirty="0"/>
              <a:t>This is a list containing two products.</a:t>
            </a:r>
          </a:p>
        </p:txBody>
      </p:sp>
      <p:sp>
        <p:nvSpPr>
          <p:cNvPr id="7" name="TextBox 6">
            <a:extLst>
              <a:ext uri="{FF2B5EF4-FFF2-40B4-BE49-F238E27FC236}">
                <a16:creationId xmlns:a16="http://schemas.microsoft.com/office/drawing/2014/main" id="{93513B3D-1484-6E6C-E087-085B9FD53BD6}"/>
              </a:ext>
            </a:extLst>
          </p:cNvPr>
          <p:cNvSpPr txBox="1"/>
          <p:nvPr/>
        </p:nvSpPr>
        <p:spPr>
          <a:xfrm>
            <a:off x="10772274" y="117693"/>
            <a:ext cx="898358" cy="369332"/>
          </a:xfrm>
          <a:prstGeom prst="rect">
            <a:avLst/>
          </a:prstGeom>
          <a:noFill/>
        </p:spPr>
        <p:txBody>
          <a:bodyPr wrap="square">
            <a:spAutoFit/>
          </a:bodyPr>
          <a:lstStyle/>
          <a:p>
            <a:r>
              <a:rPr lang="en-IN" b="1" dirty="0"/>
              <a:t>JSON</a:t>
            </a:r>
          </a:p>
        </p:txBody>
      </p:sp>
    </p:spTree>
    <p:extLst>
      <p:ext uri="{BB962C8B-B14F-4D97-AF65-F5344CB8AC3E}">
        <p14:creationId xmlns:p14="http://schemas.microsoft.com/office/powerpoint/2010/main" val="26219392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F55059-8A80-958A-AEDA-687D18030451}"/>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ECCD1F9-338C-E221-2DAC-495114658AA2}"/>
              </a:ext>
            </a:extLst>
          </p:cNvPr>
          <p:cNvSpPr txBox="1"/>
          <p:nvPr/>
        </p:nvSpPr>
        <p:spPr>
          <a:xfrm>
            <a:off x="681789" y="117693"/>
            <a:ext cx="11181348" cy="5909310"/>
          </a:xfrm>
          <a:prstGeom prst="rect">
            <a:avLst/>
          </a:prstGeom>
          <a:noFill/>
        </p:spPr>
        <p:txBody>
          <a:bodyPr wrap="square">
            <a:spAutoFit/>
          </a:bodyPr>
          <a:lstStyle/>
          <a:p>
            <a:r>
              <a:rPr lang="en-IN" dirty="0"/>
              <a:t>ow let's understand one of the most important concepts in IT.</a:t>
            </a:r>
          </a:p>
          <a:p>
            <a:r>
              <a:rPr lang="en-IN" b="1" dirty="0"/>
              <a:t>API.</a:t>
            </a:r>
            <a:endParaRPr lang="en-IN" dirty="0"/>
          </a:p>
          <a:p>
            <a:r>
              <a:rPr lang="en-IN" dirty="0"/>
              <a:t>You will hear this word everywhere.</a:t>
            </a:r>
          </a:p>
          <a:p>
            <a:r>
              <a:rPr lang="en-IN" dirty="0"/>
              <a:t>Azure...</a:t>
            </a:r>
          </a:p>
          <a:p>
            <a:r>
              <a:rPr lang="en-IN" dirty="0"/>
              <a:t>Microsoft 365...</a:t>
            </a:r>
          </a:p>
          <a:p>
            <a:r>
              <a:rPr lang="en-IN" dirty="0"/>
              <a:t>Google...</a:t>
            </a:r>
          </a:p>
          <a:p>
            <a:r>
              <a:rPr lang="en-IN" dirty="0"/>
              <a:t>AWS...</a:t>
            </a:r>
          </a:p>
          <a:p>
            <a:r>
              <a:rPr lang="en-IN" dirty="0"/>
              <a:t>Mobile apps...</a:t>
            </a:r>
          </a:p>
          <a:p>
            <a:r>
              <a:rPr lang="en-IN" dirty="0"/>
              <a:t>Almost every modern application uses APIs.</a:t>
            </a:r>
          </a:p>
          <a:p>
            <a:r>
              <a:rPr lang="en-IN" dirty="0"/>
              <a:t>But what exactly is an API?</a:t>
            </a:r>
          </a:p>
          <a:p>
            <a:r>
              <a:rPr lang="en-IN" dirty="0"/>
              <a:t>Before I explain...</a:t>
            </a:r>
          </a:p>
          <a:p>
            <a:r>
              <a:rPr lang="en-IN" dirty="0"/>
              <a:t>Let me ask you a question.</a:t>
            </a:r>
          </a:p>
          <a:p>
            <a:r>
              <a:rPr lang="en-IN" dirty="0"/>
              <a:t>When you open a weather app on your phone...</a:t>
            </a:r>
          </a:p>
          <a:p>
            <a:r>
              <a:rPr lang="en-IN" dirty="0"/>
              <a:t>Where does it get today's temperature?</a:t>
            </a:r>
          </a:p>
          <a:p>
            <a:r>
              <a:rPr lang="en-IN" dirty="0"/>
              <a:t>When you order food online...</a:t>
            </a:r>
          </a:p>
          <a:p>
            <a:r>
              <a:rPr lang="en-IN" dirty="0"/>
              <a:t>How does the restaurant receive your order?</a:t>
            </a:r>
          </a:p>
          <a:p>
            <a:r>
              <a:rPr lang="en-IN" dirty="0"/>
              <a:t>When you log in to a website using your Google account...</a:t>
            </a:r>
          </a:p>
          <a:p>
            <a:r>
              <a:rPr lang="en-IN" dirty="0"/>
              <a:t>How does that website talk to Google?</a:t>
            </a:r>
          </a:p>
          <a:p>
            <a:r>
              <a:rPr lang="en-IN" dirty="0"/>
              <a:t>The answer is...</a:t>
            </a:r>
          </a:p>
          <a:p>
            <a:r>
              <a:rPr lang="en-IN" b="1" dirty="0"/>
              <a:t>API.</a:t>
            </a:r>
            <a:endParaRPr lang="en-IN" dirty="0"/>
          </a:p>
          <a:p>
            <a:endParaRPr lang="en-IN" dirty="0"/>
          </a:p>
        </p:txBody>
      </p:sp>
      <p:sp>
        <p:nvSpPr>
          <p:cNvPr id="4" name="TextBox 3">
            <a:extLst>
              <a:ext uri="{FF2B5EF4-FFF2-40B4-BE49-F238E27FC236}">
                <a16:creationId xmlns:a16="http://schemas.microsoft.com/office/drawing/2014/main" id="{081E5E1C-68B8-369C-2FB1-FDEB5EE62872}"/>
              </a:ext>
            </a:extLst>
          </p:cNvPr>
          <p:cNvSpPr txBox="1"/>
          <p:nvPr/>
        </p:nvSpPr>
        <p:spPr>
          <a:xfrm>
            <a:off x="3152273" y="3662441"/>
            <a:ext cx="6096000" cy="369332"/>
          </a:xfrm>
          <a:prstGeom prst="rect">
            <a:avLst/>
          </a:prstGeom>
          <a:noFill/>
        </p:spPr>
        <p:txBody>
          <a:bodyPr wrap="square">
            <a:spAutoFit/>
          </a:bodyPr>
          <a:lstStyle/>
          <a:p>
            <a:r>
              <a:rPr lang="en-IN" dirty="0"/>
              <a:t>This is a list containing two products.</a:t>
            </a:r>
          </a:p>
        </p:txBody>
      </p:sp>
      <p:sp>
        <p:nvSpPr>
          <p:cNvPr id="3" name="TextBox 2">
            <a:extLst>
              <a:ext uri="{FF2B5EF4-FFF2-40B4-BE49-F238E27FC236}">
                <a16:creationId xmlns:a16="http://schemas.microsoft.com/office/drawing/2014/main" id="{484832BC-3225-E787-9CAF-588283EB0E12}"/>
              </a:ext>
            </a:extLst>
          </p:cNvPr>
          <p:cNvSpPr txBox="1"/>
          <p:nvPr/>
        </p:nvSpPr>
        <p:spPr>
          <a:xfrm>
            <a:off x="10772274" y="117693"/>
            <a:ext cx="898358" cy="369332"/>
          </a:xfrm>
          <a:prstGeom prst="rect">
            <a:avLst/>
          </a:prstGeom>
          <a:noFill/>
        </p:spPr>
        <p:txBody>
          <a:bodyPr wrap="square">
            <a:spAutoFit/>
          </a:bodyPr>
          <a:lstStyle/>
          <a:p>
            <a:r>
              <a:rPr lang="en-IN" b="1" dirty="0"/>
              <a:t>API</a:t>
            </a:r>
          </a:p>
        </p:txBody>
      </p:sp>
    </p:spTree>
    <p:extLst>
      <p:ext uri="{BB962C8B-B14F-4D97-AF65-F5344CB8AC3E}">
        <p14:creationId xmlns:p14="http://schemas.microsoft.com/office/powerpoint/2010/main" val="422901734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166A8-9386-59B0-3B4F-C1D21FA627D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8828607-FCCA-2EB9-75D6-F19693C5C247}"/>
              </a:ext>
            </a:extLst>
          </p:cNvPr>
          <p:cNvSpPr txBox="1"/>
          <p:nvPr/>
        </p:nvSpPr>
        <p:spPr>
          <a:xfrm>
            <a:off x="681789" y="117693"/>
            <a:ext cx="11181348" cy="6463308"/>
          </a:xfrm>
          <a:prstGeom prst="rect">
            <a:avLst/>
          </a:prstGeom>
          <a:noFill/>
        </p:spPr>
        <p:txBody>
          <a:bodyPr wrap="square">
            <a:spAutoFit/>
          </a:bodyPr>
          <a:lstStyle/>
          <a:p>
            <a:r>
              <a:rPr lang="en-IN" b="1" dirty="0"/>
              <a:t>What is an API?</a:t>
            </a:r>
          </a:p>
          <a:p>
            <a:r>
              <a:rPr lang="en-IN" dirty="0"/>
              <a:t>API stands for </a:t>
            </a:r>
            <a:r>
              <a:rPr lang="en-IN" b="1" dirty="0"/>
              <a:t>Application Programming Interface</a:t>
            </a:r>
            <a:r>
              <a:rPr lang="en-IN" dirty="0"/>
              <a:t>.</a:t>
            </a:r>
          </a:p>
          <a:p>
            <a:r>
              <a:rPr lang="en-IN" dirty="0"/>
              <a:t>That's a long name.</a:t>
            </a:r>
          </a:p>
          <a:p>
            <a:r>
              <a:rPr lang="en-IN" dirty="0"/>
              <a:t>Let's make it simple.</a:t>
            </a:r>
          </a:p>
          <a:p>
            <a:r>
              <a:rPr lang="en-IN" dirty="0"/>
              <a:t>An </a:t>
            </a:r>
            <a:r>
              <a:rPr lang="en-IN" b="1" dirty="0"/>
              <a:t>API is a way for two applications to talk to each other.</a:t>
            </a:r>
            <a:endParaRPr lang="en-IN" dirty="0"/>
          </a:p>
          <a:p>
            <a:r>
              <a:rPr lang="en-IN" dirty="0"/>
              <a:t>That's all.</a:t>
            </a:r>
          </a:p>
          <a:p>
            <a:r>
              <a:rPr lang="en-IN" dirty="0"/>
              <a:t>Think of it as a messenger.</a:t>
            </a:r>
          </a:p>
          <a:p>
            <a:r>
              <a:rPr lang="en-IN" dirty="0"/>
              <a:t>One application sends a request.</a:t>
            </a:r>
          </a:p>
          <a:p>
            <a:r>
              <a:rPr lang="en-IN" dirty="0"/>
              <a:t>The API carries that request.</a:t>
            </a:r>
          </a:p>
          <a:p>
            <a:r>
              <a:rPr lang="en-IN" dirty="0"/>
              <a:t>Another application processes it.</a:t>
            </a:r>
          </a:p>
          <a:p>
            <a:r>
              <a:rPr lang="en-IN" dirty="0"/>
              <a:t>Then the API brings back the response.</a:t>
            </a:r>
          </a:p>
          <a:p>
            <a:r>
              <a:rPr lang="en-IN" dirty="0"/>
              <a:t>For example...</a:t>
            </a:r>
          </a:p>
          <a:p>
            <a:r>
              <a:rPr lang="en-IN" dirty="0"/>
              <a:t>Imagine your mobile banking app.</a:t>
            </a:r>
          </a:p>
          <a:p>
            <a:r>
              <a:rPr lang="en-IN" dirty="0"/>
              <a:t>When you check your account balance...</a:t>
            </a:r>
          </a:p>
          <a:p>
            <a:r>
              <a:rPr lang="en-IN" dirty="0"/>
              <a:t>The app doesn't already know your balance.</a:t>
            </a:r>
          </a:p>
          <a:p>
            <a:r>
              <a:rPr lang="en-IN" dirty="0"/>
              <a:t>Instead...</a:t>
            </a:r>
          </a:p>
          <a:p>
            <a:r>
              <a:rPr lang="en-IN" dirty="0"/>
              <a:t>It sends a request to the bank's server using an API.</a:t>
            </a:r>
          </a:p>
          <a:p>
            <a:r>
              <a:rPr lang="en-IN" dirty="0"/>
              <a:t>The bank checks your account.</a:t>
            </a:r>
          </a:p>
          <a:p>
            <a:r>
              <a:rPr lang="en-IN" dirty="0"/>
              <a:t>Then it sends your balance back through the API.</a:t>
            </a:r>
          </a:p>
          <a:p>
            <a:r>
              <a:rPr lang="en-IN" dirty="0"/>
              <a:t>Finally...</a:t>
            </a:r>
          </a:p>
          <a:p>
            <a:r>
              <a:rPr lang="en-IN" dirty="0"/>
              <a:t>The mobile app displays it on your screen.</a:t>
            </a:r>
          </a:p>
          <a:p>
            <a:r>
              <a:rPr lang="en-IN" dirty="0"/>
              <a:t>So remember...</a:t>
            </a:r>
          </a:p>
          <a:p>
            <a:r>
              <a:rPr lang="en-IN" b="1" dirty="0"/>
              <a:t>The app and the server are talking through an API.</a:t>
            </a:r>
            <a:endParaRPr lang="en-IN" dirty="0"/>
          </a:p>
        </p:txBody>
      </p:sp>
      <p:sp>
        <p:nvSpPr>
          <p:cNvPr id="3" name="TextBox 2">
            <a:extLst>
              <a:ext uri="{FF2B5EF4-FFF2-40B4-BE49-F238E27FC236}">
                <a16:creationId xmlns:a16="http://schemas.microsoft.com/office/drawing/2014/main" id="{8C25DD01-89FB-1837-05A1-17B217B80D33}"/>
              </a:ext>
            </a:extLst>
          </p:cNvPr>
          <p:cNvSpPr txBox="1"/>
          <p:nvPr/>
        </p:nvSpPr>
        <p:spPr>
          <a:xfrm>
            <a:off x="10772274" y="117693"/>
            <a:ext cx="898358" cy="369332"/>
          </a:xfrm>
          <a:prstGeom prst="rect">
            <a:avLst/>
          </a:prstGeom>
          <a:noFill/>
        </p:spPr>
        <p:txBody>
          <a:bodyPr wrap="square">
            <a:spAutoFit/>
          </a:bodyPr>
          <a:lstStyle/>
          <a:p>
            <a:r>
              <a:rPr lang="en-IN" b="1" dirty="0"/>
              <a:t>API</a:t>
            </a:r>
          </a:p>
        </p:txBody>
      </p:sp>
    </p:spTree>
    <p:extLst>
      <p:ext uri="{BB962C8B-B14F-4D97-AF65-F5344CB8AC3E}">
        <p14:creationId xmlns:p14="http://schemas.microsoft.com/office/powerpoint/2010/main" val="79773825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FEA957-6DEC-87EF-88DA-7A195864379B}"/>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B631FBA5-7F3D-8399-21AF-2A2127C23940}"/>
              </a:ext>
            </a:extLst>
          </p:cNvPr>
          <p:cNvSpPr txBox="1"/>
          <p:nvPr/>
        </p:nvSpPr>
        <p:spPr>
          <a:xfrm>
            <a:off x="681789" y="117693"/>
            <a:ext cx="11181348" cy="6740307"/>
          </a:xfrm>
          <a:prstGeom prst="rect">
            <a:avLst/>
          </a:prstGeom>
          <a:noFill/>
        </p:spPr>
        <p:txBody>
          <a:bodyPr wrap="square">
            <a:spAutoFit/>
          </a:bodyPr>
          <a:lstStyle/>
          <a:p>
            <a:r>
              <a:rPr lang="en-IN" b="1" dirty="0"/>
              <a:t>Real-world Azure Example</a:t>
            </a:r>
          </a:p>
          <a:p>
            <a:r>
              <a:rPr lang="en-IN" dirty="0"/>
              <a:t>Suppose you want to create a Virtual Machine using Azure CLI.</a:t>
            </a:r>
          </a:p>
          <a:p>
            <a:r>
              <a:rPr lang="en-IN" dirty="0"/>
              <a:t>When you run this command...</a:t>
            </a:r>
          </a:p>
          <a:p>
            <a:r>
              <a:rPr lang="en-IN" dirty="0" err="1"/>
              <a:t>az</a:t>
            </a:r>
            <a:r>
              <a:rPr lang="en-IN" dirty="0"/>
              <a:t> </a:t>
            </a:r>
            <a:r>
              <a:rPr lang="en-IN" dirty="0" err="1"/>
              <a:t>vm</a:t>
            </a:r>
            <a:r>
              <a:rPr lang="en-IN" dirty="0"/>
              <a:t> create</a:t>
            </a:r>
          </a:p>
          <a:p>
            <a:r>
              <a:rPr lang="en-IN" dirty="0"/>
              <a:t>Does Azure CLI create the VM by itself?</a:t>
            </a:r>
          </a:p>
          <a:p>
            <a:r>
              <a:rPr lang="en-IN" dirty="0"/>
              <a:t>No.</a:t>
            </a:r>
          </a:p>
          <a:p>
            <a:r>
              <a:rPr lang="en-IN" dirty="0"/>
              <a:t>Azure CLI sends an API request to Azure Resource Manager.</a:t>
            </a:r>
          </a:p>
          <a:p>
            <a:r>
              <a:rPr lang="en-IN" dirty="0"/>
              <a:t>Azure processes the request.</a:t>
            </a:r>
          </a:p>
          <a:p>
            <a:r>
              <a:rPr lang="en-IN" dirty="0"/>
              <a:t>Creates the VM.</a:t>
            </a:r>
          </a:p>
          <a:p>
            <a:r>
              <a:rPr lang="en-IN" dirty="0"/>
              <a:t>Returns a success message.</a:t>
            </a:r>
          </a:p>
          <a:p>
            <a:r>
              <a:rPr lang="en-IN" dirty="0"/>
              <a:t>So behind almost every Azure command...</a:t>
            </a:r>
          </a:p>
          <a:p>
            <a:r>
              <a:rPr lang="en-IN" dirty="0"/>
              <a:t>There is an API call.</a:t>
            </a:r>
          </a:p>
          <a:p>
            <a:br>
              <a:rPr lang="en-IN" dirty="0"/>
            </a:br>
            <a:endParaRPr lang="en-IN" dirty="0"/>
          </a:p>
          <a:p>
            <a:r>
              <a:rPr lang="en-IN" b="1" dirty="0"/>
              <a:t>Another Azure Example</a:t>
            </a:r>
          </a:p>
          <a:p>
            <a:r>
              <a:rPr lang="en-IN" dirty="0"/>
              <a:t>Imagine you open Azure Portal.</a:t>
            </a:r>
          </a:p>
          <a:p>
            <a:r>
              <a:rPr lang="en-IN" dirty="0"/>
              <a:t>You click...</a:t>
            </a:r>
          </a:p>
          <a:p>
            <a:r>
              <a:rPr lang="en-IN" dirty="0"/>
              <a:t>"Create Storage Account."</a:t>
            </a:r>
          </a:p>
          <a:p>
            <a:r>
              <a:rPr lang="en-IN" dirty="0"/>
              <a:t>The portal doesn't create it directly.</a:t>
            </a:r>
          </a:p>
          <a:p>
            <a:r>
              <a:rPr lang="en-IN" dirty="0"/>
              <a:t>The portal sends an API request to Azure.</a:t>
            </a:r>
          </a:p>
          <a:p>
            <a:r>
              <a:rPr lang="en-IN" dirty="0"/>
              <a:t>Azure creates the Storage Account.</a:t>
            </a:r>
          </a:p>
          <a:p>
            <a:r>
              <a:rPr lang="en-IN" dirty="0"/>
              <a:t>Then sends the result back.</a:t>
            </a:r>
          </a:p>
          <a:p>
            <a:r>
              <a:rPr lang="en-IN" dirty="0"/>
              <a:t>So whether you use: Azure Portal, Azure CLI, PowerShell, ARM Template, Bicep, Terraform, SDK </a:t>
            </a:r>
          </a:p>
          <a:p>
            <a:r>
              <a:rPr lang="en-IN" b="1" dirty="0"/>
              <a:t>Everything eventually calls the same Azure APIs.</a:t>
            </a:r>
          </a:p>
        </p:txBody>
      </p:sp>
      <p:sp>
        <p:nvSpPr>
          <p:cNvPr id="3" name="TextBox 2">
            <a:extLst>
              <a:ext uri="{FF2B5EF4-FFF2-40B4-BE49-F238E27FC236}">
                <a16:creationId xmlns:a16="http://schemas.microsoft.com/office/drawing/2014/main" id="{6CC8FB84-BCAD-18BC-627A-45B02C81E14F}"/>
              </a:ext>
            </a:extLst>
          </p:cNvPr>
          <p:cNvSpPr txBox="1"/>
          <p:nvPr/>
        </p:nvSpPr>
        <p:spPr>
          <a:xfrm>
            <a:off x="10772274" y="117693"/>
            <a:ext cx="898358" cy="369332"/>
          </a:xfrm>
          <a:prstGeom prst="rect">
            <a:avLst/>
          </a:prstGeom>
          <a:noFill/>
        </p:spPr>
        <p:txBody>
          <a:bodyPr wrap="square">
            <a:spAutoFit/>
          </a:bodyPr>
          <a:lstStyle/>
          <a:p>
            <a:r>
              <a:rPr lang="en-IN" b="1" dirty="0"/>
              <a:t>API</a:t>
            </a:r>
          </a:p>
        </p:txBody>
      </p:sp>
    </p:spTree>
    <p:extLst>
      <p:ext uri="{BB962C8B-B14F-4D97-AF65-F5344CB8AC3E}">
        <p14:creationId xmlns:p14="http://schemas.microsoft.com/office/powerpoint/2010/main" val="152986828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DB4638-0F6C-E4C0-1050-CA48E15755B8}"/>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B6F3FEF1-07BC-EEE6-25CE-39C54476B33D}"/>
              </a:ext>
            </a:extLst>
          </p:cNvPr>
          <p:cNvSpPr txBox="1"/>
          <p:nvPr/>
        </p:nvSpPr>
        <p:spPr>
          <a:xfrm>
            <a:off x="681789" y="117693"/>
            <a:ext cx="11181348" cy="3970318"/>
          </a:xfrm>
          <a:prstGeom prst="rect">
            <a:avLst/>
          </a:prstGeom>
          <a:noFill/>
        </p:spPr>
        <p:txBody>
          <a:bodyPr wrap="square">
            <a:spAutoFit/>
          </a:bodyPr>
          <a:lstStyle/>
          <a:p>
            <a:r>
              <a:rPr lang="en-IN" b="1" dirty="0"/>
              <a:t>Different Types of APIs</a:t>
            </a:r>
          </a:p>
          <a:p>
            <a:r>
              <a:rPr lang="en-IN" dirty="0"/>
              <a:t>You'll hear about different kinds of APIs.</a:t>
            </a:r>
          </a:p>
          <a:p>
            <a:r>
              <a:rPr lang="en-IN" dirty="0"/>
              <a:t>The most common one is:</a:t>
            </a:r>
          </a:p>
          <a:p>
            <a:r>
              <a:rPr lang="en-IN" b="1" dirty="0"/>
              <a:t>REST API</a:t>
            </a:r>
            <a:endParaRPr lang="en-IN" dirty="0"/>
          </a:p>
          <a:p>
            <a:r>
              <a:rPr lang="en-IN" dirty="0"/>
              <a:t>It uses HTTP.</a:t>
            </a:r>
          </a:p>
          <a:p>
            <a:r>
              <a:rPr lang="en-IN" dirty="0"/>
              <a:t>Examples:</a:t>
            </a:r>
          </a:p>
          <a:p>
            <a:r>
              <a:rPr lang="en-IN" dirty="0"/>
              <a:t>GET</a:t>
            </a:r>
          </a:p>
          <a:p>
            <a:r>
              <a:rPr lang="en-IN" dirty="0"/>
              <a:t>POST</a:t>
            </a:r>
          </a:p>
          <a:p>
            <a:r>
              <a:rPr lang="en-IN" dirty="0"/>
              <a:t>PUT</a:t>
            </a:r>
          </a:p>
          <a:p>
            <a:r>
              <a:rPr lang="en-IN" dirty="0"/>
              <a:t>DELETE</a:t>
            </a:r>
          </a:p>
          <a:p>
            <a:r>
              <a:rPr lang="en-IN" dirty="0"/>
              <a:t>We'll learn these later.</a:t>
            </a:r>
          </a:p>
          <a:p>
            <a:r>
              <a:rPr lang="en-IN" dirty="0"/>
              <a:t>For now...</a:t>
            </a:r>
          </a:p>
          <a:p>
            <a:r>
              <a:rPr lang="en-IN" dirty="0"/>
              <a:t>Just remember...</a:t>
            </a:r>
          </a:p>
          <a:p>
            <a:r>
              <a:rPr lang="en-IN" dirty="0"/>
              <a:t>Most cloud services, including Azure, use REST APIs.</a:t>
            </a:r>
          </a:p>
        </p:txBody>
      </p:sp>
      <p:sp>
        <p:nvSpPr>
          <p:cNvPr id="3" name="TextBox 2">
            <a:extLst>
              <a:ext uri="{FF2B5EF4-FFF2-40B4-BE49-F238E27FC236}">
                <a16:creationId xmlns:a16="http://schemas.microsoft.com/office/drawing/2014/main" id="{699067CB-C65F-C47F-2862-DF6065690B04}"/>
              </a:ext>
            </a:extLst>
          </p:cNvPr>
          <p:cNvSpPr txBox="1"/>
          <p:nvPr/>
        </p:nvSpPr>
        <p:spPr>
          <a:xfrm>
            <a:off x="10772274" y="117693"/>
            <a:ext cx="898358" cy="369332"/>
          </a:xfrm>
          <a:prstGeom prst="rect">
            <a:avLst/>
          </a:prstGeom>
          <a:noFill/>
        </p:spPr>
        <p:txBody>
          <a:bodyPr wrap="square">
            <a:spAutoFit/>
          </a:bodyPr>
          <a:lstStyle/>
          <a:p>
            <a:r>
              <a:rPr lang="en-IN" b="1" dirty="0"/>
              <a:t>API</a:t>
            </a:r>
          </a:p>
        </p:txBody>
      </p:sp>
    </p:spTree>
    <p:extLst>
      <p:ext uri="{BB962C8B-B14F-4D97-AF65-F5344CB8AC3E}">
        <p14:creationId xmlns:p14="http://schemas.microsoft.com/office/powerpoint/2010/main" val="373215873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4876E2-B38E-8A41-0E4E-1E3F124A8E5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DE7FA58-D2BC-C11C-2201-9B6E7C38CA46}"/>
              </a:ext>
            </a:extLst>
          </p:cNvPr>
          <p:cNvSpPr txBox="1"/>
          <p:nvPr/>
        </p:nvSpPr>
        <p:spPr>
          <a:xfrm>
            <a:off x="681789" y="117693"/>
            <a:ext cx="11181348" cy="6740307"/>
          </a:xfrm>
          <a:prstGeom prst="rect">
            <a:avLst/>
          </a:prstGeom>
          <a:noFill/>
        </p:spPr>
        <p:txBody>
          <a:bodyPr wrap="square">
            <a:spAutoFit/>
          </a:bodyPr>
          <a:lstStyle/>
          <a:p>
            <a:r>
              <a:rPr lang="en-IN" b="1" dirty="0"/>
              <a:t>Let's summarize.</a:t>
            </a:r>
          </a:p>
          <a:p>
            <a:r>
              <a:rPr lang="en-IN" dirty="0"/>
              <a:t>An API:</a:t>
            </a:r>
          </a:p>
          <a:p>
            <a:r>
              <a:rPr lang="en-IN" dirty="0"/>
              <a:t>Allows applications to communicate. </a:t>
            </a:r>
          </a:p>
          <a:p>
            <a:r>
              <a:rPr lang="en-IN" dirty="0"/>
              <a:t>Sends requests. </a:t>
            </a:r>
          </a:p>
          <a:p>
            <a:r>
              <a:rPr lang="en-IN" dirty="0"/>
              <a:t>Receives responses. </a:t>
            </a:r>
          </a:p>
          <a:p>
            <a:r>
              <a:rPr lang="en-IN" dirty="0"/>
              <a:t>Shares information securely. </a:t>
            </a:r>
          </a:p>
          <a:p>
            <a:r>
              <a:rPr lang="en-IN" dirty="0"/>
              <a:t>Makes integration possible. </a:t>
            </a:r>
          </a:p>
          <a:p>
            <a:r>
              <a:rPr lang="en-IN" dirty="0"/>
              <a:t>Is used by almost every cloud service. </a:t>
            </a:r>
          </a:p>
          <a:p>
            <a:endParaRPr lang="en-IN" dirty="0"/>
          </a:p>
          <a:p>
            <a:r>
              <a:rPr lang="en-IN" b="1" dirty="0"/>
              <a:t>Easy Way to Remember</a:t>
            </a:r>
          </a:p>
          <a:p>
            <a:r>
              <a:rPr lang="en-IN" dirty="0"/>
              <a:t>Imagine you are in a restaurant.</a:t>
            </a:r>
          </a:p>
          <a:p>
            <a:r>
              <a:rPr lang="en-IN" dirty="0"/>
              <a:t>You don't go into the kitchen.</a:t>
            </a:r>
          </a:p>
          <a:p>
            <a:r>
              <a:rPr lang="en-IN" dirty="0"/>
              <a:t>You tell the waiter what you want.</a:t>
            </a:r>
          </a:p>
          <a:p>
            <a:r>
              <a:rPr lang="en-IN" dirty="0"/>
              <a:t>The waiter carries your request to the kitchen.</a:t>
            </a:r>
          </a:p>
          <a:p>
            <a:r>
              <a:rPr lang="en-IN" dirty="0"/>
              <a:t>The chef prepares the food.</a:t>
            </a:r>
          </a:p>
          <a:p>
            <a:r>
              <a:rPr lang="en-IN" dirty="0"/>
              <a:t>The waiter brings it back.</a:t>
            </a:r>
          </a:p>
          <a:p>
            <a:r>
              <a:rPr lang="en-IN" dirty="0"/>
              <a:t>In this example:</a:t>
            </a:r>
          </a:p>
          <a:p>
            <a:r>
              <a:rPr lang="en-IN" b="1" dirty="0"/>
              <a:t>You</a:t>
            </a:r>
            <a:r>
              <a:rPr lang="en-IN" dirty="0"/>
              <a:t> = Application </a:t>
            </a:r>
          </a:p>
          <a:p>
            <a:r>
              <a:rPr lang="en-IN" b="1" dirty="0"/>
              <a:t>Waiter</a:t>
            </a:r>
            <a:r>
              <a:rPr lang="en-IN" dirty="0"/>
              <a:t> = API </a:t>
            </a:r>
          </a:p>
          <a:p>
            <a:r>
              <a:rPr lang="en-IN" b="1" dirty="0"/>
              <a:t>Kitchen</a:t>
            </a:r>
            <a:r>
              <a:rPr lang="en-IN" dirty="0"/>
              <a:t> = Server </a:t>
            </a:r>
          </a:p>
          <a:p>
            <a:r>
              <a:rPr lang="en-IN" b="1" dirty="0"/>
              <a:t>Food</a:t>
            </a:r>
            <a:r>
              <a:rPr lang="en-IN" dirty="0"/>
              <a:t> = Response </a:t>
            </a:r>
          </a:p>
          <a:p>
            <a:r>
              <a:rPr lang="en-IN" dirty="0"/>
              <a:t>The waiter doesn't cook the food.</a:t>
            </a:r>
          </a:p>
          <a:p>
            <a:r>
              <a:rPr lang="en-IN" dirty="0"/>
              <a:t>The waiter simply carries requests and responses.</a:t>
            </a:r>
          </a:p>
          <a:p>
            <a:r>
              <a:rPr lang="en-IN" dirty="0"/>
              <a:t>That's exactly what an API does.</a:t>
            </a:r>
          </a:p>
        </p:txBody>
      </p:sp>
      <p:sp>
        <p:nvSpPr>
          <p:cNvPr id="3" name="TextBox 2">
            <a:extLst>
              <a:ext uri="{FF2B5EF4-FFF2-40B4-BE49-F238E27FC236}">
                <a16:creationId xmlns:a16="http://schemas.microsoft.com/office/drawing/2014/main" id="{F4046E44-9053-37EA-A1FB-D63976CB1E25}"/>
              </a:ext>
            </a:extLst>
          </p:cNvPr>
          <p:cNvSpPr txBox="1"/>
          <p:nvPr/>
        </p:nvSpPr>
        <p:spPr>
          <a:xfrm>
            <a:off x="10772274" y="117693"/>
            <a:ext cx="898358" cy="369332"/>
          </a:xfrm>
          <a:prstGeom prst="rect">
            <a:avLst/>
          </a:prstGeom>
          <a:noFill/>
        </p:spPr>
        <p:txBody>
          <a:bodyPr wrap="square">
            <a:spAutoFit/>
          </a:bodyPr>
          <a:lstStyle/>
          <a:p>
            <a:r>
              <a:rPr lang="en-IN" b="1" dirty="0"/>
              <a:t>API</a:t>
            </a:r>
          </a:p>
        </p:txBody>
      </p:sp>
    </p:spTree>
    <p:extLst>
      <p:ext uri="{BB962C8B-B14F-4D97-AF65-F5344CB8AC3E}">
        <p14:creationId xmlns:p14="http://schemas.microsoft.com/office/powerpoint/2010/main" val="5950756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112191-80D8-F5A8-7D6A-CDB03D5138D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0163C43-7729-4AFA-ADD8-827309EF0895}"/>
              </a:ext>
            </a:extLst>
          </p:cNvPr>
          <p:cNvSpPr txBox="1"/>
          <p:nvPr/>
        </p:nvSpPr>
        <p:spPr>
          <a:xfrm>
            <a:off x="681789" y="117693"/>
            <a:ext cx="4612106" cy="2585323"/>
          </a:xfrm>
          <a:prstGeom prst="rect">
            <a:avLst/>
          </a:prstGeom>
          <a:noFill/>
        </p:spPr>
        <p:txBody>
          <a:bodyPr wrap="square">
            <a:spAutoFit/>
          </a:bodyPr>
          <a:lstStyle/>
          <a:p>
            <a:r>
              <a:rPr lang="en-IN" dirty="0"/>
              <a:t>An API (Application Programming Interface) is a communication interface that allows two applications or services to exchange data by sending requests and receiving responses. In Azure, almost every operation—whether from the Azure Portal, Azure CLI, PowerShell, ARM templates, Bicep, or Terraform—is performed by calling Azure Resource Manager REST APIs.</a:t>
            </a:r>
          </a:p>
        </p:txBody>
      </p:sp>
      <p:pic>
        <p:nvPicPr>
          <p:cNvPr id="3" name="Picture 2">
            <a:extLst>
              <a:ext uri="{FF2B5EF4-FFF2-40B4-BE49-F238E27FC236}">
                <a16:creationId xmlns:a16="http://schemas.microsoft.com/office/drawing/2014/main" id="{ABA8CBFC-858B-B2F3-8C9E-BE3B0D1FB014}"/>
              </a:ext>
            </a:extLst>
          </p:cNvPr>
          <p:cNvPicPr>
            <a:picLocks noChangeAspect="1"/>
          </p:cNvPicPr>
          <p:nvPr/>
        </p:nvPicPr>
        <p:blipFill>
          <a:blip r:embed="rId3"/>
          <a:stretch>
            <a:fillRect/>
          </a:stretch>
        </p:blipFill>
        <p:spPr>
          <a:xfrm>
            <a:off x="6585284" y="-176463"/>
            <a:ext cx="4138863" cy="6858000"/>
          </a:xfrm>
          <a:prstGeom prst="rect">
            <a:avLst/>
          </a:prstGeom>
        </p:spPr>
      </p:pic>
      <p:sp>
        <p:nvSpPr>
          <p:cNvPr id="4" name="TextBox 3">
            <a:extLst>
              <a:ext uri="{FF2B5EF4-FFF2-40B4-BE49-F238E27FC236}">
                <a16:creationId xmlns:a16="http://schemas.microsoft.com/office/drawing/2014/main" id="{BC4DBADC-53F1-4574-AA45-F05EE343B8F8}"/>
              </a:ext>
            </a:extLst>
          </p:cNvPr>
          <p:cNvSpPr txBox="1"/>
          <p:nvPr/>
        </p:nvSpPr>
        <p:spPr>
          <a:xfrm>
            <a:off x="1467853" y="4395537"/>
            <a:ext cx="2756332" cy="369332"/>
          </a:xfrm>
          <a:prstGeom prst="rect">
            <a:avLst/>
          </a:prstGeom>
          <a:noFill/>
        </p:spPr>
        <p:txBody>
          <a:bodyPr wrap="none" rtlCol="0">
            <a:spAutoFit/>
          </a:bodyPr>
          <a:lstStyle/>
          <a:p>
            <a:r>
              <a:rPr lang="en-GB" dirty="0"/>
              <a:t>Check steps in next slides</a:t>
            </a:r>
            <a:endParaRPr lang="en-IN" dirty="0"/>
          </a:p>
        </p:txBody>
      </p:sp>
    </p:spTree>
    <p:extLst>
      <p:ext uri="{BB962C8B-B14F-4D97-AF65-F5344CB8AC3E}">
        <p14:creationId xmlns:p14="http://schemas.microsoft.com/office/powerpoint/2010/main" val="88741300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F4BF33-1AC5-B9E3-7996-62CFE5404B3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B821A9A-453B-54BB-0402-9F5D007933AC}"/>
              </a:ext>
            </a:extLst>
          </p:cNvPr>
          <p:cNvSpPr txBox="1"/>
          <p:nvPr/>
        </p:nvSpPr>
        <p:spPr>
          <a:xfrm>
            <a:off x="681789" y="117693"/>
            <a:ext cx="11181348" cy="5355312"/>
          </a:xfrm>
          <a:prstGeom prst="rect">
            <a:avLst/>
          </a:prstGeom>
          <a:noFill/>
        </p:spPr>
        <p:txBody>
          <a:bodyPr wrap="square">
            <a:spAutoFit/>
          </a:bodyPr>
          <a:lstStyle/>
          <a:p>
            <a:r>
              <a:rPr lang="en-IN" b="1" dirty="0"/>
              <a:t>What happens behind the scenes when you create a Virtual Machine?</a:t>
            </a:r>
            <a:endParaRPr lang="en-IN" dirty="0"/>
          </a:p>
          <a:p>
            <a:r>
              <a:rPr lang="en-IN" dirty="0"/>
              <a:t>Let's follow the request step by step.</a:t>
            </a:r>
          </a:p>
          <a:p>
            <a:br>
              <a:rPr lang="en-IN" dirty="0"/>
            </a:br>
            <a:endParaRPr lang="en-IN" dirty="0"/>
          </a:p>
          <a:p>
            <a:r>
              <a:rPr lang="en-IN" b="1" dirty="0"/>
              <a:t>Step 1 – Browser</a:t>
            </a:r>
          </a:p>
          <a:p>
            <a:r>
              <a:rPr lang="en-IN" dirty="0"/>
              <a:t>Everything starts with you.</a:t>
            </a:r>
          </a:p>
          <a:p>
            <a:r>
              <a:rPr lang="en-IN" dirty="0"/>
              <a:t>You open your browser...</a:t>
            </a:r>
          </a:p>
          <a:p>
            <a:r>
              <a:rPr lang="en-IN" dirty="0"/>
              <a:t>Go to the Azure Portal...</a:t>
            </a:r>
          </a:p>
          <a:p>
            <a:r>
              <a:rPr lang="en-IN" dirty="0"/>
              <a:t>Click </a:t>
            </a:r>
            <a:r>
              <a:rPr lang="en-IN" b="1" dirty="0"/>
              <a:t>Create Virtual Machine</a:t>
            </a:r>
            <a:r>
              <a:rPr lang="en-IN" dirty="0"/>
              <a:t>...</a:t>
            </a:r>
          </a:p>
          <a:p>
            <a:r>
              <a:rPr lang="en-IN" dirty="0"/>
              <a:t>And then click </a:t>
            </a:r>
            <a:r>
              <a:rPr lang="en-IN" b="1" dirty="0"/>
              <a:t>Create</a:t>
            </a:r>
            <a:r>
              <a:rPr lang="en-IN" dirty="0"/>
              <a:t>.</a:t>
            </a:r>
          </a:p>
          <a:p>
            <a:r>
              <a:rPr lang="en-IN" dirty="0"/>
              <a:t>At this moment...</a:t>
            </a:r>
          </a:p>
          <a:p>
            <a:r>
              <a:rPr lang="en-IN" dirty="0"/>
              <a:t>The browser creates a request.</a:t>
            </a:r>
          </a:p>
          <a:p>
            <a:r>
              <a:rPr lang="en-IN" dirty="0"/>
              <a:t>It doesn't create the Virtual Machine itself.</a:t>
            </a:r>
          </a:p>
          <a:p>
            <a:r>
              <a:rPr lang="en-IN" dirty="0"/>
              <a:t>It simply sends the request to Azure.</a:t>
            </a:r>
          </a:p>
          <a:p>
            <a:r>
              <a:rPr lang="en-IN" dirty="0"/>
              <a:t>Think of the browser as the person </a:t>
            </a:r>
          </a:p>
          <a:p>
            <a:r>
              <a:rPr lang="en-IN" dirty="0"/>
              <a:t>placing an online order.</a:t>
            </a:r>
          </a:p>
          <a:p>
            <a:br>
              <a:rPr lang="en-IN" dirty="0"/>
            </a:br>
            <a:endParaRPr lang="en-IN" dirty="0"/>
          </a:p>
          <a:p>
            <a:r>
              <a:rPr lang="en-IN" dirty="0"/>
              <a:t>.</a:t>
            </a:r>
          </a:p>
        </p:txBody>
      </p:sp>
      <p:sp>
        <p:nvSpPr>
          <p:cNvPr id="3" name="TextBox 2">
            <a:extLst>
              <a:ext uri="{FF2B5EF4-FFF2-40B4-BE49-F238E27FC236}">
                <a16:creationId xmlns:a16="http://schemas.microsoft.com/office/drawing/2014/main" id="{C042A8D9-D845-CA22-D178-A40DB643FAD3}"/>
              </a:ext>
            </a:extLst>
          </p:cNvPr>
          <p:cNvSpPr txBox="1"/>
          <p:nvPr/>
        </p:nvSpPr>
        <p:spPr>
          <a:xfrm>
            <a:off x="5895474" y="1887141"/>
            <a:ext cx="6096000" cy="3693319"/>
          </a:xfrm>
          <a:prstGeom prst="rect">
            <a:avLst/>
          </a:prstGeom>
          <a:noFill/>
        </p:spPr>
        <p:txBody>
          <a:bodyPr wrap="square">
            <a:spAutoFit/>
          </a:bodyPr>
          <a:lstStyle/>
          <a:p>
            <a:r>
              <a:rPr lang="en-IN" b="1" dirty="0"/>
              <a:t>Step 2 – Azure Portal or Azure CLI</a:t>
            </a:r>
          </a:p>
          <a:p>
            <a:r>
              <a:rPr lang="en-IN" dirty="0"/>
              <a:t>The request now reaches the Azure Portal.</a:t>
            </a:r>
          </a:p>
          <a:p>
            <a:r>
              <a:rPr lang="en-IN" dirty="0"/>
              <a:t>If you're using Azure CLI...</a:t>
            </a:r>
          </a:p>
          <a:p>
            <a:r>
              <a:rPr lang="en-IN" dirty="0"/>
              <a:t>PowerShell...</a:t>
            </a:r>
          </a:p>
          <a:p>
            <a:r>
              <a:rPr lang="en-IN" dirty="0"/>
              <a:t>Terraform...</a:t>
            </a:r>
          </a:p>
          <a:p>
            <a:r>
              <a:rPr lang="en-IN" dirty="0"/>
              <a:t>Or ARM Templates...</a:t>
            </a:r>
          </a:p>
          <a:p>
            <a:r>
              <a:rPr lang="en-IN" dirty="0"/>
              <a:t>The process is exactly the same.</a:t>
            </a:r>
          </a:p>
          <a:p>
            <a:r>
              <a:rPr lang="en-IN" dirty="0"/>
              <a:t>All these tools are just different interfaces.</a:t>
            </a:r>
          </a:p>
          <a:p>
            <a:r>
              <a:rPr lang="en-IN" dirty="0"/>
              <a:t>Their job is simple.</a:t>
            </a:r>
          </a:p>
          <a:p>
            <a:r>
              <a:rPr lang="en-IN" dirty="0"/>
              <a:t>They convert your action into an Azure REST API request.</a:t>
            </a:r>
          </a:p>
          <a:p>
            <a:r>
              <a:rPr lang="en-IN" dirty="0"/>
              <a:t>So whether you click a button...</a:t>
            </a:r>
          </a:p>
          <a:p>
            <a:r>
              <a:rPr lang="en-IN" dirty="0"/>
              <a:t>Or type a command...</a:t>
            </a:r>
          </a:p>
          <a:p>
            <a:r>
              <a:rPr lang="en-IN" dirty="0"/>
              <a:t>Eventually, an API request is generated</a:t>
            </a:r>
          </a:p>
        </p:txBody>
      </p:sp>
    </p:spTree>
    <p:extLst>
      <p:ext uri="{BB962C8B-B14F-4D97-AF65-F5344CB8AC3E}">
        <p14:creationId xmlns:p14="http://schemas.microsoft.com/office/powerpoint/2010/main" val="233454238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B2A1A-8E02-1D74-A042-AE7E1B53A17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5D3A179-F5C8-EA17-03A1-12C4F8B0E759}"/>
              </a:ext>
            </a:extLst>
          </p:cNvPr>
          <p:cNvSpPr txBox="1"/>
          <p:nvPr/>
        </p:nvSpPr>
        <p:spPr>
          <a:xfrm>
            <a:off x="681789" y="117693"/>
            <a:ext cx="11181348" cy="6186309"/>
          </a:xfrm>
          <a:prstGeom prst="rect">
            <a:avLst/>
          </a:prstGeom>
          <a:noFill/>
        </p:spPr>
        <p:txBody>
          <a:bodyPr wrap="square">
            <a:spAutoFit/>
          </a:bodyPr>
          <a:lstStyle/>
          <a:p>
            <a:r>
              <a:rPr lang="en-IN" b="1" dirty="0"/>
              <a:t>What happens behind the scenes when you create a Virtual Machine?</a:t>
            </a:r>
            <a:endParaRPr lang="en-IN" dirty="0"/>
          </a:p>
          <a:p>
            <a:r>
              <a:rPr lang="en-IN" dirty="0"/>
              <a:t>Let's follow the request step by step.</a:t>
            </a:r>
          </a:p>
          <a:p>
            <a:br>
              <a:rPr lang="en-IN" dirty="0"/>
            </a:br>
            <a:endParaRPr lang="en-IN" dirty="0"/>
          </a:p>
          <a:p>
            <a:r>
              <a:rPr lang="en-IN" b="1" dirty="0"/>
              <a:t>Step 3 – Microsoft Entra ID</a:t>
            </a:r>
          </a:p>
          <a:p>
            <a:r>
              <a:rPr lang="en-IN" dirty="0"/>
              <a:t>Now Azure asks an important question.</a:t>
            </a:r>
          </a:p>
          <a:p>
            <a:r>
              <a:rPr lang="en-IN" b="1" dirty="0"/>
              <a:t>Who is making this request?</a:t>
            </a:r>
            <a:endParaRPr lang="en-IN" dirty="0"/>
          </a:p>
          <a:p>
            <a:r>
              <a:rPr lang="en-IN" dirty="0"/>
              <a:t>Before creating anything...</a:t>
            </a:r>
          </a:p>
          <a:p>
            <a:r>
              <a:rPr lang="en-IN" dirty="0"/>
              <a:t>Azure must verify your identity.</a:t>
            </a:r>
          </a:p>
          <a:p>
            <a:r>
              <a:rPr lang="en-IN" dirty="0"/>
              <a:t>Microsoft Entra ID checks:</a:t>
            </a:r>
          </a:p>
          <a:p>
            <a:r>
              <a:rPr lang="en-IN" dirty="0"/>
              <a:t>Are you authenticated? </a:t>
            </a:r>
          </a:p>
          <a:p>
            <a:r>
              <a:rPr lang="en-IN" dirty="0"/>
              <a:t>Is your access token valid? </a:t>
            </a:r>
          </a:p>
          <a:p>
            <a:r>
              <a:rPr lang="en-IN" dirty="0"/>
              <a:t>Do you have permission to create a Virtual Machine? </a:t>
            </a:r>
          </a:p>
          <a:p>
            <a:r>
              <a:rPr lang="en-IN" dirty="0"/>
              <a:t>For example...</a:t>
            </a:r>
          </a:p>
          <a:p>
            <a:r>
              <a:rPr lang="en-IN" dirty="0"/>
              <a:t>If you only have Reader access...</a:t>
            </a:r>
          </a:p>
          <a:p>
            <a:r>
              <a:rPr lang="en-IN" dirty="0"/>
              <a:t>Entra ID will allow you to log in...</a:t>
            </a:r>
          </a:p>
          <a:p>
            <a:r>
              <a:rPr lang="en-IN" dirty="0"/>
              <a:t>But Azure won't let you create a VM.</a:t>
            </a:r>
          </a:p>
          <a:p>
            <a:r>
              <a:rPr lang="en-IN" dirty="0"/>
              <a:t>So authentication happens first.</a:t>
            </a:r>
          </a:p>
          <a:p>
            <a:r>
              <a:rPr lang="en-IN" dirty="0"/>
              <a:t>Authorization happens next.</a:t>
            </a:r>
          </a:p>
          <a:p>
            <a:br>
              <a:rPr lang="en-IN" dirty="0"/>
            </a:br>
            <a:endParaRPr lang="en-IN" dirty="0"/>
          </a:p>
          <a:p>
            <a:r>
              <a:rPr lang="en-IN" dirty="0"/>
              <a:t>.</a:t>
            </a:r>
          </a:p>
        </p:txBody>
      </p:sp>
      <p:sp>
        <p:nvSpPr>
          <p:cNvPr id="3" name="TextBox 2">
            <a:extLst>
              <a:ext uri="{FF2B5EF4-FFF2-40B4-BE49-F238E27FC236}">
                <a16:creationId xmlns:a16="http://schemas.microsoft.com/office/drawing/2014/main" id="{2B056002-1E93-A31C-2A09-58C5D6B9AD22}"/>
              </a:ext>
            </a:extLst>
          </p:cNvPr>
          <p:cNvSpPr txBox="1"/>
          <p:nvPr/>
        </p:nvSpPr>
        <p:spPr>
          <a:xfrm>
            <a:off x="5895474" y="1887141"/>
            <a:ext cx="6096000" cy="4247317"/>
          </a:xfrm>
          <a:prstGeom prst="rect">
            <a:avLst/>
          </a:prstGeom>
          <a:noFill/>
        </p:spPr>
        <p:txBody>
          <a:bodyPr wrap="square">
            <a:spAutoFit/>
          </a:bodyPr>
          <a:lstStyle/>
          <a:p>
            <a:r>
              <a:rPr lang="en-IN" b="1" dirty="0"/>
              <a:t>Step 4 – Azure Resource Manager (ARM)</a:t>
            </a:r>
          </a:p>
          <a:p>
            <a:r>
              <a:rPr lang="en-IN" dirty="0"/>
              <a:t>Once your identity is verified...</a:t>
            </a:r>
          </a:p>
          <a:p>
            <a:r>
              <a:rPr lang="en-IN" dirty="0"/>
              <a:t>The request reaches the </a:t>
            </a:r>
            <a:r>
              <a:rPr lang="en-IN" b="1" dirty="0"/>
              <a:t>Azure Resource Manager</a:t>
            </a:r>
            <a:r>
              <a:rPr lang="en-IN" dirty="0"/>
              <a:t>, also called </a:t>
            </a:r>
            <a:r>
              <a:rPr lang="en-IN" b="1" dirty="0"/>
              <a:t>ARM</a:t>
            </a:r>
            <a:r>
              <a:rPr lang="en-IN" dirty="0"/>
              <a:t>.</a:t>
            </a:r>
          </a:p>
          <a:p>
            <a:r>
              <a:rPr lang="en-IN" dirty="0"/>
              <a:t>You can think of ARM as Azure's traffic controller.</a:t>
            </a:r>
          </a:p>
          <a:p>
            <a:r>
              <a:rPr lang="en-IN" dirty="0"/>
              <a:t>Every request passes through ARM.</a:t>
            </a:r>
          </a:p>
          <a:p>
            <a:r>
              <a:rPr lang="en-IN" dirty="0"/>
              <a:t>ARM performs several checks.</a:t>
            </a:r>
          </a:p>
          <a:p>
            <a:r>
              <a:rPr lang="en-IN" dirty="0"/>
              <a:t>It validates:</a:t>
            </a:r>
          </a:p>
          <a:p>
            <a:r>
              <a:rPr lang="en-IN" dirty="0"/>
              <a:t>Is the request correct? </a:t>
            </a:r>
          </a:p>
          <a:p>
            <a:r>
              <a:rPr lang="en-IN" dirty="0"/>
              <a:t>Does the Resource Group exist? </a:t>
            </a:r>
          </a:p>
          <a:p>
            <a:r>
              <a:rPr lang="en-IN" dirty="0"/>
              <a:t>Is the Virtual Machine size valid? </a:t>
            </a:r>
          </a:p>
          <a:p>
            <a:r>
              <a:rPr lang="en-IN" dirty="0"/>
              <a:t>Are all required parameters present? </a:t>
            </a:r>
          </a:p>
          <a:p>
            <a:r>
              <a:rPr lang="en-IN" dirty="0"/>
              <a:t>Are Azure Policies being followed? </a:t>
            </a:r>
          </a:p>
          <a:p>
            <a:r>
              <a:rPr lang="en-IN" dirty="0"/>
              <a:t>Are Resource Locks preventing changes? </a:t>
            </a:r>
          </a:p>
          <a:p>
            <a:r>
              <a:rPr lang="en-IN" dirty="0"/>
              <a:t>Only after these checks does ARM continue.</a:t>
            </a:r>
          </a:p>
        </p:txBody>
      </p:sp>
    </p:spTree>
    <p:extLst>
      <p:ext uri="{BB962C8B-B14F-4D97-AF65-F5344CB8AC3E}">
        <p14:creationId xmlns:p14="http://schemas.microsoft.com/office/powerpoint/2010/main" val="204934145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8F9E3B-84A7-E4B1-42F3-80E76A41034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B0BBE3F-723D-3577-C90E-B6FD6ABFFEE2}"/>
              </a:ext>
            </a:extLst>
          </p:cNvPr>
          <p:cNvSpPr txBox="1"/>
          <p:nvPr/>
        </p:nvSpPr>
        <p:spPr>
          <a:xfrm>
            <a:off x="681789" y="117693"/>
            <a:ext cx="11181348" cy="5909310"/>
          </a:xfrm>
          <a:prstGeom prst="rect">
            <a:avLst/>
          </a:prstGeom>
          <a:noFill/>
        </p:spPr>
        <p:txBody>
          <a:bodyPr wrap="square">
            <a:spAutoFit/>
          </a:bodyPr>
          <a:lstStyle/>
          <a:p>
            <a:r>
              <a:rPr lang="en-IN" b="1" dirty="0"/>
              <a:t>What happens behind the scenes when you create a Virtual Machine?</a:t>
            </a:r>
            <a:endParaRPr lang="en-IN" dirty="0"/>
          </a:p>
          <a:p>
            <a:r>
              <a:rPr lang="en-IN" dirty="0"/>
              <a:t>Let's follow the request step by step.</a:t>
            </a:r>
          </a:p>
          <a:p>
            <a:br>
              <a:rPr lang="en-IN" dirty="0"/>
            </a:br>
            <a:endParaRPr lang="en-IN" dirty="0"/>
          </a:p>
          <a:p>
            <a:r>
              <a:rPr lang="en-IN" b="1" dirty="0"/>
              <a:t>Step 5 – Subscription</a:t>
            </a:r>
          </a:p>
          <a:p>
            <a:r>
              <a:rPr lang="en-IN" dirty="0"/>
              <a:t>Next...</a:t>
            </a:r>
          </a:p>
          <a:p>
            <a:r>
              <a:rPr lang="en-IN" dirty="0"/>
              <a:t>ARM checks your Azure Subscription.</a:t>
            </a:r>
          </a:p>
          <a:p>
            <a:r>
              <a:rPr lang="en-IN" dirty="0"/>
              <a:t>Why?</a:t>
            </a:r>
          </a:p>
          <a:p>
            <a:r>
              <a:rPr lang="en-IN" dirty="0"/>
              <a:t>Because every Azure resource belongs to a </a:t>
            </a:r>
          </a:p>
          <a:p>
            <a:r>
              <a:rPr lang="en-IN" dirty="0"/>
              <a:t>Subscription.</a:t>
            </a:r>
          </a:p>
          <a:p>
            <a:r>
              <a:rPr lang="en-IN" dirty="0"/>
              <a:t>Azure verifies things like:</a:t>
            </a:r>
          </a:p>
          <a:p>
            <a:r>
              <a:rPr lang="en-IN" dirty="0"/>
              <a:t>Is the Subscription active? </a:t>
            </a:r>
          </a:p>
          <a:p>
            <a:r>
              <a:rPr lang="en-IN" dirty="0"/>
              <a:t>Do you have permission in this Subscription? </a:t>
            </a:r>
          </a:p>
          <a:p>
            <a:r>
              <a:rPr lang="en-IN" dirty="0"/>
              <a:t>Has the subscription reached any quota? </a:t>
            </a:r>
          </a:p>
          <a:p>
            <a:r>
              <a:rPr lang="en-IN" dirty="0"/>
              <a:t>Is billing active? </a:t>
            </a:r>
          </a:p>
          <a:p>
            <a:r>
              <a:rPr lang="en-IN" dirty="0"/>
              <a:t>If the Subscription is disabled...</a:t>
            </a:r>
          </a:p>
          <a:p>
            <a:r>
              <a:rPr lang="en-IN" dirty="0"/>
              <a:t>The process stops here.</a:t>
            </a:r>
          </a:p>
          <a:p>
            <a:r>
              <a:rPr lang="en-IN" dirty="0"/>
              <a:t>No Virtual Machine is created.</a:t>
            </a:r>
          </a:p>
          <a:p>
            <a:br>
              <a:rPr lang="en-IN" dirty="0"/>
            </a:br>
            <a:endParaRPr lang="en-IN" dirty="0"/>
          </a:p>
          <a:p>
            <a:r>
              <a:rPr lang="en-IN" dirty="0"/>
              <a:t>.</a:t>
            </a:r>
          </a:p>
        </p:txBody>
      </p:sp>
      <p:sp>
        <p:nvSpPr>
          <p:cNvPr id="3" name="TextBox 2">
            <a:extLst>
              <a:ext uri="{FF2B5EF4-FFF2-40B4-BE49-F238E27FC236}">
                <a16:creationId xmlns:a16="http://schemas.microsoft.com/office/drawing/2014/main" id="{8A572B64-0F32-0C75-E50F-1406B2DCF5FA}"/>
              </a:ext>
            </a:extLst>
          </p:cNvPr>
          <p:cNvSpPr txBox="1"/>
          <p:nvPr/>
        </p:nvSpPr>
        <p:spPr>
          <a:xfrm>
            <a:off x="5895474" y="1887141"/>
            <a:ext cx="6096000" cy="3693319"/>
          </a:xfrm>
          <a:prstGeom prst="rect">
            <a:avLst/>
          </a:prstGeom>
          <a:noFill/>
        </p:spPr>
        <p:txBody>
          <a:bodyPr wrap="square">
            <a:spAutoFit/>
          </a:bodyPr>
          <a:lstStyle/>
          <a:p>
            <a:r>
              <a:rPr lang="en-IN" b="1" dirty="0"/>
              <a:t>Step 6 – </a:t>
            </a:r>
            <a:r>
              <a:rPr lang="en-IN" b="1" dirty="0" err="1"/>
              <a:t>Microsoft.Compute</a:t>
            </a:r>
            <a:r>
              <a:rPr lang="en-IN" b="1" dirty="0"/>
              <a:t> Resource Provider</a:t>
            </a:r>
          </a:p>
          <a:p>
            <a:r>
              <a:rPr lang="en-IN" dirty="0"/>
              <a:t>Now the request reaches the </a:t>
            </a:r>
            <a:r>
              <a:rPr lang="en-IN" b="1" dirty="0" err="1"/>
              <a:t>Microsoft.Compute</a:t>
            </a:r>
            <a:r>
              <a:rPr lang="en-IN" b="1" dirty="0"/>
              <a:t> Resource Provider</a:t>
            </a:r>
            <a:r>
              <a:rPr lang="en-IN" dirty="0"/>
              <a:t>.</a:t>
            </a:r>
          </a:p>
          <a:p>
            <a:r>
              <a:rPr lang="en-IN" dirty="0"/>
              <a:t>Different Azure services have different Resource Providers.</a:t>
            </a:r>
          </a:p>
          <a:p>
            <a:r>
              <a:rPr lang="en-IN" dirty="0"/>
              <a:t>For example:</a:t>
            </a:r>
          </a:p>
          <a:p>
            <a:r>
              <a:rPr lang="en-IN" dirty="0" err="1"/>
              <a:t>Microsoft.Compute</a:t>
            </a:r>
            <a:r>
              <a:rPr lang="en-IN" dirty="0"/>
              <a:t> creates Virtual Machines. </a:t>
            </a:r>
          </a:p>
          <a:p>
            <a:r>
              <a:rPr lang="en-IN" dirty="0" err="1"/>
              <a:t>Microsoft.Storage</a:t>
            </a:r>
            <a:r>
              <a:rPr lang="en-IN" dirty="0"/>
              <a:t> creates Storage Accounts. </a:t>
            </a:r>
          </a:p>
          <a:p>
            <a:r>
              <a:rPr lang="en-IN" dirty="0" err="1"/>
              <a:t>Microsoft.Network</a:t>
            </a:r>
            <a:r>
              <a:rPr lang="en-IN" dirty="0"/>
              <a:t> creates Virtual Networks. </a:t>
            </a:r>
          </a:p>
          <a:p>
            <a:r>
              <a:rPr lang="en-IN" dirty="0"/>
              <a:t>Since we're creating a Virtual Machine...</a:t>
            </a:r>
          </a:p>
          <a:p>
            <a:r>
              <a:rPr lang="en-IN" dirty="0"/>
              <a:t>The request goes to </a:t>
            </a:r>
            <a:r>
              <a:rPr lang="en-IN" b="1" dirty="0" err="1"/>
              <a:t>Microsoft.Compute</a:t>
            </a:r>
            <a:r>
              <a:rPr lang="en-IN" dirty="0"/>
              <a:t>.</a:t>
            </a:r>
          </a:p>
          <a:p>
            <a:r>
              <a:rPr lang="en-IN" dirty="0"/>
              <a:t>Its job is to understand everything related to Virtual Machines.</a:t>
            </a:r>
          </a:p>
          <a:p>
            <a:r>
              <a:rPr lang="en-IN" dirty="0"/>
              <a:t>It prepares all the compute resources needed.</a:t>
            </a:r>
          </a:p>
        </p:txBody>
      </p:sp>
    </p:spTree>
    <p:extLst>
      <p:ext uri="{BB962C8B-B14F-4D97-AF65-F5344CB8AC3E}">
        <p14:creationId xmlns:p14="http://schemas.microsoft.com/office/powerpoint/2010/main" val="100708103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237522-B89A-E862-5C7D-4B028FF70B0B}"/>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AE0E22D-4DF4-0C87-1E9F-D92274B9B505}"/>
              </a:ext>
            </a:extLst>
          </p:cNvPr>
          <p:cNvSpPr txBox="1"/>
          <p:nvPr/>
        </p:nvSpPr>
        <p:spPr>
          <a:xfrm>
            <a:off x="681789" y="117693"/>
            <a:ext cx="11181348" cy="5078313"/>
          </a:xfrm>
          <a:prstGeom prst="rect">
            <a:avLst/>
          </a:prstGeom>
          <a:noFill/>
        </p:spPr>
        <p:txBody>
          <a:bodyPr wrap="square">
            <a:spAutoFit/>
          </a:bodyPr>
          <a:lstStyle/>
          <a:p>
            <a:r>
              <a:rPr lang="en-IN" b="1" dirty="0"/>
              <a:t>What happens behind the scenes when you create a Virtual Machine?</a:t>
            </a:r>
            <a:endParaRPr lang="en-IN" dirty="0"/>
          </a:p>
          <a:p>
            <a:r>
              <a:rPr lang="en-IN" dirty="0"/>
              <a:t>Let's follow the request step by step.</a:t>
            </a:r>
          </a:p>
          <a:p>
            <a:br>
              <a:rPr lang="en-IN" dirty="0"/>
            </a:br>
            <a:endParaRPr lang="en-IN" dirty="0"/>
          </a:p>
          <a:p>
            <a:r>
              <a:rPr lang="en-IN" b="1" dirty="0"/>
              <a:t>Step 7 – Azure Region</a:t>
            </a:r>
          </a:p>
          <a:p>
            <a:r>
              <a:rPr lang="en-IN" dirty="0"/>
              <a:t>Now Azure needs to know...</a:t>
            </a:r>
          </a:p>
          <a:p>
            <a:r>
              <a:rPr lang="en-IN" b="1" dirty="0"/>
              <a:t>Where should this Virtual Machine be created?</a:t>
            </a:r>
            <a:endParaRPr lang="en-IN" dirty="0"/>
          </a:p>
          <a:p>
            <a:r>
              <a:rPr lang="en-IN" dirty="0"/>
              <a:t>Maybe you selected:</a:t>
            </a:r>
          </a:p>
          <a:p>
            <a:r>
              <a:rPr lang="en-IN" dirty="0"/>
              <a:t>East US </a:t>
            </a:r>
          </a:p>
          <a:p>
            <a:r>
              <a:rPr lang="en-IN" dirty="0"/>
              <a:t>West Europe </a:t>
            </a:r>
          </a:p>
          <a:p>
            <a:r>
              <a:rPr lang="en-IN" dirty="0"/>
              <a:t>Central India </a:t>
            </a:r>
          </a:p>
          <a:p>
            <a:r>
              <a:rPr lang="en-IN" dirty="0"/>
              <a:t>Azure routes the request to that specific Region.</a:t>
            </a:r>
          </a:p>
          <a:p>
            <a:r>
              <a:rPr lang="en-IN" dirty="0"/>
              <a:t>Remember...</a:t>
            </a:r>
          </a:p>
          <a:p>
            <a:r>
              <a:rPr lang="en-IN" dirty="0"/>
              <a:t>A Region is a physical location containing one or </a:t>
            </a:r>
          </a:p>
          <a:p>
            <a:r>
              <a:rPr lang="en-IN" dirty="0"/>
              <a:t>more datacenters.</a:t>
            </a:r>
          </a:p>
          <a:p>
            <a:br>
              <a:rPr lang="en-IN" dirty="0"/>
            </a:br>
            <a:endParaRPr lang="en-IN" dirty="0"/>
          </a:p>
          <a:p>
            <a:r>
              <a:rPr lang="en-IN" dirty="0"/>
              <a:t>.</a:t>
            </a:r>
          </a:p>
        </p:txBody>
      </p:sp>
      <p:sp>
        <p:nvSpPr>
          <p:cNvPr id="3" name="TextBox 2">
            <a:extLst>
              <a:ext uri="{FF2B5EF4-FFF2-40B4-BE49-F238E27FC236}">
                <a16:creationId xmlns:a16="http://schemas.microsoft.com/office/drawing/2014/main" id="{11946637-EC30-73FB-35AD-23EF5692D19C}"/>
              </a:ext>
            </a:extLst>
          </p:cNvPr>
          <p:cNvSpPr txBox="1"/>
          <p:nvPr/>
        </p:nvSpPr>
        <p:spPr>
          <a:xfrm>
            <a:off x="5895474" y="1887141"/>
            <a:ext cx="6096000" cy="3139321"/>
          </a:xfrm>
          <a:prstGeom prst="rect">
            <a:avLst/>
          </a:prstGeom>
          <a:noFill/>
        </p:spPr>
        <p:txBody>
          <a:bodyPr wrap="square">
            <a:spAutoFit/>
          </a:bodyPr>
          <a:lstStyle/>
          <a:p>
            <a:r>
              <a:rPr lang="en-IN" b="1" dirty="0"/>
              <a:t>Step 8 – Azure Datacenter</a:t>
            </a:r>
          </a:p>
          <a:p>
            <a:r>
              <a:rPr lang="en-IN" dirty="0"/>
              <a:t>Inside the selected Region...</a:t>
            </a:r>
          </a:p>
          <a:p>
            <a:r>
              <a:rPr lang="en-IN" dirty="0"/>
              <a:t>Azure chooses one of its datacenters.</a:t>
            </a:r>
          </a:p>
          <a:p>
            <a:r>
              <a:rPr lang="en-IN" dirty="0"/>
              <a:t>The datacenter contains:</a:t>
            </a:r>
          </a:p>
          <a:p>
            <a:r>
              <a:rPr lang="en-IN" dirty="0"/>
              <a:t>Server racks </a:t>
            </a:r>
          </a:p>
          <a:p>
            <a:r>
              <a:rPr lang="en-IN" dirty="0"/>
              <a:t>Networking equipment </a:t>
            </a:r>
          </a:p>
          <a:p>
            <a:r>
              <a:rPr lang="en-IN" dirty="0"/>
              <a:t>Storage systems </a:t>
            </a:r>
          </a:p>
          <a:p>
            <a:r>
              <a:rPr lang="en-IN" dirty="0"/>
              <a:t>Power systems </a:t>
            </a:r>
          </a:p>
          <a:p>
            <a:r>
              <a:rPr lang="en-IN" dirty="0"/>
              <a:t>Cooling systems </a:t>
            </a:r>
          </a:p>
          <a:p>
            <a:r>
              <a:rPr lang="en-IN" dirty="0"/>
              <a:t>This is the physical building where your Virtual Machine will eventually run.</a:t>
            </a:r>
          </a:p>
        </p:txBody>
      </p:sp>
    </p:spTree>
    <p:extLst>
      <p:ext uri="{BB962C8B-B14F-4D97-AF65-F5344CB8AC3E}">
        <p14:creationId xmlns:p14="http://schemas.microsoft.com/office/powerpoint/2010/main" val="172375161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8C983B-5216-9BE1-BA8A-366802958BC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DC322AC-F8D5-8074-F240-75B23C399EC1}"/>
              </a:ext>
            </a:extLst>
          </p:cNvPr>
          <p:cNvSpPr txBox="1"/>
          <p:nvPr/>
        </p:nvSpPr>
        <p:spPr>
          <a:xfrm>
            <a:off x="681789" y="117693"/>
            <a:ext cx="11181348" cy="6740307"/>
          </a:xfrm>
          <a:prstGeom prst="rect">
            <a:avLst/>
          </a:prstGeom>
          <a:noFill/>
        </p:spPr>
        <p:txBody>
          <a:bodyPr wrap="square">
            <a:spAutoFit/>
          </a:bodyPr>
          <a:lstStyle/>
          <a:p>
            <a:r>
              <a:rPr lang="en-IN" b="1" dirty="0"/>
              <a:t>What happens next?</a:t>
            </a:r>
          </a:p>
          <a:p>
            <a:r>
              <a:rPr lang="en-IN" dirty="0"/>
              <a:t>Azure now sends a response back.</a:t>
            </a:r>
          </a:p>
          <a:p>
            <a:r>
              <a:rPr lang="en-IN" dirty="0"/>
              <a:t>The response travels through the same path in reverse.</a:t>
            </a:r>
          </a:p>
          <a:p>
            <a:r>
              <a:rPr lang="en-IN" dirty="0"/>
              <a:t>Virtual Machine</a:t>
            </a:r>
          </a:p>
          <a:p>
            <a:r>
              <a:rPr lang="en-IN" dirty="0"/>
              <a:t>↓</a:t>
            </a:r>
          </a:p>
          <a:p>
            <a:r>
              <a:rPr lang="en-IN" dirty="0"/>
              <a:t>Hyper-V Host</a:t>
            </a:r>
          </a:p>
          <a:p>
            <a:r>
              <a:rPr lang="en-IN" dirty="0"/>
              <a:t>↓</a:t>
            </a:r>
          </a:p>
          <a:p>
            <a:r>
              <a:rPr lang="en-IN" dirty="0"/>
              <a:t>Azure Datacenter</a:t>
            </a:r>
          </a:p>
          <a:p>
            <a:r>
              <a:rPr lang="en-IN" dirty="0"/>
              <a:t>↓</a:t>
            </a:r>
          </a:p>
          <a:p>
            <a:r>
              <a:rPr lang="en-IN" dirty="0"/>
              <a:t>Azure Region</a:t>
            </a:r>
          </a:p>
          <a:p>
            <a:r>
              <a:rPr lang="en-IN" dirty="0"/>
              <a:t>↓</a:t>
            </a:r>
          </a:p>
          <a:p>
            <a:r>
              <a:rPr lang="en-IN" dirty="0" err="1"/>
              <a:t>Microsoft.Compute</a:t>
            </a:r>
            <a:endParaRPr lang="en-IN" dirty="0"/>
          </a:p>
          <a:p>
            <a:r>
              <a:rPr lang="en-IN" dirty="0"/>
              <a:t>↓</a:t>
            </a:r>
          </a:p>
          <a:p>
            <a:r>
              <a:rPr lang="en-IN" dirty="0"/>
              <a:t>Azure Resource Manager</a:t>
            </a:r>
          </a:p>
          <a:p>
            <a:r>
              <a:rPr lang="en-IN" dirty="0"/>
              <a:t>↓</a:t>
            </a:r>
          </a:p>
          <a:p>
            <a:r>
              <a:rPr lang="en-IN" dirty="0"/>
              <a:t>Azure Portal</a:t>
            </a:r>
          </a:p>
          <a:p>
            <a:r>
              <a:rPr lang="en-IN" dirty="0"/>
              <a:t>↓</a:t>
            </a:r>
          </a:p>
          <a:p>
            <a:r>
              <a:rPr lang="en-IN" dirty="0"/>
              <a:t>Browser</a:t>
            </a:r>
          </a:p>
          <a:p>
            <a:r>
              <a:rPr lang="en-IN" dirty="0"/>
              <a:t>Finally...</a:t>
            </a:r>
          </a:p>
          <a:p>
            <a:r>
              <a:rPr lang="en-IN" dirty="0"/>
              <a:t>The Azure Portal displays:</a:t>
            </a:r>
          </a:p>
          <a:p>
            <a:r>
              <a:rPr lang="en-IN" b="1" dirty="0"/>
              <a:t>Deployment Succeeded.</a:t>
            </a:r>
            <a:endParaRPr lang="en-IN" dirty="0"/>
          </a:p>
          <a:p>
            <a:br>
              <a:rPr lang="en-IN" dirty="0"/>
            </a:br>
            <a:endParaRPr lang="en-IN" dirty="0"/>
          </a:p>
          <a:p>
            <a:r>
              <a:rPr lang="en-IN" dirty="0"/>
              <a:t>.</a:t>
            </a:r>
          </a:p>
        </p:txBody>
      </p:sp>
      <p:sp>
        <p:nvSpPr>
          <p:cNvPr id="4" name="TextBox 3">
            <a:extLst>
              <a:ext uri="{FF2B5EF4-FFF2-40B4-BE49-F238E27FC236}">
                <a16:creationId xmlns:a16="http://schemas.microsoft.com/office/drawing/2014/main" id="{D50B814F-CB72-FFEB-82FD-24E277775B30}"/>
              </a:ext>
            </a:extLst>
          </p:cNvPr>
          <p:cNvSpPr txBox="1"/>
          <p:nvPr/>
        </p:nvSpPr>
        <p:spPr>
          <a:xfrm>
            <a:off x="5414211" y="1489826"/>
            <a:ext cx="6096000" cy="4247317"/>
          </a:xfrm>
          <a:prstGeom prst="rect">
            <a:avLst/>
          </a:prstGeom>
          <a:noFill/>
        </p:spPr>
        <p:txBody>
          <a:bodyPr wrap="square">
            <a:spAutoFit/>
          </a:bodyPr>
          <a:lstStyle/>
          <a:p>
            <a:pPr>
              <a:buNone/>
            </a:pPr>
            <a:r>
              <a:rPr lang="en-IN" b="1" dirty="0"/>
              <a:t>Let's summarize the complete flow.</a:t>
            </a:r>
          </a:p>
          <a:p>
            <a:pPr>
              <a:buFont typeface="+mj-lt"/>
              <a:buAutoNum type="arabicPeriod"/>
            </a:pPr>
            <a:r>
              <a:rPr lang="en-IN" dirty="0"/>
              <a:t>Browser sends the request. </a:t>
            </a:r>
          </a:p>
          <a:p>
            <a:pPr>
              <a:buFont typeface="+mj-lt"/>
              <a:buAutoNum type="arabicPeriod"/>
            </a:pPr>
            <a:r>
              <a:rPr lang="en-IN" dirty="0"/>
              <a:t>Azure Portal or Azure CLI creates a REST API request. </a:t>
            </a:r>
          </a:p>
          <a:p>
            <a:pPr>
              <a:buFont typeface="+mj-lt"/>
              <a:buAutoNum type="arabicPeriod"/>
            </a:pPr>
            <a:r>
              <a:rPr lang="en-IN" dirty="0"/>
              <a:t>Microsoft Entra ID authenticates you and checks permissions. </a:t>
            </a:r>
          </a:p>
          <a:p>
            <a:pPr>
              <a:buFont typeface="+mj-lt"/>
              <a:buAutoNum type="arabicPeriod"/>
            </a:pPr>
            <a:r>
              <a:rPr lang="en-IN" dirty="0"/>
              <a:t>Azure Resource Manager validates the request and applies governance. </a:t>
            </a:r>
          </a:p>
          <a:p>
            <a:pPr>
              <a:buFont typeface="+mj-lt"/>
              <a:buAutoNum type="arabicPeriod"/>
            </a:pPr>
            <a:r>
              <a:rPr lang="en-IN" dirty="0"/>
              <a:t>Azure Subscription checks billing, quotas, and limits. </a:t>
            </a:r>
          </a:p>
          <a:p>
            <a:pPr>
              <a:buFont typeface="+mj-lt"/>
              <a:buAutoNum type="arabicPeriod"/>
            </a:pPr>
            <a:r>
              <a:rPr lang="en-IN" dirty="0" err="1"/>
              <a:t>Microsoft.Compute</a:t>
            </a:r>
            <a:r>
              <a:rPr lang="en-IN" dirty="0"/>
              <a:t> Resource Provider handles VM creation. </a:t>
            </a:r>
          </a:p>
          <a:p>
            <a:pPr>
              <a:buFont typeface="+mj-lt"/>
              <a:buAutoNum type="arabicPeriod"/>
            </a:pPr>
            <a:r>
              <a:rPr lang="en-IN" dirty="0"/>
              <a:t>Azure routes the request to the selected Region. </a:t>
            </a:r>
          </a:p>
          <a:p>
            <a:pPr>
              <a:buFont typeface="+mj-lt"/>
              <a:buAutoNum type="arabicPeriod"/>
            </a:pPr>
            <a:r>
              <a:rPr lang="en-IN" dirty="0"/>
              <a:t>A Datacenter is selected. </a:t>
            </a:r>
          </a:p>
          <a:p>
            <a:pPr>
              <a:buFont typeface="+mj-lt"/>
              <a:buAutoNum type="arabicPeriod"/>
            </a:pPr>
            <a:r>
              <a:rPr lang="en-IN" dirty="0"/>
              <a:t>A Hyper-V Host allocates physical resources. </a:t>
            </a:r>
          </a:p>
          <a:p>
            <a:pPr>
              <a:buFont typeface="+mj-lt"/>
              <a:buAutoNum type="arabicPeriod"/>
            </a:pPr>
            <a:r>
              <a:rPr lang="en-IN" dirty="0"/>
              <a:t>The Virtual Machine is created and the success response is returned. </a:t>
            </a:r>
          </a:p>
        </p:txBody>
      </p:sp>
    </p:spTree>
    <p:extLst>
      <p:ext uri="{BB962C8B-B14F-4D97-AF65-F5344CB8AC3E}">
        <p14:creationId xmlns:p14="http://schemas.microsoft.com/office/powerpoint/2010/main" val="188410426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9573269-7DE2-E60C-1541-19A385BBC6C1}"/>
              </a:ext>
            </a:extLst>
          </p:cNvPr>
          <p:cNvSpPr>
            <a:spLocks noGrp="1"/>
          </p:cNvSpPr>
          <p:nvPr>
            <p:ph idx="1"/>
          </p:nvPr>
        </p:nvSpPr>
        <p:spPr>
          <a:xfrm>
            <a:off x="838200" y="112294"/>
            <a:ext cx="10515600" cy="6681537"/>
          </a:xfrm>
        </p:spPr>
        <p:txBody>
          <a:bodyPr>
            <a:normAutofit fontScale="62500" lnSpcReduction="20000"/>
          </a:bodyPr>
          <a:lstStyle/>
          <a:p>
            <a:pPr marL="0" indent="0">
              <a:buNone/>
            </a:pPr>
            <a:r>
              <a:rPr lang="en-US" b="1" dirty="0"/>
              <a:t>Azure Cloud Adoption Journey</a:t>
            </a:r>
            <a:endParaRPr lang="en-IN" b="1" dirty="0"/>
          </a:p>
          <a:p>
            <a:pPr marL="0" indent="0">
              <a:buNone/>
            </a:pPr>
            <a:r>
              <a:rPr lang="en-US" b="1" dirty="0"/>
              <a:t>Step 1: Identify Business Requirements</a:t>
            </a:r>
            <a:endParaRPr lang="en-IN" b="1" dirty="0"/>
          </a:p>
          <a:p>
            <a:pPr lvl="0"/>
            <a:r>
              <a:rPr lang="en-US" dirty="0"/>
              <a:t>Understand the business goals.</a:t>
            </a:r>
            <a:endParaRPr lang="en-IN" dirty="0"/>
          </a:p>
          <a:p>
            <a:pPr lvl="0"/>
            <a:r>
              <a:rPr lang="en-US" dirty="0"/>
              <a:t>Identify the applications that will move to the cloud.</a:t>
            </a:r>
            <a:endParaRPr lang="en-IN" dirty="0"/>
          </a:p>
          <a:p>
            <a:pPr lvl="0"/>
            <a:r>
              <a:rPr lang="en-US" dirty="0"/>
              <a:t>Estimate users, security, and compliance requirements.</a:t>
            </a:r>
            <a:endParaRPr lang="en-IN" dirty="0"/>
          </a:p>
          <a:p>
            <a:pPr marL="0" indent="0">
              <a:buNone/>
            </a:pPr>
            <a:r>
              <a:rPr lang="en-US" b="1" dirty="0"/>
              <a:t>Step 2: Create an Azure Account</a:t>
            </a:r>
            <a:endParaRPr lang="en-IN" b="1" dirty="0"/>
          </a:p>
          <a:p>
            <a:pPr lvl="0"/>
            <a:r>
              <a:rPr lang="en-US" dirty="0"/>
              <a:t>Sign up for Microsoft Azure.</a:t>
            </a:r>
            <a:endParaRPr lang="en-IN" dirty="0"/>
          </a:p>
          <a:p>
            <a:pPr lvl="0"/>
            <a:r>
              <a:rPr lang="en-US" dirty="0"/>
              <a:t>Add billing information.</a:t>
            </a:r>
            <a:endParaRPr lang="en-IN" dirty="0"/>
          </a:p>
          <a:p>
            <a:pPr lvl="0"/>
            <a:r>
              <a:rPr lang="en-US" dirty="0"/>
              <a:t>Verify your account.</a:t>
            </a:r>
            <a:endParaRPr lang="en-IN" dirty="0"/>
          </a:p>
          <a:p>
            <a:pPr lvl="0"/>
            <a:r>
              <a:rPr lang="en-US" dirty="0"/>
              <a:t>Output: Azure account is ready.</a:t>
            </a:r>
            <a:endParaRPr lang="en-IN" dirty="0"/>
          </a:p>
          <a:p>
            <a:pPr marL="0" indent="0">
              <a:buNone/>
            </a:pPr>
            <a:r>
              <a:rPr lang="en-US" b="1" dirty="0"/>
              <a:t>Step 3: Create a Microsoft Entra ID Tenant</a:t>
            </a:r>
            <a:endParaRPr lang="en-IN" b="1" dirty="0"/>
          </a:p>
          <a:p>
            <a:pPr lvl="0"/>
            <a:r>
              <a:rPr lang="en-US" dirty="0"/>
              <a:t>Create a Microsoft Entra ID tenant for the organization.</a:t>
            </a:r>
            <a:endParaRPr lang="en-IN" dirty="0"/>
          </a:p>
          <a:p>
            <a:pPr lvl="0"/>
            <a:r>
              <a:rPr lang="en-US" dirty="0"/>
              <a:t>Add users and groups.</a:t>
            </a:r>
            <a:endParaRPr lang="en-IN" dirty="0"/>
          </a:p>
          <a:p>
            <a:pPr lvl="0"/>
            <a:r>
              <a:rPr lang="en-US" dirty="0"/>
              <a:t>Configure identity and authentication.</a:t>
            </a:r>
            <a:endParaRPr lang="en-IN" dirty="0"/>
          </a:p>
          <a:p>
            <a:pPr lvl="0"/>
            <a:r>
              <a:rPr lang="en-US" dirty="0"/>
              <a:t>Output: Organization identity is ready.</a:t>
            </a:r>
            <a:endParaRPr lang="en-IN" dirty="0"/>
          </a:p>
          <a:p>
            <a:pPr marL="0" indent="0">
              <a:buNone/>
            </a:pPr>
            <a:r>
              <a:rPr lang="en-US" b="1" dirty="0"/>
              <a:t>Step 4: Create Azure Subscription(s)</a:t>
            </a:r>
            <a:endParaRPr lang="en-IN" b="1" dirty="0"/>
          </a:p>
          <a:p>
            <a:pPr lvl="0"/>
            <a:r>
              <a:rPr lang="en-US" dirty="0"/>
              <a:t>Create one or more Azure subscriptions.</a:t>
            </a:r>
            <a:endParaRPr lang="en-IN" dirty="0"/>
          </a:p>
          <a:p>
            <a:pPr lvl="0"/>
            <a:r>
              <a:rPr lang="en-US" dirty="0"/>
              <a:t>Configure billing.</a:t>
            </a:r>
            <a:endParaRPr lang="en-IN" dirty="0"/>
          </a:p>
          <a:p>
            <a:pPr lvl="0"/>
            <a:r>
              <a:rPr lang="en-US" dirty="0"/>
              <a:t>Create separate subscriptions for Production, Development, and Testing if needed.</a:t>
            </a:r>
            <a:endParaRPr lang="en-IN" dirty="0"/>
          </a:p>
          <a:p>
            <a:pPr lvl="0"/>
            <a:r>
              <a:rPr lang="en-US" dirty="0"/>
              <a:t>Output: Resource deployment and billing boundary is ready.</a:t>
            </a:r>
            <a:endParaRPr lang="en-IN" dirty="0"/>
          </a:p>
          <a:p>
            <a:endParaRPr lang="en-IN" dirty="0"/>
          </a:p>
        </p:txBody>
      </p:sp>
    </p:spTree>
    <p:extLst>
      <p:ext uri="{BB962C8B-B14F-4D97-AF65-F5344CB8AC3E}">
        <p14:creationId xmlns:p14="http://schemas.microsoft.com/office/powerpoint/2010/main" val="36921550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8213B-313E-A538-9ACF-D23F8797FF3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65BB026-4695-B667-8D45-3D9371CB2A06}"/>
              </a:ext>
            </a:extLst>
          </p:cNvPr>
          <p:cNvSpPr>
            <a:spLocks noGrp="1"/>
          </p:cNvSpPr>
          <p:nvPr>
            <p:ph idx="1"/>
          </p:nvPr>
        </p:nvSpPr>
        <p:spPr>
          <a:xfrm>
            <a:off x="838200" y="112294"/>
            <a:ext cx="10515600" cy="6681537"/>
          </a:xfrm>
        </p:spPr>
        <p:txBody>
          <a:bodyPr>
            <a:normAutofit fontScale="47500" lnSpcReduction="20000"/>
          </a:bodyPr>
          <a:lstStyle/>
          <a:p>
            <a:pPr marL="0" indent="0">
              <a:buNone/>
            </a:pPr>
            <a:r>
              <a:rPr lang="en-US" b="1" dirty="0"/>
              <a:t>Step 5: Organize with Management Groups (Optional)</a:t>
            </a:r>
            <a:endParaRPr lang="en-IN" b="1" dirty="0"/>
          </a:p>
          <a:p>
            <a:pPr lvl="0"/>
            <a:r>
              <a:rPr lang="en-US" dirty="0"/>
              <a:t>Group multiple subscriptions together.</a:t>
            </a:r>
            <a:endParaRPr lang="en-IN" dirty="0"/>
          </a:p>
          <a:p>
            <a:pPr lvl="0"/>
            <a:r>
              <a:rPr lang="en-US" dirty="0"/>
              <a:t>Apply Azure Policy, RBAC, and governance.</a:t>
            </a:r>
            <a:endParaRPr lang="en-IN" dirty="0"/>
          </a:p>
          <a:p>
            <a:pPr lvl="0"/>
            <a:r>
              <a:rPr lang="en-US" dirty="0"/>
              <a:t>Simplify administration for large organizations.</a:t>
            </a:r>
            <a:endParaRPr lang="en-IN" dirty="0"/>
          </a:p>
          <a:p>
            <a:pPr lvl="0"/>
            <a:r>
              <a:rPr lang="en-US" dirty="0"/>
              <a:t>Output: Subscription hierarchy is organized.</a:t>
            </a:r>
            <a:endParaRPr lang="en-IN" dirty="0"/>
          </a:p>
          <a:p>
            <a:pPr marL="0" indent="0">
              <a:buNone/>
            </a:pPr>
            <a:r>
              <a:rPr lang="en-US" b="1" dirty="0"/>
              <a:t>Step 6: Design the Azure Landing Zone</a:t>
            </a:r>
            <a:endParaRPr lang="en-IN" b="1" dirty="0"/>
          </a:p>
          <a:p>
            <a:pPr lvl="0"/>
            <a:r>
              <a:rPr lang="en-US" dirty="0"/>
              <a:t>Plan networking.</a:t>
            </a:r>
            <a:endParaRPr lang="en-IN" dirty="0"/>
          </a:p>
          <a:p>
            <a:pPr lvl="0"/>
            <a:r>
              <a:rPr lang="en-US" dirty="0"/>
              <a:t>Configure identity, security, governance, and monitoring.</a:t>
            </a:r>
            <a:endParaRPr lang="en-IN" dirty="0"/>
          </a:p>
          <a:p>
            <a:pPr lvl="0"/>
            <a:r>
              <a:rPr lang="en-US" dirty="0"/>
              <a:t>Output: Enterprise-ready Azure environment.</a:t>
            </a:r>
            <a:endParaRPr lang="en-IN" dirty="0"/>
          </a:p>
          <a:p>
            <a:pPr marL="0" indent="0">
              <a:buNone/>
            </a:pPr>
            <a:r>
              <a:rPr lang="en-US" b="1" dirty="0"/>
              <a:t>Step 7: Create Resource Groups</a:t>
            </a:r>
            <a:endParaRPr lang="en-IN" b="1" dirty="0"/>
          </a:p>
          <a:p>
            <a:pPr lvl="0"/>
            <a:r>
              <a:rPr lang="en-US" dirty="0"/>
              <a:t>Create logical containers for related resources.</a:t>
            </a:r>
            <a:endParaRPr lang="en-IN" dirty="0"/>
          </a:p>
          <a:p>
            <a:pPr lvl="0"/>
            <a:r>
              <a:rPr lang="en-US" dirty="0"/>
              <a:t>Organize resources by application, department, or environment.</a:t>
            </a:r>
            <a:endParaRPr lang="en-IN" dirty="0"/>
          </a:p>
          <a:p>
            <a:pPr lvl="0"/>
            <a:r>
              <a:rPr lang="en-US" dirty="0"/>
              <a:t>Output: Resources are organized.</a:t>
            </a:r>
            <a:endParaRPr lang="en-IN" dirty="0"/>
          </a:p>
          <a:p>
            <a:pPr marL="0" indent="0">
              <a:buNone/>
            </a:pPr>
            <a:r>
              <a:rPr lang="en-US" b="1" dirty="0"/>
              <a:t>Step 8: Deploy Azure Resources</a:t>
            </a:r>
            <a:endParaRPr lang="en-IN" b="1" dirty="0"/>
          </a:p>
          <a:p>
            <a:pPr lvl="0"/>
            <a:r>
              <a:rPr lang="en-US" dirty="0"/>
              <a:t>Deploy Virtual Machines, Storage Accounts, Virtual Networks, SQL Databases, App Services, Key Vault, and other Azure services.</a:t>
            </a:r>
            <a:endParaRPr lang="en-IN" dirty="0"/>
          </a:p>
          <a:p>
            <a:pPr lvl="0"/>
            <a:r>
              <a:rPr lang="en-US" dirty="0"/>
              <a:t>Output: Applications are running in Azure.</a:t>
            </a:r>
            <a:endParaRPr lang="en-IN" dirty="0"/>
          </a:p>
          <a:p>
            <a:pPr marL="0" indent="0">
              <a:buNone/>
            </a:pPr>
            <a:r>
              <a:rPr lang="en-US" b="1" dirty="0"/>
              <a:t>Step 9: Secure and Govern</a:t>
            </a:r>
            <a:endParaRPr lang="en-IN" b="1" dirty="0"/>
          </a:p>
          <a:p>
            <a:pPr lvl="0"/>
            <a:r>
              <a:rPr lang="en-US" dirty="0"/>
              <a:t>Configure RBAC.</a:t>
            </a:r>
            <a:endParaRPr lang="en-IN" dirty="0"/>
          </a:p>
          <a:p>
            <a:pPr lvl="0"/>
            <a:r>
              <a:rPr lang="en-US" dirty="0"/>
              <a:t>Apply Azure Policy.</a:t>
            </a:r>
            <a:endParaRPr lang="en-IN" dirty="0"/>
          </a:p>
          <a:p>
            <a:pPr lvl="0"/>
            <a:r>
              <a:rPr lang="en-US" dirty="0"/>
              <a:t>Enable Microsoft Defender for Cloud.</a:t>
            </a:r>
            <a:endParaRPr lang="en-IN" dirty="0"/>
          </a:p>
          <a:p>
            <a:pPr lvl="0"/>
            <a:r>
              <a:rPr lang="en-US" dirty="0"/>
              <a:t>Use resource locks and tags where appropriate.</a:t>
            </a:r>
            <a:endParaRPr lang="en-IN" dirty="0"/>
          </a:p>
          <a:p>
            <a:pPr marL="0" indent="0">
              <a:buNone/>
            </a:pPr>
            <a:r>
              <a:rPr lang="en-US" b="1" dirty="0"/>
              <a:t>Step 10: Monitor and Optimize</a:t>
            </a:r>
            <a:endParaRPr lang="en-IN" b="1" dirty="0"/>
          </a:p>
          <a:p>
            <a:pPr lvl="0"/>
            <a:r>
              <a:rPr lang="en-US" dirty="0"/>
              <a:t>Use Azure Monitor.</a:t>
            </a:r>
            <a:endParaRPr lang="en-IN" dirty="0"/>
          </a:p>
          <a:p>
            <a:pPr lvl="0"/>
            <a:r>
              <a:rPr lang="en-US" dirty="0"/>
              <a:t>Review Azure Advisor recommendations.</a:t>
            </a:r>
            <a:endParaRPr lang="en-IN" dirty="0"/>
          </a:p>
          <a:p>
            <a:pPr lvl="0"/>
            <a:r>
              <a:rPr lang="en-US" dirty="0"/>
              <a:t>Manage costs, backups, disaster recovery, and performance.</a:t>
            </a:r>
            <a:endParaRPr lang="en-IN" dirty="0"/>
          </a:p>
        </p:txBody>
      </p:sp>
    </p:spTree>
    <p:extLst>
      <p:ext uri="{BB962C8B-B14F-4D97-AF65-F5344CB8AC3E}">
        <p14:creationId xmlns:p14="http://schemas.microsoft.com/office/powerpoint/2010/main" val="129993859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462620-6D2F-69B2-F544-D5688038E95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D1C240F-F2DA-4679-2FB0-4A92C37903C6}"/>
              </a:ext>
            </a:extLst>
          </p:cNvPr>
          <p:cNvSpPr>
            <a:spLocks noGrp="1"/>
          </p:cNvSpPr>
          <p:nvPr>
            <p:ph idx="1"/>
          </p:nvPr>
        </p:nvSpPr>
        <p:spPr>
          <a:xfrm>
            <a:off x="838200" y="112294"/>
            <a:ext cx="10515600" cy="6681537"/>
          </a:xfrm>
        </p:spPr>
        <p:txBody>
          <a:bodyPr>
            <a:normAutofit fontScale="55000" lnSpcReduction="20000"/>
          </a:bodyPr>
          <a:lstStyle/>
          <a:p>
            <a:r>
              <a:rPr lang="en-IN" dirty="0"/>
              <a:t>Now that we understand Azure's architecture...</a:t>
            </a:r>
          </a:p>
          <a:p>
            <a:r>
              <a:rPr lang="en-IN" dirty="0"/>
              <a:t>Let's move to something you'll use every day.</a:t>
            </a:r>
          </a:p>
          <a:p>
            <a:pPr marL="0" indent="0">
              <a:buNone/>
            </a:pPr>
            <a:r>
              <a:rPr lang="en-IN" dirty="0"/>
              <a:t>The </a:t>
            </a:r>
            <a:r>
              <a:rPr lang="en-IN" b="1" dirty="0"/>
              <a:t>Azure Portal</a:t>
            </a:r>
            <a:r>
              <a:rPr lang="en-IN" dirty="0"/>
              <a:t>.</a:t>
            </a:r>
          </a:p>
          <a:p>
            <a:r>
              <a:rPr lang="en-IN" dirty="0"/>
              <a:t>Almost every Azure administrator, cloud engineer, and architect starts here.</a:t>
            </a:r>
          </a:p>
          <a:p>
            <a:br>
              <a:rPr lang="en-IN" dirty="0"/>
            </a:br>
            <a:endParaRPr lang="en-IN" dirty="0"/>
          </a:p>
          <a:p>
            <a:r>
              <a:rPr lang="en-IN" dirty="0"/>
              <a:t>Before I explain...</a:t>
            </a:r>
          </a:p>
          <a:p>
            <a:r>
              <a:rPr lang="en-IN" dirty="0"/>
              <a:t>Let me ask you a question.</a:t>
            </a:r>
          </a:p>
          <a:p>
            <a:pPr marL="0" indent="0">
              <a:buNone/>
            </a:pPr>
            <a:r>
              <a:rPr lang="en-IN" b="1" dirty="0"/>
              <a:t>If Azure has thousands of services...</a:t>
            </a:r>
            <a:endParaRPr lang="en-IN" dirty="0"/>
          </a:p>
          <a:p>
            <a:r>
              <a:rPr lang="en-IN" dirty="0"/>
              <a:t>How do we manage them?</a:t>
            </a:r>
          </a:p>
          <a:p>
            <a:r>
              <a:rPr lang="en-IN" dirty="0"/>
              <a:t>Do we memorize hundreds of commands?</a:t>
            </a:r>
          </a:p>
          <a:p>
            <a:r>
              <a:rPr lang="en-IN" dirty="0"/>
              <a:t>Do we manually connect to Microsoft's datacenters?</a:t>
            </a:r>
          </a:p>
          <a:p>
            <a:r>
              <a:rPr lang="en-IN" dirty="0"/>
              <a:t>Of course not.</a:t>
            </a:r>
          </a:p>
          <a:p>
            <a:r>
              <a:rPr lang="en-IN" dirty="0"/>
              <a:t>Microsoft gives us one central place to manage everything.</a:t>
            </a:r>
          </a:p>
          <a:p>
            <a:r>
              <a:rPr lang="en-IN" dirty="0"/>
              <a:t>That place is called the </a:t>
            </a:r>
            <a:r>
              <a:rPr lang="en-IN" b="1" dirty="0"/>
              <a:t>Azure Portal</a:t>
            </a:r>
            <a:r>
              <a:rPr lang="en-IN" dirty="0"/>
              <a:t>.</a:t>
            </a:r>
          </a:p>
          <a:p>
            <a:br>
              <a:rPr lang="en-IN" dirty="0"/>
            </a:br>
            <a:endParaRPr lang="en-IN" dirty="0"/>
          </a:p>
          <a:p>
            <a:pPr marL="0" indent="0">
              <a:buNone/>
            </a:pPr>
            <a:r>
              <a:rPr lang="en-IN" b="1" dirty="0"/>
              <a:t>What is the Azure Portal?</a:t>
            </a:r>
          </a:p>
          <a:p>
            <a:r>
              <a:rPr lang="en-IN" dirty="0"/>
              <a:t>The Azure Portal is a </a:t>
            </a:r>
            <a:r>
              <a:rPr lang="en-IN" b="1" dirty="0"/>
              <a:t>web-based management interface</a:t>
            </a:r>
            <a:r>
              <a:rPr lang="en-IN" dirty="0"/>
              <a:t> for Microsoft Azure.</a:t>
            </a:r>
          </a:p>
          <a:p>
            <a:r>
              <a:rPr lang="en-IN" dirty="0"/>
              <a:t>In simple words...</a:t>
            </a:r>
          </a:p>
          <a:p>
            <a:r>
              <a:rPr lang="en-IN" dirty="0"/>
              <a:t>It is the </a:t>
            </a:r>
            <a:r>
              <a:rPr lang="en-IN" b="1" dirty="0"/>
              <a:t>website where we manage Azure resources.</a:t>
            </a:r>
            <a:endParaRPr lang="en-IN" dirty="0"/>
          </a:p>
          <a:p>
            <a:r>
              <a:rPr lang="en-IN" dirty="0"/>
              <a:t>Instead of remembering commands...</a:t>
            </a:r>
          </a:p>
          <a:p>
            <a:r>
              <a:rPr lang="en-IN" dirty="0"/>
              <a:t>We simply use our browser.</a:t>
            </a:r>
          </a:p>
          <a:p>
            <a:r>
              <a:rPr lang="en-IN" dirty="0"/>
              <a:t>Everything is available through a graphical interface.</a:t>
            </a:r>
          </a:p>
        </p:txBody>
      </p:sp>
      <p:sp>
        <p:nvSpPr>
          <p:cNvPr id="4" name="TextBox 3">
            <a:extLst>
              <a:ext uri="{FF2B5EF4-FFF2-40B4-BE49-F238E27FC236}">
                <a16:creationId xmlns:a16="http://schemas.microsoft.com/office/drawing/2014/main" id="{09DE7C09-71C1-F4B3-01DD-DCA4478A0FA8}"/>
              </a:ext>
            </a:extLst>
          </p:cNvPr>
          <p:cNvSpPr txBox="1"/>
          <p:nvPr/>
        </p:nvSpPr>
        <p:spPr>
          <a:xfrm>
            <a:off x="5863389" y="236440"/>
            <a:ext cx="2526632" cy="523220"/>
          </a:xfrm>
          <a:prstGeom prst="rect">
            <a:avLst/>
          </a:prstGeom>
          <a:noFill/>
        </p:spPr>
        <p:txBody>
          <a:bodyPr wrap="square">
            <a:spAutoFit/>
          </a:bodyPr>
          <a:lstStyle/>
          <a:p>
            <a:r>
              <a:rPr lang="en-IN" sz="2800" b="1" dirty="0"/>
              <a:t>Azure Portal</a:t>
            </a:r>
            <a:endParaRPr lang="en-IN" sz="2800" dirty="0"/>
          </a:p>
        </p:txBody>
      </p:sp>
    </p:spTree>
    <p:extLst>
      <p:ext uri="{BB962C8B-B14F-4D97-AF65-F5344CB8AC3E}">
        <p14:creationId xmlns:p14="http://schemas.microsoft.com/office/powerpoint/2010/main" val="292949955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AFEAF9-744F-0E30-FED2-585D48DB14A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4FE6FD1-F186-F823-0C7A-878BBA74716A}"/>
              </a:ext>
            </a:extLst>
          </p:cNvPr>
          <p:cNvSpPr>
            <a:spLocks noGrp="1"/>
          </p:cNvSpPr>
          <p:nvPr>
            <p:ph idx="1"/>
          </p:nvPr>
        </p:nvSpPr>
        <p:spPr>
          <a:xfrm>
            <a:off x="838200" y="112294"/>
            <a:ext cx="10515600" cy="6681537"/>
          </a:xfrm>
        </p:spPr>
        <p:txBody>
          <a:bodyPr>
            <a:normAutofit fontScale="70000" lnSpcReduction="20000"/>
          </a:bodyPr>
          <a:lstStyle/>
          <a:p>
            <a:pPr marL="0" indent="0">
              <a:buNone/>
            </a:pPr>
            <a:r>
              <a:rPr lang="en-IN" dirty="0"/>
              <a:t>The Azure Portal itself does </a:t>
            </a:r>
            <a:r>
              <a:rPr lang="en-IN" b="1" dirty="0"/>
              <a:t>not create Virtual Machines.</a:t>
            </a:r>
            <a:endParaRPr lang="en-IN" dirty="0"/>
          </a:p>
          <a:p>
            <a:r>
              <a:rPr lang="en-IN" dirty="0"/>
              <a:t>It does </a:t>
            </a:r>
            <a:r>
              <a:rPr lang="en-IN" b="1" dirty="0"/>
              <a:t>not create Storage Accounts.</a:t>
            </a:r>
            <a:endParaRPr lang="en-IN" dirty="0"/>
          </a:p>
          <a:p>
            <a:r>
              <a:rPr lang="en-IN" dirty="0"/>
              <a:t>It does </a:t>
            </a:r>
            <a:r>
              <a:rPr lang="en-IN" b="1" dirty="0"/>
              <a:t>not create Networks.</a:t>
            </a:r>
            <a:endParaRPr lang="en-IN" dirty="0"/>
          </a:p>
          <a:p>
            <a:r>
              <a:rPr lang="en-IN" dirty="0"/>
              <a:t>Instead...</a:t>
            </a:r>
          </a:p>
          <a:p>
            <a:r>
              <a:rPr lang="en-IN" dirty="0"/>
              <a:t>It sends API requests to Azure Resource Manager.</a:t>
            </a:r>
          </a:p>
          <a:p>
            <a:r>
              <a:rPr lang="en-IN" dirty="0"/>
              <a:t>So think of the Azure Portal as a </a:t>
            </a:r>
            <a:r>
              <a:rPr lang="en-IN" b="1" dirty="0"/>
              <a:t>control panel</a:t>
            </a:r>
            <a:r>
              <a:rPr lang="en-IN" dirty="0"/>
              <a:t>, not the actual cloud.</a:t>
            </a:r>
          </a:p>
          <a:p>
            <a:pPr marL="0" indent="0">
              <a:buNone/>
            </a:pPr>
            <a:br>
              <a:rPr lang="en-IN" dirty="0"/>
            </a:br>
            <a:endParaRPr lang="en-IN" dirty="0"/>
          </a:p>
          <a:p>
            <a:pPr marL="0" indent="0">
              <a:buNone/>
            </a:pPr>
            <a:r>
              <a:rPr lang="en-IN" b="1" dirty="0"/>
              <a:t>Let's look at the screen.</a:t>
            </a:r>
          </a:p>
          <a:p>
            <a:r>
              <a:rPr lang="en-IN" dirty="0"/>
              <a:t>The first thing you'll notice...</a:t>
            </a:r>
          </a:p>
          <a:p>
            <a:r>
              <a:rPr lang="en-IN" dirty="0"/>
              <a:t>is the </a:t>
            </a:r>
            <a:r>
              <a:rPr lang="en-IN" b="1" dirty="0"/>
              <a:t>Search bar</a:t>
            </a:r>
            <a:r>
              <a:rPr lang="en-IN" dirty="0"/>
              <a:t> at the top.</a:t>
            </a:r>
          </a:p>
          <a:p>
            <a:r>
              <a:rPr lang="en-IN" dirty="0"/>
              <a:t>This is probably the feature you'll use the most.</a:t>
            </a:r>
          </a:p>
          <a:p>
            <a:r>
              <a:rPr lang="en-IN" dirty="0"/>
              <a:t>Instead of searching through menus...</a:t>
            </a:r>
          </a:p>
          <a:p>
            <a:r>
              <a:rPr lang="en-IN" dirty="0"/>
              <a:t>Simply type:</a:t>
            </a:r>
          </a:p>
          <a:p>
            <a:r>
              <a:rPr lang="en-IN" dirty="0"/>
              <a:t>Virtual Machine</a:t>
            </a:r>
          </a:p>
          <a:p>
            <a:r>
              <a:rPr lang="en-IN" dirty="0"/>
              <a:t>Storage Account</a:t>
            </a:r>
          </a:p>
          <a:p>
            <a:r>
              <a:rPr lang="en-IN" dirty="0"/>
              <a:t>Resource Group</a:t>
            </a:r>
          </a:p>
          <a:p>
            <a:r>
              <a:rPr lang="en-IN" dirty="0"/>
              <a:t>Virtual Network</a:t>
            </a:r>
          </a:p>
          <a:p>
            <a:r>
              <a:rPr lang="en-IN" dirty="0"/>
              <a:t>Azure quickly finds the service for you.</a:t>
            </a:r>
          </a:p>
          <a:p>
            <a:r>
              <a:rPr lang="en-IN" dirty="0"/>
              <a:t>Think of it as Google's search box for Azure resources.</a:t>
            </a:r>
          </a:p>
        </p:txBody>
      </p:sp>
      <p:sp>
        <p:nvSpPr>
          <p:cNvPr id="4" name="TextBox 3">
            <a:extLst>
              <a:ext uri="{FF2B5EF4-FFF2-40B4-BE49-F238E27FC236}">
                <a16:creationId xmlns:a16="http://schemas.microsoft.com/office/drawing/2014/main" id="{413C380B-4D92-FC01-2191-26B71F89AA4B}"/>
              </a:ext>
            </a:extLst>
          </p:cNvPr>
          <p:cNvSpPr txBox="1"/>
          <p:nvPr/>
        </p:nvSpPr>
        <p:spPr>
          <a:xfrm>
            <a:off x="8827168" y="196334"/>
            <a:ext cx="2526632" cy="523220"/>
          </a:xfrm>
          <a:prstGeom prst="rect">
            <a:avLst/>
          </a:prstGeom>
          <a:noFill/>
        </p:spPr>
        <p:txBody>
          <a:bodyPr wrap="square">
            <a:spAutoFit/>
          </a:bodyPr>
          <a:lstStyle/>
          <a:p>
            <a:r>
              <a:rPr lang="en-IN" sz="2800" b="1" dirty="0"/>
              <a:t>Azure Portal</a:t>
            </a:r>
            <a:endParaRPr lang="en-IN" sz="2800" dirty="0"/>
          </a:p>
        </p:txBody>
      </p:sp>
    </p:spTree>
    <p:extLst>
      <p:ext uri="{BB962C8B-B14F-4D97-AF65-F5344CB8AC3E}">
        <p14:creationId xmlns:p14="http://schemas.microsoft.com/office/powerpoint/2010/main" val="17956035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1A1B15-62D0-C46C-3061-EE3F4FD14C4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589CD7D-AC37-357A-86E7-659A96E3C511}"/>
              </a:ext>
            </a:extLst>
          </p:cNvPr>
          <p:cNvSpPr>
            <a:spLocks noGrp="1"/>
          </p:cNvSpPr>
          <p:nvPr>
            <p:ph idx="1"/>
          </p:nvPr>
        </p:nvSpPr>
        <p:spPr>
          <a:xfrm>
            <a:off x="838200" y="112294"/>
            <a:ext cx="10515600" cy="6681537"/>
          </a:xfrm>
        </p:spPr>
        <p:txBody>
          <a:bodyPr>
            <a:normAutofit fontScale="55000" lnSpcReduction="20000"/>
          </a:bodyPr>
          <a:lstStyle/>
          <a:p>
            <a:pPr marL="0" indent="0">
              <a:buNone/>
            </a:pPr>
            <a:r>
              <a:rPr lang="en-IN" dirty="0"/>
              <a:t>Look at the </a:t>
            </a:r>
            <a:r>
              <a:rPr lang="en-IN" b="1" dirty="0"/>
              <a:t>Azure Services</a:t>
            </a:r>
            <a:r>
              <a:rPr lang="en-IN" dirty="0"/>
              <a:t> section.</a:t>
            </a:r>
          </a:p>
          <a:p>
            <a:r>
              <a:rPr lang="en-IN" dirty="0"/>
              <a:t>These are shortcuts to the services you use most often.</a:t>
            </a:r>
          </a:p>
          <a:p>
            <a:r>
              <a:rPr lang="en-IN" dirty="0"/>
              <a:t>For example...</a:t>
            </a:r>
          </a:p>
          <a:p>
            <a:r>
              <a:rPr lang="en-IN" dirty="0"/>
              <a:t>Create a Resource </a:t>
            </a:r>
          </a:p>
          <a:p>
            <a:r>
              <a:rPr lang="en-IN" dirty="0"/>
              <a:t>Storage Accounts </a:t>
            </a:r>
          </a:p>
          <a:p>
            <a:r>
              <a:rPr lang="en-IN" dirty="0"/>
              <a:t>App Services </a:t>
            </a:r>
          </a:p>
          <a:p>
            <a:r>
              <a:rPr lang="en-IN" dirty="0"/>
              <a:t>Resource Groups </a:t>
            </a:r>
          </a:p>
          <a:p>
            <a:r>
              <a:rPr lang="en-IN" dirty="0"/>
              <a:t>Microsoft Entra ID </a:t>
            </a:r>
          </a:p>
          <a:p>
            <a:r>
              <a:rPr lang="en-IN" dirty="0"/>
              <a:t>Microsoft Sentinel </a:t>
            </a:r>
          </a:p>
          <a:p>
            <a:r>
              <a:rPr lang="en-IN" dirty="0"/>
              <a:t>Log Analytics Workspace </a:t>
            </a:r>
          </a:p>
          <a:p>
            <a:r>
              <a:rPr lang="en-IN" dirty="0"/>
              <a:t>These shortcuts save time.</a:t>
            </a:r>
          </a:p>
          <a:p>
            <a:r>
              <a:rPr lang="en-IN" dirty="0"/>
              <a:t>Instead of searching every time...</a:t>
            </a:r>
          </a:p>
          <a:p>
            <a:r>
              <a:rPr lang="en-IN" dirty="0"/>
              <a:t>You simply click the service.</a:t>
            </a:r>
          </a:p>
          <a:p>
            <a:pPr marL="0" indent="0">
              <a:buNone/>
            </a:pPr>
            <a:br>
              <a:rPr lang="en-IN" dirty="0"/>
            </a:br>
            <a:endParaRPr lang="en-IN" dirty="0"/>
          </a:p>
          <a:p>
            <a:pPr marL="0" indent="0">
              <a:buNone/>
            </a:pPr>
            <a:r>
              <a:rPr lang="en-IN" dirty="0"/>
              <a:t>Below that...</a:t>
            </a:r>
          </a:p>
          <a:p>
            <a:pPr marL="0" indent="0">
              <a:buNone/>
            </a:pPr>
            <a:r>
              <a:rPr lang="en-IN" dirty="0"/>
              <a:t>You'll see the </a:t>
            </a:r>
            <a:r>
              <a:rPr lang="en-IN" b="1" dirty="0"/>
              <a:t>Resources</a:t>
            </a:r>
            <a:r>
              <a:rPr lang="en-IN" dirty="0"/>
              <a:t> section.</a:t>
            </a:r>
          </a:p>
          <a:p>
            <a:r>
              <a:rPr lang="en-IN" dirty="0"/>
              <a:t>This shows the Azure resources you've recently opened.</a:t>
            </a:r>
          </a:p>
          <a:p>
            <a:r>
              <a:rPr lang="en-IN" dirty="0"/>
              <a:t>For example...</a:t>
            </a:r>
          </a:p>
          <a:p>
            <a:r>
              <a:rPr lang="en-IN" dirty="0"/>
              <a:t>If you recently viewed a Virtual Machine...</a:t>
            </a:r>
          </a:p>
          <a:p>
            <a:r>
              <a:rPr lang="en-IN" dirty="0"/>
              <a:t>or a Storage Account...</a:t>
            </a:r>
          </a:p>
          <a:p>
            <a:r>
              <a:rPr lang="en-IN" dirty="0"/>
              <a:t>Azure displays them here.</a:t>
            </a:r>
          </a:p>
          <a:p>
            <a:r>
              <a:rPr lang="en-IN" dirty="0"/>
              <a:t>This makes it easy to continue your work without searching again.</a:t>
            </a:r>
          </a:p>
        </p:txBody>
      </p:sp>
      <p:sp>
        <p:nvSpPr>
          <p:cNvPr id="4" name="TextBox 3">
            <a:extLst>
              <a:ext uri="{FF2B5EF4-FFF2-40B4-BE49-F238E27FC236}">
                <a16:creationId xmlns:a16="http://schemas.microsoft.com/office/drawing/2014/main" id="{D2817B52-4B19-FE1C-5E3B-A5849C20245A}"/>
              </a:ext>
            </a:extLst>
          </p:cNvPr>
          <p:cNvSpPr txBox="1"/>
          <p:nvPr/>
        </p:nvSpPr>
        <p:spPr>
          <a:xfrm>
            <a:off x="8827168" y="196334"/>
            <a:ext cx="2526632" cy="523220"/>
          </a:xfrm>
          <a:prstGeom prst="rect">
            <a:avLst/>
          </a:prstGeom>
          <a:noFill/>
        </p:spPr>
        <p:txBody>
          <a:bodyPr wrap="square">
            <a:spAutoFit/>
          </a:bodyPr>
          <a:lstStyle/>
          <a:p>
            <a:r>
              <a:rPr lang="en-IN" sz="2800" b="1" dirty="0"/>
              <a:t>Azure Portal</a:t>
            </a:r>
            <a:endParaRPr lang="en-IN" sz="2800" dirty="0"/>
          </a:p>
        </p:txBody>
      </p:sp>
    </p:spTree>
    <p:extLst>
      <p:ext uri="{BB962C8B-B14F-4D97-AF65-F5344CB8AC3E}">
        <p14:creationId xmlns:p14="http://schemas.microsoft.com/office/powerpoint/2010/main" val="65953245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1FE6E8-1ADA-821B-2F81-87524476CD4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05217A-1D69-A115-7E62-8AABB9F427D6}"/>
              </a:ext>
            </a:extLst>
          </p:cNvPr>
          <p:cNvSpPr>
            <a:spLocks noGrp="1"/>
          </p:cNvSpPr>
          <p:nvPr>
            <p:ph idx="1"/>
          </p:nvPr>
        </p:nvSpPr>
        <p:spPr>
          <a:xfrm>
            <a:off x="838200" y="112294"/>
            <a:ext cx="10515600" cy="6681537"/>
          </a:xfrm>
        </p:spPr>
        <p:txBody>
          <a:bodyPr>
            <a:normAutofit fontScale="47500" lnSpcReduction="20000"/>
          </a:bodyPr>
          <a:lstStyle/>
          <a:p>
            <a:pPr marL="0" indent="0">
              <a:buNone/>
            </a:pPr>
            <a:r>
              <a:rPr lang="en-IN" dirty="0"/>
              <a:t>Now look further down.</a:t>
            </a:r>
          </a:p>
          <a:p>
            <a:r>
              <a:rPr lang="en-IN" dirty="0"/>
              <a:t>You'll see the </a:t>
            </a:r>
            <a:r>
              <a:rPr lang="en-IN" b="1" dirty="0"/>
              <a:t>Navigate</a:t>
            </a:r>
            <a:r>
              <a:rPr lang="en-IN" dirty="0"/>
              <a:t> section.</a:t>
            </a:r>
          </a:p>
          <a:p>
            <a:r>
              <a:rPr lang="en-IN" dirty="0"/>
              <a:t>These are some of the most commonly used areas.</a:t>
            </a:r>
          </a:p>
          <a:p>
            <a:r>
              <a:rPr lang="en-IN" dirty="0"/>
              <a:t>Let's understand each one.</a:t>
            </a:r>
          </a:p>
          <a:p>
            <a:pPr marL="0" indent="0">
              <a:buNone/>
            </a:pPr>
            <a:br>
              <a:rPr lang="en-IN" dirty="0"/>
            </a:br>
            <a:r>
              <a:rPr lang="en-IN" b="1" dirty="0"/>
              <a:t>Subscriptions</a:t>
            </a:r>
          </a:p>
          <a:p>
            <a:r>
              <a:rPr lang="en-IN" dirty="0"/>
              <a:t>This is where you manage your Azure Subscriptions.</a:t>
            </a:r>
          </a:p>
          <a:p>
            <a:r>
              <a:rPr lang="en-IN" dirty="0"/>
              <a:t>Here you can see:</a:t>
            </a:r>
          </a:p>
          <a:p>
            <a:r>
              <a:rPr lang="en-IN" dirty="0"/>
              <a:t>Subscription Name </a:t>
            </a:r>
          </a:p>
          <a:p>
            <a:r>
              <a:rPr lang="en-IN" dirty="0"/>
              <a:t>Subscription ID </a:t>
            </a:r>
          </a:p>
          <a:p>
            <a:r>
              <a:rPr lang="en-IN" dirty="0"/>
              <a:t>Billing </a:t>
            </a:r>
          </a:p>
          <a:p>
            <a:r>
              <a:rPr lang="en-IN" dirty="0"/>
              <a:t>Access </a:t>
            </a:r>
          </a:p>
          <a:p>
            <a:r>
              <a:rPr lang="en-IN" dirty="0"/>
              <a:t>Resource usage </a:t>
            </a:r>
          </a:p>
          <a:p>
            <a:r>
              <a:rPr lang="en-IN" dirty="0"/>
              <a:t>Remember...</a:t>
            </a:r>
          </a:p>
          <a:p>
            <a:r>
              <a:rPr lang="en-IN" dirty="0"/>
              <a:t>Every Azure resource belongs to a Subscription.</a:t>
            </a:r>
            <a:br>
              <a:rPr lang="en-IN" dirty="0"/>
            </a:br>
            <a:endParaRPr lang="en-IN" dirty="0"/>
          </a:p>
          <a:p>
            <a:pPr marL="0" indent="0">
              <a:buNone/>
            </a:pPr>
            <a:r>
              <a:rPr lang="en-IN" b="1" dirty="0"/>
              <a:t>Resource Groups</a:t>
            </a:r>
          </a:p>
          <a:p>
            <a:r>
              <a:rPr lang="en-IN" dirty="0"/>
              <a:t>This is where you organize Azure resources.</a:t>
            </a:r>
          </a:p>
          <a:p>
            <a:r>
              <a:rPr lang="en-IN" dirty="0"/>
              <a:t>For example...</a:t>
            </a:r>
          </a:p>
          <a:p>
            <a:r>
              <a:rPr lang="en-IN" dirty="0"/>
              <a:t>One Resource Group may contain:</a:t>
            </a:r>
          </a:p>
          <a:p>
            <a:r>
              <a:rPr lang="en-IN" dirty="0"/>
              <a:t>Virtual Machine </a:t>
            </a:r>
          </a:p>
          <a:p>
            <a:r>
              <a:rPr lang="en-IN" dirty="0"/>
              <a:t>Storage Account </a:t>
            </a:r>
          </a:p>
          <a:p>
            <a:r>
              <a:rPr lang="en-IN" dirty="0"/>
              <a:t>SQL Database </a:t>
            </a:r>
          </a:p>
          <a:p>
            <a:r>
              <a:rPr lang="en-IN" dirty="0"/>
              <a:t>Virtual Network </a:t>
            </a:r>
          </a:p>
          <a:p>
            <a:r>
              <a:rPr lang="en-IN" dirty="0"/>
              <a:t>Everything related to one application can be managed together.</a:t>
            </a:r>
          </a:p>
        </p:txBody>
      </p:sp>
      <p:sp>
        <p:nvSpPr>
          <p:cNvPr id="4" name="TextBox 3">
            <a:extLst>
              <a:ext uri="{FF2B5EF4-FFF2-40B4-BE49-F238E27FC236}">
                <a16:creationId xmlns:a16="http://schemas.microsoft.com/office/drawing/2014/main" id="{851001DC-C41D-0753-61CF-33D2A5F5A390}"/>
              </a:ext>
            </a:extLst>
          </p:cNvPr>
          <p:cNvSpPr txBox="1"/>
          <p:nvPr/>
        </p:nvSpPr>
        <p:spPr>
          <a:xfrm>
            <a:off x="8827168" y="196334"/>
            <a:ext cx="2526632" cy="523220"/>
          </a:xfrm>
          <a:prstGeom prst="rect">
            <a:avLst/>
          </a:prstGeom>
          <a:noFill/>
        </p:spPr>
        <p:txBody>
          <a:bodyPr wrap="square">
            <a:spAutoFit/>
          </a:bodyPr>
          <a:lstStyle/>
          <a:p>
            <a:r>
              <a:rPr lang="en-IN" sz="2800" b="1" dirty="0"/>
              <a:t>Azure Portal</a:t>
            </a:r>
            <a:endParaRPr lang="en-IN" sz="2800" dirty="0"/>
          </a:p>
        </p:txBody>
      </p:sp>
    </p:spTree>
    <p:extLst>
      <p:ext uri="{BB962C8B-B14F-4D97-AF65-F5344CB8AC3E}">
        <p14:creationId xmlns:p14="http://schemas.microsoft.com/office/powerpoint/2010/main" val="218296638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DEB6FF-96B4-A911-50F0-505060119B7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2239FBF-8798-5A5E-E8F5-45B26B6A0E78}"/>
              </a:ext>
            </a:extLst>
          </p:cNvPr>
          <p:cNvSpPr>
            <a:spLocks noGrp="1"/>
          </p:cNvSpPr>
          <p:nvPr>
            <p:ph idx="1"/>
          </p:nvPr>
        </p:nvSpPr>
        <p:spPr>
          <a:xfrm>
            <a:off x="838200" y="112294"/>
            <a:ext cx="10515600" cy="6681537"/>
          </a:xfrm>
        </p:spPr>
        <p:txBody>
          <a:bodyPr>
            <a:normAutofit fontScale="77500" lnSpcReduction="20000"/>
          </a:bodyPr>
          <a:lstStyle/>
          <a:p>
            <a:r>
              <a:rPr lang="en-IN" dirty="0"/>
              <a:t>Now let's move to the top-right corner.</a:t>
            </a:r>
          </a:p>
          <a:p>
            <a:r>
              <a:rPr lang="en-IN" dirty="0"/>
              <a:t>You'll see your </a:t>
            </a:r>
            <a:r>
              <a:rPr lang="en-IN" b="1" dirty="0"/>
              <a:t>user profile</a:t>
            </a:r>
            <a:r>
              <a:rPr lang="en-IN" dirty="0"/>
              <a:t>.</a:t>
            </a:r>
          </a:p>
          <a:p>
            <a:r>
              <a:rPr lang="en-IN" dirty="0"/>
              <a:t>This tells you:</a:t>
            </a:r>
          </a:p>
          <a:p>
            <a:r>
              <a:rPr lang="en-IN" dirty="0"/>
              <a:t>Who is currently signed in.</a:t>
            </a:r>
          </a:p>
          <a:p>
            <a:r>
              <a:rPr lang="en-IN" dirty="0"/>
              <a:t>If you belong to multiple organizations...</a:t>
            </a:r>
          </a:p>
          <a:p>
            <a:r>
              <a:rPr lang="en-IN" dirty="0"/>
              <a:t>This is also where you can switch between Tenants.</a:t>
            </a:r>
          </a:p>
          <a:p>
            <a:br>
              <a:rPr lang="en-IN" dirty="0"/>
            </a:br>
            <a:endParaRPr lang="en-IN" dirty="0"/>
          </a:p>
          <a:p>
            <a:r>
              <a:rPr lang="en-IN" dirty="0"/>
              <a:t>Next to it...</a:t>
            </a:r>
          </a:p>
          <a:p>
            <a:r>
              <a:rPr lang="en-IN" dirty="0"/>
              <a:t>You'll notice the </a:t>
            </a:r>
            <a:r>
              <a:rPr lang="en-IN" b="1" dirty="0"/>
              <a:t>Settings</a:t>
            </a:r>
            <a:r>
              <a:rPr lang="en-IN" dirty="0"/>
              <a:t> icon.</a:t>
            </a:r>
          </a:p>
          <a:p>
            <a:r>
              <a:rPr lang="en-IN" dirty="0"/>
              <a:t>From here...</a:t>
            </a:r>
          </a:p>
          <a:p>
            <a:r>
              <a:rPr lang="en-IN" dirty="0"/>
              <a:t>You can customize:</a:t>
            </a:r>
          </a:p>
          <a:p>
            <a:r>
              <a:rPr lang="en-IN" dirty="0"/>
              <a:t>Theme </a:t>
            </a:r>
          </a:p>
          <a:p>
            <a:r>
              <a:rPr lang="en-IN" dirty="0"/>
              <a:t>Language </a:t>
            </a:r>
          </a:p>
          <a:p>
            <a:r>
              <a:rPr lang="en-IN" dirty="0"/>
              <a:t>Startup page </a:t>
            </a:r>
          </a:p>
          <a:p>
            <a:r>
              <a:rPr lang="en-IN" dirty="0"/>
              <a:t>Notifications </a:t>
            </a:r>
          </a:p>
          <a:p>
            <a:r>
              <a:rPr lang="en-IN" dirty="0"/>
              <a:t>These settings only affect your Azure Portal experience.</a:t>
            </a:r>
          </a:p>
          <a:p>
            <a:r>
              <a:rPr lang="en-IN" dirty="0"/>
              <a:t>They don't change Azure resources.</a:t>
            </a:r>
          </a:p>
        </p:txBody>
      </p:sp>
      <p:sp>
        <p:nvSpPr>
          <p:cNvPr id="4" name="TextBox 3">
            <a:extLst>
              <a:ext uri="{FF2B5EF4-FFF2-40B4-BE49-F238E27FC236}">
                <a16:creationId xmlns:a16="http://schemas.microsoft.com/office/drawing/2014/main" id="{E2785646-AF6C-FCF0-D06A-E320247D7797}"/>
              </a:ext>
            </a:extLst>
          </p:cNvPr>
          <p:cNvSpPr txBox="1"/>
          <p:nvPr/>
        </p:nvSpPr>
        <p:spPr>
          <a:xfrm>
            <a:off x="8827168" y="196334"/>
            <a:ext cx="2526632" cy="523220"/>
          </a:xfrm>
          <a:prstGeom prst="rect">
            <a:avLst/>
          </a:prstGeom>
          <a:noFill/>
        </p:spPr>
        <p:txBody>
          <a:bodyPr wrap="square">
            <a:spAutoFit/>
          </a:bodyPr>
          <a:lstStyle/>
          <a:p>
            <a:r>
              <a:rPr lang="en-IN" sz="2800" b="1" dirty="0"/>
              <a:t>Azure Portal</a:t>
            </a:r>
            <a:endParaRPr lang="en-IN" sz="2800" dirty="0"/>
          </a:p>
        </p:txBody>
      </p:sp>
    </p:spTree>
    <p:extLst>
      <p:ext uri="{BB962C8B-B14F-4D97-AF65-F5344CB8AC3E}">
        <p14:creationId xmlns:p14="http://schemas.microsoft.com/office/powerpoint/2010/main" val="201793922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59AE97-3DAE-5D0A-ADF0-3555A770CB3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195C65-C1CB-0FEF-AF8A-2853746772CF}"/>
              </a:ext>
            </a:extLst>
          </p:cNvPr>
          <p:cNvSpPr>
            <a:spLocks noGrp="1"/>
          </p:cNvSpPr>
          <p:nvPr>
            <p:ph idx="1"/>
          </p:nvPr>
        </p:nvSpPr>
        <p:spPr>
          <a:xfrm>
            <a:off x="838200" y="112294"/>
            <a:ext cx="10515600" cy="6681537"/>
          </a:xfrm>
        </p:spPr>
        <p:txBody>
          <a:bodyPr>
            <a:normAutofit fontScale="77500" lnSpcReduction="20000"/>
          </a:bodyPr>
          <a:lstStyle/>
          <a:p>
            <a:pPr marL="0" indent="0">
              <a:buNone/>
            </a:pPr>
            <a:r>
              <a:rPr lang="en-IN" dirty="0"/>
              <a:t>You'll also see the </a:t>
            </a:r>
            <a:r>
              <a:rPr lang="en-IN" b="1" dirty="0"/>
              <a:t>Notifications</a:t>
            </a:r>
            <a:r>
              <a:rPr lang="en-IN" dirty="0"/>
              <a:t> icon.</a:t>
            </a:r>
          </a:p>
          <a:p>
            <a:r>
              <a:rPr lang="en-IN" dirty="0"/>
              <a:t>Whenever Azure completes an operation...</a:t>
            </a:r>
          </a:p>
          <a:p>
            <a:r>
              <a:rPr lang="en-IN" dirty="0"/>
              <a:t>Like creating a Virtual Machine...</a:t>
            </a:r>
          </a:p>
          <a:p>
            <a:r>
              <a:rPr lang="en-IN" dirty="0"/>
              <a:t>Deleting a Storage Account...</a:t>
            </a:r>
          </a:p>
          <a:p>
            <a:r>
              <a:rPr lang="en-IN" dirty="0"/>
              <a:t>Or deploying an ARM Template...</a:t>
            </a:r>
          </a:p>
          <a:p>
            <a:r>
              <a:rPr lang="en-IN" dirty="0"/>
              <a:t>Azure displays the progress here.</a:t>
            </a:r>
          </a:p>
          <a:p>
            <a:r>
              <a:rPr lang="en-IN" dirty="0"/>
              <a:t>If something fails...</a:t>
            </a:r>
          </a:p>
          <a:p>
            <a:r>
              <a:rPr lang="en-IN" dirty="0"/>
              <a:t>You'll also see the error message here.</a:t>
            </a:r>
          </a:p>
          <a:p>
            <a:pPr marL="0" indent="0">
              <a:buNone/>
            </a:pPr>
            <a:br>
              <a:rPr lang="en-IN" dirty="0"/>
            </a:br>
            <a:r>
              <a:rPr lang="en-IN" dirty="0"/>
              <a:t>One of the newest features is </a:t>
            </a:r>
            <a:r>
              <a:rPr lang="en-IN" b="1" dirty="0"/>
              <a:t>Copilot</a:t>
            </a:r>
            <a:r>
              <a:rPr lang="en-IN" dirty="0"/>
              <a:t>.</a:t>
            </a:r>
          </a:p>
          <a:p>
            <a:r>
              <a:rPr lang="en-IN" dirty="0"/>
              <a:t>Azure Copilot uses Artificial Intelligence to help you manage Azure.</a:t>
            </a:r>
          </a:p>
          <a:p>
            <a:r>
              <a:rPr lang="en-IN" dirty="0"/>
              <a:t>For example...</a:t>
            </a:r>
          </a:p>
          <a:p>
            <a:r>
              <a:rPr lang="en-IN" dirty="0"/>
              <a:t>You can ask:</a:t>
            </a:r>
          </a:p>
          <a:p>
            <a:r>
              <a:rPr lang="en-IN" dirty="0"/>
              <a:t>"Show all Virtual Machines."</a:t>
            </a:r>
          </a:p>
          <a:p>
            <a:r>
              <a:rPr lang="en-IN" dirty="0"/>
              <a:t>"Why is this VM stopped?"</a:t>
            </a:r>
          </a:p>
          <a:p>
            <a:r>
              <a:rPr lang="en-IN" dirty="0"/>
              <a:t>"Summarize my Azure resources."</a:t>
            </a:r>
          </a:p>
          <a:p>
            <a:r>
              <a:rPr lang="en-IN" dirty="0"/>
              <a:t>Instead of clicking through menus...</a:t>
            </a:r>
          </a:p>
          <a:p>
            <a:r>
              <a:rPr lang="en-IN" dirty="0"/>
              <a:t>You simply ask questions.</a:t>
            </a:r>
          </a:p>
        </p:txBody>
      </p:sp>
      <p:sp>
        <p:nvSpPr>
          <p:cNvPr id="4" name="TextBox 3">
            <a:extLst>
              <a:ext uri="{FF2B5EF4-FFF2-40B4-BE49-F238E27FC236}">
                <a16:creationId xmlns:a16="http://schemas.microsoft.com/office/drawing/2014/main" id="{5591329A-C9C3-837B-87EE-1F0ECC1B42F9}"/>
              </a:ext>
            </a:extLst>
          </p:cNvPr>
          <p:cNvSpPr txBox="1"/>
          <p:nvPr/>
        </p:nvSpPr>
        <p:spPr>
          <a:xfrm>
            <a:off x="8827168" y="196334"/>
            <a:ext cx="2526632" cy="523220"/>
          </a:xfrm>
          <a:prstGeom prst="rect">
            <a:avLst/>
          </a:prstGeom>
          <a:noFill/>
        </p:spPr>
        <p:txBody>
          <a:bodyPr wrap="square">
            <a:spAutoFit/>
          </a:bodyPr>
          <a:lstStyle/>
          <a:p>
            <a:r>
              <a:rPr lang="en-IN" sz="2800" b="1" dirty="0"/>
              <a:t>Azure Portal</a:t>
            </a:r>
            <a:endParaRPr lang="en-IN" sz="2800" dirty="0"/>
          </a:p>
        </p:txBody>
      </p:sp>
    </p:spTree>
    <p:extLst>
      <p:ext uri="{BB962C8B-B14F-4D97-AF65-F5344CB8AC3E}">
        <p14:creationId xmlns:p14="http://schemas.microsoft.com/office/powerpoint/2010/main" val="287529480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0ACE0D-CDC5-900D-82C2-FC62B7029A8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8768A3C-FE88-5027-9E45-BE5897B3736E}"/>
              </a:ext>
            </a:extLst>
          </p:cNvPr>
          <p:cNvSpPr>
            <a:spLocks noGrp="1"/>
          </p:cNvSpPr>
          <p:nvPr>
            <p:ph idx="1"/>
          </p:nvPr>
        </p:nvSpPr>
        <p:spPr>
          <a:xfrm>
            <a:off x="838200" y="1339516"/>
            <a:ext cx="10515600" cy="6681537"/>
          </a:xfrm>
        </p:spPr>
        <p:txBody>
          <a:bodyPr>
            <a:normAutofit/>
          </a:bodyPr>
          <a:lstStyle/>
          <a:p>
            <a:r>
              <a:rPr lang="en-IN" dirty="0"/>
              <a:t>The Azure Portal is Microsoft's web-based graphical management interface for Azure. It allows administrators to create, manage, monitor, and secure Azure resources. Behind the scenes, every action performed in the Portal is translated into an Azure Resource Manager REST API request.</a:t>
            </a:r>
          </a:p>
        </p:txBody>
      </p:sp>
      <p:sp>
        <p:nvSpPr>
          <p:cNvPr id="4" name="TextBox 3">
            <a:extLst>
              <a:ext uri="{FF2B5EF4-FFF2-40B4-BE49-F238E27FC236}">
                <a16:creationId xmlns:a16="http://schemas.microsoft.com/office/drawing/2014/main" id="{10D5EEE5-BF2B-E452-6436-39D068050E63}"/>
              </a:ext>
            </a:extLst>
          </p:cNvPr>
          <p:cNvSpPr txBox="1"/>
          <p:nvPr/>
        </p:nvSpPr>
        <p:spPr>
          <a:xfrm>
            <a:off x="8827168" y="196334"/>
            <a:ext cx="2526632" cy="523220"/>
          </a:xfrm>
          <a:prstGeom prst="rect">
            <a:avLst/>
          </a:prstGeom>
          <a:noFill/>
        </p:spPr>
        <p:txBody>
          <a:bodyPr wrap="square">
            <a:spAutoFit/>
          </a:bodyPr>
          <a:lstStyle/>
          <a:p>
            <a:r>
              <a:rPr lang="en-IN" sz="2800" b="1" dirty="0"/>
              <a:t>Azure Portal</a:t>
            </a:r>
            <a:endParaRPr lang="en-IN" sz="2800" dirty="0"/>
          </a:p>
        </p:txBody>
      </p:sp>
    </p:spTree>
    <p:extLst>
      <p:ext uri="{BB962C8B-B14F-4D97-AF65-F5344CB8AC3E}">
        <p14:creationId xmlns:p14="http://schemas.microsoft.com/office/powerpoint/2010/main" val="113926181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8B77EA-B5BD-AADB-9550-6799AAD2846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51D73BA-45B7-3B34-3137-E88DF2B65640}"/>
              </a:ext>
            </a:extLst>
          </p:cNvPr>
          <p:cNvSpPr>
            <a:spLocks noGrp="1"/>
          </p:cNvSpPr>
          <p:nvPr>
            <p:ph idx="1"/>
          </p:nvPr>
        </p:nvSpPr>
        <p:spPr>
          <a:xfrm>
            <a:off x="838200" y="112294"/>
            <a:ext cx="10515600" cy="6681537"/>
          </a:xfrm>
        </p:spPr>
        <p:txBody>
          <a:bodyPr>
            <a:normAutofit fontScale="92500" lnSpcReduction="20000"/>
          </a:bodyPr>
          <a:lstStyle/>
          <a:p>
            <a:r>
              <a:rPr lang="en-IN" b="1" dirty="0"/>
              <a:t>Azure PowerShell</a:t>
            </a:r>
          </a:p>
          <a:p>
            <a:pPr marL="0" indent="0">
              <a:buNone/>
            </a:pPr>
            <a:br>
              <a:rPr lang="en-IN" dirty="0"/>
            </a:br>
            <a:endParaRPr lang="en-IN" dirty="0"/>
          </a:p>
          <a:p>
            <a:r>
              <a:rPr lang="en-IN" dirty="0"/>
              <a:t>Now let's look at another way to manage Azure.</a:t>
            </a:r>
          </a:p>
          <a:p>
            <a:r>
              <a:rPr lang="en-IN" dirty="0"/>
              <a:t>Instead of clicking buttons in the Azure Portal...</a:t>
            </a:r>
          </a:p>
          <a:p>
            <a:r>
              <a:rPr lang="en-IN" dirty="0"/>
              <a:t>What if we could manage Azure by writing commands?</a:t>
            </a:r>
          </a:p>
          <a:p>
            <a:r>
              <a:rPr lang="en-IN" dirty="0"/>
              <a:t>That's exactly what </a:t>
            </a:r>
            <a:r>
              <a:rPr lang="en-IN" b="1" dirty="0"/>
              <a:t>Azure PowerShell</a:t>
            </a:r>
            <a:r>
              <a:rPr lang="en-IN" dirty="0"/>
              <a:t> allows us to do.</a:t>
            </a:r>
          </a:p>
          <a:p>
            <a:br>
              <a:rPr lang="en-IN" dirty="0"/>
            </a:br>
            <a:endParaRPr lang="en-IN" dirty="0"/>
          </a:p>
          <a:p>
            <a:r>
              <a:rPr lang="en-IN" dirty="0"/>
              <a:t>Before I explain...</a:t>
            </a:r>
          </a:p>
          <a:p>
            <a:r>
              <a:rPr lang="en-IN" dirty="0"/>
              <a:t>Let me ask you a question.</a:t>
            </a:r>
          </a:p>
          <a:p>
            <a:r>
              <a:rPr lang="en-IN" dirty="0"/>
              <a:t>Suppose you need to create </a:t>
            </a:r>
            <a:r>
              <a:rPr lang="en-IN" b="1" dirty="0"/>
              <a:t>100 Virtual Machines</a:t>
            </a:r>
            <a:r>
              <a:rPr lang="en-IN" dirty="0"/>
              <a:t>.</a:t>
            </a:r>
          </a:p>
          <a:p>
            <a:r>
              <a:rPr lang="en-IN" dirty="0"/>
              <a:t>Would you click </a:t>
            </a:r>
            <a:r>
              <a:rPr lang="en-IN" b="1" dirty="0"/>
              <a:t>Create</a:t>
            </a:r>
            <a:r>
              <a:rPr lang="en-IN" dirty="0"/>
              <a:t> one hundred times in the Azure Portal?</a:t>
            </a:r>
          </a:p>
          <a:p>
            <a:r>
              <a:rPr lang="en-IN" dirty="0"/>
              <a:t>Probably not.</a:t>
            </a:r>
          </a:p>
          <a:p>
            <a:r>
              <a:rPr lang="en-IN" dirty="0"/>
              <a:t>It would take a long time.</a:t>
            </a:r>
          </a:p>
          <a:p>
            <a:r>
              <a:rPr lang="en-IN" dirty="0"/>
              <a:t>Instead...</a:t>
            </a:r>
          </a:p>
          <a:p>
            <a:r>
              <a:rPr lang="en-IN" dirty="0"/>
              <a:t>We can automate the entire process with Azure PowerShell.</a:t>
            </a:r>
          </a:p>
        </p:txBody>
      </p:sp>
    </p:spTree>
    <p:extLst>
      <p:ext uri="{BB962C8B-B14F-4D97-AF65-F5344CB8AC3E}">
        <p14:creationId xmlns:p14="http://schemas.microsoft.com/office/powerpoint/2010/main" val="356659889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FCCDD-B908-0A30-5803-C6D617F4F6A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5B5F65A-4D82-5461-BB1C-8A4F0464E22E}"/>
              </a:ext>
            </a:extLst>
          </p:cNvPr>
          <p:cNvSpPr>
            <a:spLocks noGrp="1"/>
          </p:cNvSpPr>
          <p:nvPr>
            <p:ph idx="1"/>
          </p:nvPr>
        </p:nvSpPr>
        <p:spPr>
          <a:xfrm>
            <a:off x="838200" y="112294"/>
            <a:ext cx="10515600" cy="6681537"/>
          </a:xfrm>
        </p:spPr>
        <p:txBody>
          <a:bodyPr>
            <a:normAutofit fontScale="70000" lnSpcReduction="20000"/>
          </a:bodyPr>
          <a:lstStyle/>
          <a:p>
            <a:pPr marL="0" indent="0">
              <a:buNone/>
            </a:pPr>
            <a:r>
              <a:rPr lang="en-IN" b="1" dirty="0"/>
              <a:t>What is Azure PowerShell?</a:t>
            </a:r>
          </a:p>
          <a:p>
            <a:r>
              <a:rPr lang="en-IN" dirty="0"/>
              <a:t>Azure PowerShell is a </a:t>
            </a:r>
            <a:r>
              <a:rPr lang="en-IN" b="1" dirty="0"/>
              <a:t>command-line tool and scripting module</a:t>
            </a:r>
            <a:r>
              <a:rPr lang="en-IN" dirty="0"/>
              <a:t> that allows you to manage Azure using </a:t>
            </a:r>
            <a:r>
              <a:rPr lang="en-IN" b="1" dirty="0"/>
              <a:t>PowerShell commands</a:t>
            </a:r>
            <a:r>
              <a:rPr lang="en-IN" dirty="0"/>
              <a:t>.</a:t>
            </a:r>
          </a:p>
          <a:p>
            <a:r>
              <a:rPr lang="en-IN" dirty="0"/>
              <a:t>Instead of clicking buttons...</a:t>
            </a:r>
          </a:p>
          <a:p>
            <a:r>
              <a:rPr lang="en-IN" dirty="0"/>
              <a:t>You type commands.</a:t>
            </a:r>
          </a:p>
          <a:p>
            <a:r>
              <a:rPr lang="en-IN" dirty="0"/>
              <a:t>Azure executes them automatically.</a:t>
            </a:r>
          </a:p>
          <a:p>
            <a:br>
              <a:rPr lang="en-IN" dirty="0"/>
            </a:br>
            <a:endParaRPr lang="en-IN" dirty="0"/>
          </a:p>
          <a:p>
            <a:r>
              <a:rPr lang="en-IN" dirty="0"/>
              <a:t>Azure PowerShell is built on top of </a:t>
            </a:r>
            <a:r>
              <a:rPr lang="en-IN" b="1" dirty="0"/>
              <a:t>PowerShell</a:t>
            </a:r>
            <a:r>
              <a:rPr lang="en-IN" dirty="0"/>
              <a:t>.</a:t>
            </a:r>
          </a:p>
          <a:p>
            <a:r>
              <a:rPr lang="en-IN" dirty="0"/>
              <a:t>PowerShell is Microsoft's scripting language.</a:t>
            </a:r>
          </a:p>
          <a:p>
            <a:r>
              <a:rPr lang="en-IN" dirty="0"/>
              <a:t>Azure PowerShell simply adds Azure-specific commands called </a:t>
            </a:r>
            <a:r>
              <a:rPr lang="en-IN" b="1" dirty="0"/>
              <a:t>cmdlets</a:t>
            </a:r>
            <a:r>
              <a:rPr lang="en-IN" dirty="0"/>
              <a:t>.</a:t>
            </a:r>
          </a:p>
          <a:p>
            <a:br>
              <a:rPr lang="en-IN" dirty="0"/>
            </a:br>
            <a:endParaRPr lang="en-IN" dirty="0"/>
          </a:p>
          <a:p>
            <a:r>
              <a:rPr lang="en-IN" dirty="0"/>
              <a:t>For example...</a:t>
            </a:r>
          </a:p>
          <a:p>
            <a:r>
              <a:rPr lang="en-IN" dirty="0"/>
              <a:t>To sign in to Azure...</a:t>
            </a:r>
          </a:p>
          <a:p>
            <a:r>
              <a:rPr lang="en-IN" dirty="0"/>
              <a:t>You type:</a:t>
            </a:r>
          </a:p>
          <a:p>
            <a:r>
              <a:rPr lang="en-IN" dirty="0"/>
              <a:t>Connect-</a:t>
            </a:r>
            <a:r>
              <a:rPr lang="en-IN" dirty="0" err="1"/>
              <a:t>AzAccount</a:t>
            </a:r>
            <a:endParaRPr lang="en-IN" dirty="0"/>
          </a:p>
          <a:p>
            <a:r>
              <a:rPr lang="en-IN" dirty="0"/>
              <a:t>A sign-in window appears.</a:t>
            </a:r>
          </a:p>
          <a:p>
            <a:r>
              <a:rPr lang="en-IN" dirty="0"/>
              <a:t>You enter your Azure credentials.</a:t>
            </a:r>
          </a:p>
          <a:p>
            <a:r>
              <a:rPr lang="en-IN" dirty="0"/>
              <a:t>Now you're connected to Azure.</a:t>
            </a:r>
          </a:p>
        </p:txBody>
      </p:sp>
    </p:spTree>
    <p:extLst>
      <p:ext uri="{BB962C8B-B14F-4D97-AF65-F5344CB8AC3E}">
        <p14:creationId xmlns:p14="http://schemas.microsoft.com/office/powerpoint/2010/main" val="406242103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0FF891-61AE-690B-3271-3B29736ABE5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A8D571D-B143-2B2B-746B-D6108A8EAD84}"/>
              </a:ext>
            </a:extLst>
          </p:cNvPr>
          <p:cNvSpPr>
            <a:spLocks noGrp="1"/>
          </p:cNvSpPr>
          <p:nvPr>
            <p:ph idx="1"/>
          </p:nvPr>
        </p:nvSpPr>
        <p:spPr>
          <a:xfrm>
            <a:off x="838200" y="112294"/>
            <a:ext cx="10515600" cy="6681537"/>
          </a:xfrm>
        </p:spPr>
        <p:txBody>
          <a:bodyPr>
            <a:normAutofit fontScale="47500" lnSpcReduction="20000"/>
          </a:bodyPr>
          <a:lstStyle/>
          <a:p>
            <a:pPr marL="0" indent="0">
              <a:buNone/>
            </a:pPr>
            <a:r>
              <a:rPr lang="en-IN" b="1" dirty="0"/>
              <a:t>Why use Azure PowerShell?</a:t>
            </a:r>
          </a:p>
          <a:p>
            <a:pPr marL="0" indent="0">
              <a:buNone/>
            </a:pPr>
            <a:r>
              <a:rPr lang="en-IN" dirty="0"/>
              <a:t>PowerShell is excellent for:</a:t>
            </a:r>
          </a:p>
          <a:p>
            <a:r>
              <a:rPr lang="en-IN" dirty="0"/>
              <a:t>Automation </a:t>
            </a:r>
          </a:p>
          <a:p>
            <a:r>
              <a:rPr lang="en-IN" dirty="0"/>
              <a:t>Bulk operations </a:t>
            </a:r>
          </a:p>
          <a:p>
            <a:r>
              <a:rPr lang="en-IN" dirty="0"/>
              <a:t>Repetitive tasks </a:t>
            </a:r>
          </a:p>
          <a:p>
            <a:r>
              <a:rPr lang="en-IN" dirty="0"/>
              <a:t>Administration </a:t>
            </a:r>
          </a:p>
          <a:p>
            <a:r>
              <a:rPr lang="en-IN" dirty="0"/>
              <a:t>Scripting </a:t>
            </a:r>
          </a:p>
          <a:p>
            <a:r>
              <a:rPr lang="en-IN" dirty="0"/>
              <a:t>For example...</a:t>
            </a:r>
          </a:p>
          <a:p>
            <a:r>
              <a:rPr lang="en-IN" dirty="0"/>
              <a:t>Instead of creating 50 Storage Accounts manually...</a:t>
            </a:r>
          </a:p>
          <a:p>
            <a:r>
              <a:rPr lang="en-IN" dirty="0"/>
              <a:t>You can write a loop.</a:t>
            </a:r>
          </a:p>
          <a:p>
            <a:r>
              <a:rPr lang="en-IN" dirty="0"/>
              <a:t>PowerShell creates all 50 automatically.</a:t>
            </a:r>
          </a:p>
          <a:p>
            <a:pPr marL="0" indent="0">
              <a:buNone/>
            </a:pPr>
            <a:r>
              <a:rPr lang="en-IN" b="1" dirty="0"/>
              <a:t>Behind the Scenes</a:t>
            </a:r>
          </a:p>
          <a:p>
            <a:r>
              <a:rPr lang="en-IN" dirty="0"/>
              <a:t>Here's something important.</a:t>
            </a:r>
          </a:p>
          <a:p>
            <a:r>
              <a:rPr lang="en-IN" dirty="0"/>
              <a:t>When you run:</a:t>
            </a:r>
          </a:p>
          <a:p>
            <a:r>
              <a:rPr lang="en-IN" dirty="0"/>
              <a:t>New-</a:t>
            </a:r>
            <a:r>
              <a:rPr lang="en-IN" dirty="0" err="1"/>
              <a:t>AzVM</a:t>
            </a:r>
            <a:endParaRPr lang="en-IN" dirty="0"/>
          </a:p>
          <a:p>
            <a:r>
              <a:rPr lang="en-IN" dirty="0"/>
              <a:t>Does PowerShell create the Virtual Machine?</a:t>
            </a:r>
          </a:p>
          <a:p>
            <a:r>
              <a:rPr lang="en-IN" dirty="0"/>
              <a:t>No.</a:t>
            </a:r>
          </a:p>
          <a:p>
            <a:r>
              <a:rPr lang="en-IN" dirty="0"/>
              <a:t>PowerShell simply converts your command into an </a:t>
            </a:r>
            <a:r>
              <a:rPr lang="en-IN" b="1" dirty="0"/>
              <a:t>Azure REST API request</a:t>
            </a:r>
            <a:r>
              <a:rPr lang="en-IN" dirty="0"/>
              <a:t>.</a:t>
            </a:r>
          </a:p>
          <a:p>
            <a:r>
              <a:rPr lang="en-IN" dirty="0"/>
              <a:t>That request goes to:</a:t>
            </a:r>
          </a:p>
          <a:p>
            <a:r>
              <a:rPr lang="en-IN" dirty="0"/>
              <a:t>Microsoft Entra ID</a:t>
            </a:r>
          </a:p>
          <a:p>
            <a:r>
              <a:rPr lang="en-IN" dirty="0"/>
              <a:t>Azure Resource Manager</a:t>
            </a:r>
          </a:p>
          <a:p>
            <a:r>
              <a:rPr lang="en-IN" dirty="0" err="1"/>
              <a:t>Microsoft.Compute</a:t>
            </a:r>
            <a:r>
              <a:rPr lang="en-IN" dirty="0"/>
              <a:t> Resource Provider</a:t>
            </a:r>
          </a:p>
          <a:p>
            <a:r>
              <a:rPr lang="en-IN" dirty="0"/>
              <a:t>Azure Datacenter</a:t>
            </a:r>
          </a:p>
          <a:p>
            <a:r>
              <a:rPr lang="en-IN" dirty="0"/>
              <a:t>Virtual Machine</a:t>
            </a:r>
          </a:p>
          <a:p>
            <a:pPr marL="0" indent="0">
              <a:buNone/>
            </a:pPr>
            <a:r>
              <a:rPr lang="en-IN" dirty="0"/>
              <a:t>So Azure PowerShell is just another interface for calling Azure APIs.</a:t>
            </a:r>
          </a:p>
        </p:txBody>
      </p:sp>
    </p:spTree>
    <p:extLst>
      <p:ext uri="{BB962C8B-B14F-4D97-AF65-F5344CB8AC3E}">
        <p14:creationId xmlns:p14="http://schemas.microsoft.com/office/powerpoint/2010/main" val="42216132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826580-82F3-F1E9-7D80-79C5F694CD9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20EB6DA-1D47-CAA2-52CA-49418D2D36A6}"/>
              </a:ext>
            </a:extLst>
          </p:cNvPr>
          <p:cNvSpPr>
            <a:spLocks noGrp="1"/>
          </p:cNvSpPr>
          <p:nvPr>
            <p:ph idx="1"/>
          </p:nvPr>
        </p:nvSpPr>
        <p:spPr>
          <a:xfrm>
            <a:off x="838200" y="112294"/>
            <a:ext cx="10515600" cy="6681537"/>
          </a:xfrm>
        </p:spPr>
        <p:txBody>
          <a:bodyPr>
            <a:normAutofit lnSpcReduction="10000"/>
          </a:bodyPr>
          <a:lstStyle/>
          <a:p>
            <a:r>
              <a:rPr lang="en-IN" b="1" dirty="0"/>
              <a:t>Easy Way to Remember</a:t>
            </a:r>
          </a:p>
          <a:p>
            <a:r>
              <a:rPr lang="en-IN" dirty="0"/>
              <a:t>Think of Azure Portal and Azure PowerShell like driving a car.</a:t>
            </a:r>
          </a:p>
          <a:p>
            <a:r>
              <a:rPr lang="en-IN" dirty="0"/>
              <a:t>The </a:t>
            </a:r>
            <a:r>
              <a:rPr lang="en-IN" b="1" dirty="0"/>
              <a:t>Azure Portal</a:t>
            </a:r>
            <a:r>
              <a:rPr lang="en-IN" dirty="0"/>
              <a:t> is an automatic car.</a:t>
            </a:r>
          </a:p>
          <a:p>
            <a:r>
              <a:rPr lang="en-IN" dirty="0"/>
              <a:t>You press buttons and the car does the work.</a:t>
            </a:r>
          </a:p>
          <a:p>
            <a:r>
              <a:rPr lang="en-IN" b="1" dirty="0"/>
              <a:t>Azure PowerShell</a:t>
            </a:r>
            <a:r>
              <a:rPr lang="en-IN" dirty="0"/>
              <a:t> is like giving precise instructions.</a:t>
            </a:r>
          </a:p>
          <a:p>
            <a:r>
              <a:rPr lang="en-IN" dirty="0"/>
              <a:t>Instead of clicking...</a:t>
            </a:r>
          </a:p>
          <a:p>
            <a:r>
              <a:rPr lang="en-IN" dirty="0"/>
              <a:t>You tell Azure exactly what to do using commands.</a:t>
            </a:r>
          </a:p>
          <a:p>
            <a:r>
              <a:rPr lang="en-IN" dirty="0"/>
              <a:t>Both reach the same destination.</a:t>
            </a:r>
          </a:p>
          <a:p>
            <a:r>
              <a:rPr lang="en-IN" dirty="0"/>
              <a:t>One uses a graphical interface.</a:t>
            </a:r>
          </a:p>
          <a:p>
            <a:r>
              <a:rPr lang="en-IN" dirty="0"/>
              <a:t>The other uses commands.</a:t>
            </a:r>
          </a:p>
          <a:p>
            <a:pPr marL="0" indent="0">
              <a:buNone/>
            </a:pPr>
            <a:r>
              <a:rPr lang="en-IN" dirty="0"/>
              <a:t>Azure PowerShell is a PowerShell module used to manage Azure resources through cmdlets. It enables automation, scripting, and bulk administration. Behind the scenes, every Azure PowerShell cmdlet sends Azure Resource Manager REST API requests to Azure.</a:t>
            </a:r>
          </a:p>
        </p:txBody>
      </p:sp>
    </p:spTree>
    <p:extLst>
      <p:ext uri="{BB962C8B-B14F-4D97-AF65-F5344CB8AC3E}">
        <p14:creationId xmlns:p14="http://schemas.microsoft.com/office/powerpoint/2010/main" val="326619667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8A0E1B-17BF-E94B-1BCE-35D557F250E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B120E86-4ADF-3FF7-5A6E-D2F2DF19AFD5}"/>
              </a:ext>
            </a:extLst>
          </p:cNvPr>
          <p:cNvSpPr>
            <a:spLocks noGrp="1"/>
          </p:cNvSpPr>
          <p:nvPr>
            <p:ph idx="1"/>
          </p:nvPr>
        </p:nvSpPr>
        <p:spPr>
          <a:xfrm>
            <a:off x="838200" y="112294"/>
            <a:ext cx="10515600" cy="6681537"/>
          </a:xfrm>
        </p:spPr>
        <p:txBody>
          <a:bodyPr>
            <a:normAutofit fontScale="55000" lnSpcReduction="20000"/>
          </a:bodyPr>
          <a:lstStyle/>
          <a:p>
            <a:pPr marL="0" indent="0">
              <a:buNone/>
            </a:pPr>
            <a:r>
              <a:rPr lang="en-IN" b="1" dirty="0"/>
              <a:t>Azure CLI</a:t>
            </a:r>
          </a:p>
          <a:p>
            <a:pPr marL="0" indent="0">
              <a:buNone/>
            </a:pPr>
            <a:r>
              <a:rPr lang="en-IN" dirty="0"/>
              <a:t>Now let's look at another popular way to manage Azure.</a:t>
            </a:r>
          </a:p>
          <a:p>
            <a:r>
              <a:rPr lang="en-IN" b="1" dirty="0"/>
              <a:t>Azure CLI.</a:t>
            </a:r>
            <a:endParaRPr lang="en-IN" dirty="0"/>
          </a:p>
          <a:p>
            <a:r>
              <a:rPr lang="en-IN" dirty="0"/>
              <a:t>You may have noticed that Azure PowerShell and Azure CLI both use commands.</a:t>
            </a:r>
          </a:p>
          <a:p>
            <a:r>
              <a:rPr lang="en-IN" dirty="0" err="1"/>
              <a:t>So.</a:t>
            </a:r>
            <a:r>
              <a:rPr lang="en-IN" dirty="0"/>
              <a:t>..</a:t>
            </a:r>
          </a:p>
          <a:p>
            <a:r>
              <a:rPr lang="en-IN" dirty="0"/>
              <a:t>What's the difference?</a:t>
            </a:r>
          </a:p>
          <a:p>
            <a:pPr marL="0" indent="0">
              <a:buNone/>
            </a:pPr>
            <a:r>
              <a:rPr lang="en-IN" dirty="0"/>
              <a:t>Let's understand.</a:t>
            </a:r>
            <a:br>
              <a:rPr lang="en-IN" dirty="0"/>
            </a:br>
            <a:r>
              <a:rPr lang="en-IN" dirty="0"/>
              <a:t>Before I explain...Let me ask you a question.</a:t>
            </a:r>
          </a:p>
          <a:p>
            <a:pPr marL="0" indent="0">
              <a:buNone/>
            </a:pPr>
            <a:r>
              <a:rPr lang="en-IN" dirty="0"/>
              <a:t>Suppose you're using:</a:t>
            </a:r>
          </a:p>
          <a:p>
            <a:r>
              <a:rPr lang="en-IN" dirty="0"/>
              <a:t>Windows </a:t>
            </a:r>
          </a:p>
          <a:p>
            <a:r>
              <a:rPr lang="en-IN" dirty="0"/>
              <a:t>Linux </a:t>
            </a:r>
          </a:p>
          <a:p>
            <a:r>
              <a:rPr lang="en-IN" dirty="0"/>
              <a:t>macOS </a:t>
            </a:r>
          </a:p>
          <a:p>
            <a:pPr marL="0" indent="0">
              <a:buNone/>
            </a:pPr>
            <a:r>
              <a:rPr lang="en-IN" dirty="0"/>
              <a:t>Can you use the same Azure management tool on all three operating systems?</a:t>
            </a:r>
          </a:p>
          <a:p>
            <a:r>
              <a:rPr lang="en-IN" dirty="0"/>
              <a:t>Yes.</a:t>
            </a:r>
          </a:p>
          <a:p>
            <a:r>
              <a:rPr lang="en-IN" dirty="0"/>
              <a:t>That's exactly why Microsoft created </a:t>
            </a:r>
            <a:r>
              <a:rPr lang="en-IN" b="1" dirty="0"/>
              <a:t>Azure CLI</a:t>
            </a:r>
            <a:r>
              <a:rPr lang="en-IN" dirty="0"/>
              <a:t>.</a:t>
            </a:r>
          </a:p>
          <a:p>
            <a:pPr marL="0" indent="0">
              <a:buNone/>
            </a:pPr>
            <a:br>
              <a:rPr lang="en-IN" dirty="0"/>
            </a:br>
            <a:endParaRPr lang="en-IN" dirty="0"/>
          </a:p>
          <a:p>
            <a:pPr marL="0" indent="0">
              <a:buNone/>
            </a:pPr>
            <a:r>
              <a:rPr lang="en-IN" b="1" dirty="0"/>
              <a:t>What is Azure CLI?</a:t>
            </a:r>
          </a:p>
          <a:p>
            <a:pPr marL="0" indent="0">
              <a:buNone/>
            </a:pPr>
            <a:r>
              <a:rPr lang="en-IN" dirty="0"/>
              <a:t>Azure CLI stands for </a:t>
            </a:r>
            <a:r>
              <a:rPr lang="en-IN" b="1" dirty="0"/>
              <a:t>Azure Command-Line Interface</a:t>
            </a:r>
            <a:r>
              <a:rPr lang="en-IN" dirty="0"/>
              <a:t>.</a:t>
            </a:r>
          </a:p>
          <a:p>
            <a:pPr marL="0" indent="0">
              <a:buNone/>
            </a:pPr>
            <a:r>
              <a:rPr lang="en-IN" dirty="0"/>
              <a:t>In simple words...</a:t>
            </a:r>
          </a:p>
          <a:p>
            <a:r>
              <a:rPr lang="en-IN" dirty="0"/>
              <a:t>It is a command-line tool that allows you to manage Azure using simple commands.</a:t>
            </a:r>
          </a:p>
          <a:p>
            <a:r>
              <a:rPr lang="en-IN" dirty="0"/>
              <a:t>Instead of clicking buttons in the Azure Portal...</a:t>
            </a:r>
          </a:p>
          <a:p>
            <a:r>
              <a:rPr lang="en-IN" dirty="0"/>
              <a:t>You type commands in a terminal.</a:t>
            </a:r>
          </a:p>
          <a:p>
            <a:r>
              <a:rPr lang="en-IN" dirty="0"/>
              <a:t>Azure performs the requested action.</a:t>
            </a:r>
          </a:p>
        </p:txBody>
      </p:sp>
    </p:spTree>
    <p:extLst>
      <p:ext uri="{BB962C8B-B14F-4D97-AF65-F5344CB8AC3E}">
        <p14:creationId xmlns:p14="http://schemas.microsoft.com/office/powerpoint/2010/main" val="397946448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2AA8D4-B238-EEB3-E0BF-536B827EB77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D74396C-4D31-5502-B6DD-E53001D443BE}"/>
              </a:ext>
            </a:extLst>
          </p:cNvPr>
          <p:cNvSpPr>
            <a:spLocks noGrp="1"/>
          </p:cNvSpPr>
          <p:nvPr>
            <p:ph idx="1"/>
          </p:nvPr>
        </p:nvSpPr>
        <p:spPr>
          <a:xfrm>
            <a:off x="838200" y="112294"/>
            <a:ext cx="10515600" cy="6681537"/>
          </a:xfrm>
        </p:spPr>
        <p:txBody>
          <a:bodyPr>
            <a:normAutofit fontScale="55000" lnSpcReduction="20000"/>
          </a:bodyPr>
          <a:lstStyle/>
          <a:p>
            <a:r>
              <a:rPr lang="en-IN" dirty="0"/>
              <a:t>Azure CLI is designed to work on:</a:t>
            </a:r>
          </a:p>
          <a:p>
            <a:r>
              <a:rPr lang="en-IN" dirty="0"/>
              <a:t>Windows </a:t>
            </a:r>
          </a:p>
          <a:p>
            <a:r>
              <a:rPr lang="en-IN" dirty="0"/>
              <a:t>Linux </a:t>
            </a:r>
          </a:p>
          <a:p>
            <a:r>
              <a:rPr lang="en-IN" dirty="0"/>
              <a:t>macOS </a:t>
            </a:r>
          </a:p>
          <a:p>
            <a:r>
              <a:rPr lang="en-IN" dirty="0"/>
              <a:t>The commands remain almost the same on every operating system.</a:t>
            </a:r>
          </a:p>
          <a:p>
            <a:r>
              <a:rPr lang="en-IN" dirty="0"/>
              <a:t>That's one of its biggest advantages.</a:t>
            </a:r>
          </a:p>
          <a:p>
            <a:br>
              <a:rPr lang="en-IN" dirty="0"/>
            </a:br>
            <a:endParaRPr lang="en-IN" dirty="0"/>
          </a:p>
          <a:p>
            <a:r>
              <a:rPr lang="en-IN" b="1" dirty="0"/>
              <a:t>Let's see an example.</a:t>
            </a:r>
          </a:p>
          <a:p>
            <a:r>
              <a:rPr lang="en-IN" dirty="0"/>
              <a:t>First...</a:t>
            </a:r>
          </a:p>
          <a:p>
            <a:r>
              <a:rPr lang="en-IN" dirty="0"/>
              <a:t>You need to sign in to Azure.</a:t>
            </a:r>
          </a:p>
          <a:p>
            <a:r>
              <a:rPr lang="en-IN" dirty="0"/>
              <a:t>Simply type:</a:t>
            </a:r>
          </a:p>
          <a:p>
            <a:r>
              <a:rPr lang="en-IN" dirty="0" err="1"/>
              <a:t>az</a:t>
            </a:r>
            <a:r>
              <a:rPr lang="en-IN" dirty="0"/>
              <a:t> login</a:t>
            </a:r>
          </a:p>
          <a:p>
            <a:r>
              <a:rPr lang="en-IN" dirty="0"/>
              <a:t>A browser window opens.</a:t>
            </a:r>
          </a:p>
          <a:p>
            <a:r>
              <a:rPr lang="en-IN" dirty="0"/>
              <a:t>You sign in using your Microsoft account.</a:t>
            </a:r>
          </a:p>
          <a:p>
            <a:r>
              <a:rPr lang="en-IN" dirty="0"/>
              <a:t>Now Azure CLI is connected to your Azure account.</a:t>
            </a:r>
          </a:p>
          <a:p>
            <a:br>
              <a:rPr lang="en-IN" dirty="0"/>
            </a:br>
            <a:endParaRPr lang="en-IN" dirty="0"/>
          </a:p>
          <a:p>
            <a:r>
              <a:rPr lang="en-IN" dirty="0"/>
              <a:t>Suppose you want to see all your Virtual Machines.</a:t>
            </a:r>
          </a:p>
          <a:p>
            <a:r>
              <a:rPr lang="en-IN" dirty="0"/>
              <a:t>Simply type:</a:t>
            </a:r>
          </a:p>
          <a:p>
            <a:r>
              <a:rPr lang="en-IN" dirty="0" err="1"/>
              <a:t>az</a:t>
            </a:r>
            <a:r>
              <a:rPr lang="en-IN" dirty="0"/>
              <a:t> </a:t>
            </a:r>
            <a:r>
              <a:rPr lang="en-IN" dirty="0" err="1"/>
              <a:t>vm</a:t>
            </a:r>
            <a:r>
              <a:rPr lang="en-IN" dirty="0"/>
              <a:t> list</a:t>
            </a:r>
          </a:p>
          <a:p>
            <a:r>
              <a:rPr lang="en-IN" dirty="0"/>
              <a:t>Azure returns all the Virtual Machines in your subscription.</a:t>
            </a:r>
          </a:p>
        </p:txBody>
      </p:sp>
    </p:spTree>
    <p:extLst>
      <p:ext uri="{BB962C8B-B14F-4D97-AF65-F5344CB8AC3E}">
        <p14:creationId xmlns:p14="http://schemas.microsoft.com/office/powerpoint/2010/main" val="64464409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944F99-BD18-004C-3575-FFC201442A6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7BFD5F2-98AA-F4EC-97E4-4359861F5917}"/>
              </a:ext>
            </a:extLst>
          </p:cNvPr>
          <p:cNvSpPr>
            <a:spLocks noGrp="1"/>
          </p:cNvSpPr>
          <p:nvPr>
            <p:ph idx="1"/>
          </p:nvPr>
        </p:nvSpPr>
        <p:spPr>
          <a:xfrm>
            <a:off x="838200" y="112294"/>
            <a:ext cx="10515600" cy="6681537"/>
          </a:xfrm>
        </p:spPr>
        <p:txBody>
          <a:bodyPr>
            <a:normAutofit/>
          </a:bodyPr>
          <a:lstStyle/>
          <a:p>
            <a:pPr marL="0" indent="0">
              <a:buNone/>
            </a:pPr>
            <a:r>
              <a:rPr lang="en-IN" b="1" dirty="0"/>
              <a:t>Why use Azure CLI?</a:t>
            </a:r>
          </a:p>
          <a:p>
            <a:pPr marL="0" indent="0">
              <a:buNone/>
            </a:pPr>
            <a:r>
              <a:rPr lang="en-IN" dirty="0"/>
              <a:t>Azure CLI is commonly used for:</a:t>
            </a:r>
          </a:p>
          <a:p>
            <a:r>
              <a:rPr lang="en-IN" dirty="0"/>
              <a:t>Automation </a:t>
            </a:r>
          </a:p>
          <a:p>
            <a:r>
              <a:rPr lang="en-IN" dirty="0"/>
              <a:t>Shell scripting </a:t>
            </a:r>
          </a:p>
          <a:p>
            <a:r>
              <a:rPr lang="en-IN" dirty="0"/>
              <a:t>DevOps </a:t>
            </a:r>
          </a:p>
          <a:p>
            <a:r>
              <a:rPr lang="en-IN" dirty="0"/>
              <a:t>CI/CD pipelines </a:t>
            </a:r>
          </a:p>
          <a:p>
            <a:r>
              <a:rPr lang="en-IN" dirty="0"/>
              <a:t>GitHub Actions </a:t>
            </a:r>
          </a:p>
          <a:p>
            <a:r>
              <a:rPr lang="en-IN" dirty="0"/>
              <a:t>Azure DevOps Pipelines </a:t>
            </a:r>
          </a:p>
          <a:p>
            <a:r>
              <a:rPr lang="en-IN" dirty="0"/>
              <a:t>Whenever you see automation in Azure...</a:t>
            </a:r>
          </a:p>
          <a:p>
            <a:r>
              <a:rPr lang="en-IN" dirty="0"/>
              <a:t>There's a good chance Azure CLI is involved.</a:t>
            </a:r>
          </a:p>
        </p:txBody>
      </p:sp>
    </p:spTree>
    <p:extLst>
      <p:ext uri="{BB962C8B-B14F-4D97-AF65-F5344CB8AC3E}">
        <p14:creationId xmlns:p14="http://schemas.microsoft.com/office/powerpoint/2010/main" val="19935903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CC6098-F880-D78A-0122-C1F049A35CD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FD35F4D-5AE7-8731-A8CF-4ACD1124448C}"/>
              </a:ext>
            </a:extLst>
          </p:cNvPr>
          <p:cNvSpPr>
            <a:spLocks noGrp="1"/>
          </p:cNvSpPr>
          <p:nvPr>
            <p:ph idx="1"/>
          </p:nvPr>
        </p:nvSpPr>
        <p:spPr>
          <a:xfrm>
            <a:off x="838200" y="112294"/>
            <a:ext cx="10515600" cy="6681537"/>
          </a:xfrm>
        </p:spPr>
        <p:txBody>
          <a:bodyPr>
            <a:normAutofit/>
          </a:bodyPr>
          <a:lstStyle/>
          <a:p>
            <a:pPr marL="0" indent="0">
              <a:buNone/>
            </a:pPr>
            <a:r>
              <a:rPr lang="en-IN" b="1" dirty="0"/>
              <a:t>Azure CLI vs Azure PowerShell</a:t>
            </a:r>
          </a:p>
          <a:p>
            <a:r>
              <a:rPr lang="en-IN" dirty="0"/>
              <a:t>Many beginners ask this question.</a:t>
            </a:r>
          </a:p>
          <a:p>
            <a:r>
              <a:rPr lang="en-IN" dirty="0"/>
              <a:t>Both can manage Azure.</a:t>
            </a:r>
          </a:p>
          <a:p>
            <a:r>
              <a:rPr lang="en-IN" dirty="0"/>
              <a:t>Both call Azure REST APIs.</a:t>
            </a:r>
          </a:p>
          <a:p>
            <a:r>
              <a:rPr lang="en-IN" dirty="0"/>
              <a:t>But they are designed for different users.</a:t>
            </a:r>
          </a:p>
          <a:p>
            <a:pPr marL="0" indent="0">
              <a:buNone/>
            </a:pPr>
            <a:endParaRPr lang="en-IN" dirty="0"/>
          </a:p>
        </p:txBody>
      </p:sp>
      <p:graphicFrame>
        <p:nvGraphicFramePr>
          <p:cNvPr id="2" name="Table 1">
            <a:extLst>
              <a:ext uri="{FF2B5EF4-FFF2-40B4-BE49-F238E27FC236}">
                <a16:creationId xmlns:a16="http://schemas.microsoft.com/office/drawing/2014/main" id="{06A55E5F-C95E-F05E-D644-887991EDF8B6}"/>
              </a:ext>
            </a:extLst>
          </p:cNvPr>
          <p:cNvGraphicFramePr>
            <a:graphicFrameLocks noGrp="1"/>
          </p:cNvGraphicFramePr>
          <p:nvPr/>
        </p:nvGraphicFramePr>
        <p:xfrm>
          <a:off x="838200" y="2904014"/>
          <a:ext cx="10515600" cy="2194560"/>
        </p:xfrm>
        <a:graphic>
          <a:graphicData uri="http://schemas.openxmlformats.org/drawingml/2006/table">
            <a:tbl>
              <a:tblPr/>
              <a:tblGrid>
                <a:gridCol w="5257800">
                  <a:extLst>
                    <a:ext uri="{9D8B030D-6E8A-4147-A177-3AD203B41FA5}">
                      <a16:colId xmlns:a16="http://schemas.microsoft.com/office/drawing/2014/main" val="4234296844"/>
                    </a:ext>
                  </a:extLst>
                </a:gridCol>
                <a:gridCol w="5257800">
                  <a:extLst>
                    <a:ext uri="{9D8B030D-6E8A-4147-A177-3AD203B41FA5}">
                      <a16:colId xmlns:a16="http://schemas.microsoft.com/office/drawing/2014/main" val="1612820930"/>
                    </a:ext>
                  </a:extLst>
                </a:gridCol>
              </a:tblGrid>
              <a:tr h="0">
                <a:tc>
                  <a:txBody>
                    <a:bodyPr/>
                    <a:lstStyle/>
                    <a:p>
                      <a:pPr>
                        <a:buNone/>
                      </a:pPr>
                      <a:r>
                        <a:rPr lang="en-IN"/>
                        <a:t>Azure CLI</a:t>
                      </a:r>
                    </a:p>
                  </a:txBody>
                  <a:tcPr anchor="ctr">
                    <a:lnL>
                      <a:noFill/>
                    </a:lnL>
                    <a:lnR>
                      <a:noFill/>
                    </a:lnR>
                    <a:lnT>
                      <a:noFill/>
                    </a:lnT>
                    <a:lnB>
                      <a:noFill/>
                    </a:lnB>
                    <a:noFill/>
                  </a:tcPr>
                </a:tc>
                <a:tc>
                  <a:txBody>
                    <a:bodyPr/>
                    <a:lstStyle/>
                    <a:p>
                      <a:pPr>
                        <a:buNone/>
                      </a:pPr>
                      <a:r>
                        <a:rPr lang="en-IN"/>
                        <a:t>Azure PowerShell</a:t>
                      </a:r>
                    </a:p>
                  </a:txBody>
                  <a:tcPr anchor="ctr">
                    <a:lnL>
                      <a:noFill/>
                    </a:lnL>
                    <a:lnR>
                      <a:noFill/>
                    </a:lnR>
                    <a:lnT>
                      <a:noFill/>
                    </a:lnT>
                    <a:lnB>
                      <a:noFill/>
                    </a:lnB>
                    <a:noFill/>
                  </a:tcPr>
                </a:tc>
                <a:extLst>
                  <a:ext uri="{0D108BD9-81ED-4DB2-BD59-A6C34878D82A}">
                    <a16:rowId xmlns:a16="http://schemas.microsoft.com/office/drawing/2014/main" val="4250987521"/>
                  </a:ext>
                </a:extLst>
              </a:tr>
              <a:tr h="0">
                <a:tc>
                  <a:txBody>
                    <a:bodyPr/>
                    <a:lstStyle/>
                    <a:p>
                      <a:pPr>
                        <a:buNone/>
                      </a:pPr>
                      <a:r>
                        <a:rPr lang="en-IN"/>
                        <a:t>Uses </a:t>
                      </a:r>
                      <a:r>
                        <a:rPr lang="en-IN">
                          <a:latin typeface="Courier New" panose="02070309020205020404" pitchFamily="49" charset="0"/>
                        </a:rPr>
                        <a:t>az</a:t>
                      </a:r>
                      <a:r>
                        <a:rPr lang="en-IN"/>
                        <a:t> commands</a:t>
                      </a:r>
                    </a:p>
                  </a:txBody>
                  <a:tcPr anchor="ctr">
                    <a:lnL>
                      <a:noFill/>
                    </a:lnL>
                    <a:lnR>
                      <a:noFill/>
                    </a:lnR>
                    <a:lnT>
                      <a:noFill/>
                    </a:lnT>
                    <a:lnB>
                      <a:noFill/>
                    </a:lnB>
                    <a:noFill/>
                  </a:tcPr>
                </a:tc>
                <a:tc>
                  <a:txBody>
                    <a:bodyPr/>
                    <a:lstStyle/>
                    <a:p>
                      <a:pPr>
                        <a:buNone/>
                      </a:pPr>
                      <a:r>
                        <a:rPr lang="en-IN"/>
                        <a:t>Uses PowerShell cmdlets</a:t>
                      </a:r>
                    </a:p>
                  </a:txBody>
                  <a:tcPr anchor="ctr">
                    <a:lnL>
                      <a:noFill/>
                    </a:lnL>
                    <a:lnR>
                      <a:noFill/>
                    </a:lnR>
                    <a:lnT>
                      <a:noFill/>
                    </a:lnT>
                    <a:lnB>
                      <a:noFill/>
                    </a:lnB>
                    <a:noFill/>
                  </a:tcPr>
                </a:tc>
                <a:extLst>
                  <a:ext uri="{0D108BD9-81ED-4DB2-BD59-A6C34878D82A}">
                    <a16:rowId xmlns:a16="http://schemas.microsoft.com/office/drawing/2014/main" val="1793596505"/>
                  </a:ext>
                </a:extLst>
              </a:tr>
              <a:tr h="0">
                <a:tc>
                  <a:txBody>
                    <a:bodyPr/>
                    <a:lstStyle/>
                    <a:p>
                      <a:pPr>
                        <a:buNone/>
                      </a:pPr>
                      <a:r>
                        <a:rPr lang="en-IN"/>
                        <a:t>Works the same on Windows, Linux, and macOS</a:t>
                      </a:r>
                    </a:p>
                  </a:txBody>
                  <a:tcPr anchor="ctr">
                    <a:lnL>
                      <a:noFill/>
                    </a:lnL>
                    <a:lnR>
                      <a:noFill/>
                    </a:lnR>
                    <a:lnT>
                      <a:noFill/>
                    </a:lnT>
                    <a:lnB>
                      <a:noFill/>
                    </a:lnB>
                    <a:noFill/>
                  </a:tcPr>
                </a:tc>
                <a:tc>
                  <a:txBody>
                    <a:bodyPr/>
                    <a:lstStyle/>
                    <a:p>
                      <a:pPr>
                        <a:buNone/>
                      </a:pPr>
                      <a:r>
                        <a:rPr lang="en-IN"/>
                        <a:t>Best experience on Windows and PowerShell</a:t>
                      </a:r>
                    </a:p>
                  </a:txBody>
                  <a:tcPr anchor="ctr">
                    <a:lnL>
                      <a:noFill/>
                    </a:lnL>
                    <a:lnR>
                      <a:noFill/>
                    </a:lnR>
                    <a:lnT>
                      <a:noFill/>
                    </a:lnT>
                    <a:lnB>
                      <a:noFill/>
                    </a:lnB>
                    <a:noFill/>
                  </a:tcPr>
                </a:tc>
                <a:extLst>
                  <a:ext uri="{0D108BD9-81ED-4DB2-BD59-A6C34878D82A}">
                    <a16:rowId xmlns:a16="http://schemas.microsoft.com/office/drawing/2014/main" val="4071751235"/>
                  </a:ext>
                </a:extLst>
              </a:tr>
              <a:tr h="0">
                <a:tc>
                  <a:txBody>
                    <a:bodyPr/>
                    <a:lstStyle/>
                    <a:p>
                      <a:pPr>
                        <a:buNone/>
                      </a:pPr>
                      <a:r>
                        <a:rPr lang="en-IN"/>
                        <a:t>Preferred by Linux administrators</a:t>
                      </a:r>
                    </a:p>
                  </a:txBody>
                  <a:tcPr anchor="ctr">
                    <a:lnL>
                      <a:noFill/>
                    </a:lnL>
                    <a:lnR>
                      <a:noFill/>
                    </a:lnR>
                    <a:lnT>
                      <a:noFill/>
                    </a:lnT>
                    <a:lnB>
                      <a:noFill/>
                    </a:lnB>
                    <a:noFill/>
                  </a:tcPr>
                </a:tc>
                <a:tc>
                  <a:txBody>
                    <a:bodyPr/>
                    <a:lstStyle/>
                    <a:p>
                      <a:pPr>
                        <a:buNone/>
                      </a:pPr>
                      <a:r>
                        <a:rPr lang="en-IN"/>
                        <a:t>Preferred by Windows administrators</a:t>
                      </a:r>
                    </a:p>
                  </a:txBody>
                  <a:tcPr anchor="ctr">
                    <a:lnL>
                      <a:noFill/>
                    </a:lnL>
                    <a:lnR>
                      <a:noFill/>
                    </a:lnR>
                    <a:lnT>
                      <a:noFill/>
                    </a:lnT>
                    <a:lnB>
                      <a:noFill/>
                    </a:lnB>
                    <a:noFill/>
                  </a:tcPr>
                </a:tc>
                <a:extLst>
                  <a:ext uri="{0D108BD9-81ED-4DB2-BD59-A6C34878D82A}">
                    <a16:rowId xmlns:a16="http://schemas.microsoft.com/office/drawing/2014/main" val="4150352060"/>
                  </a:ext>
                </a:extLst>
              </a:tr>
              <a:tr h="0">
                <a:tc>
                  <a:txBody>
                    <a:bodyPr/>
                    <a:lstStyle/>
                    <a:p>
                      <a:pPr>
                        <a:buNone/>
                      </a:pPr>
                      <a:r>
                        <a:rPr lang="en-IN"/>
                        <a:t>Uses Bash-style commands</a:t>
                      </a:r>
                    </a:p>
                  </a:txBody>
                  <a:tcPr anchor="ctr">
                    <a:lnL>
                      <a:noFill/>
                    </a:lnL>
                    <a:lnR>
                      <a:noFill/>
                    </a:lnR>
                    <a:lnT>
                      <a:noFill/>
                    </a:lnT>
                    <a:lnB>
                      <a:noFill/>
                    </a:lnB>
                    <a:noFill/>
                  </a:tcPr>
                </a:tc>
                <a:tc>
                  <a:txBody>
                    <a:bodyPr/>
                    <a:lstStyle/>
                    <a:p>
                      <a:pPr>
                        <a:buNone/>
                      </a:pPr>
                      <a:r>
                        <a:rPr lang="en-IN"/>
                        <a:t>Uses PowerShell scripting</a:t>
                      </a:r>
                    </a:p>
                  </a:txBody>
                  <a:tcPr anchor="ctr">
                    <a:lnL>
                      <a:noFill/>
                    </a:lnL>
                    <a:lnR>
                      <a:noFill/>
                    </a:lnR>
                    <a:lnT>
                      <a:noFill/>
                    </a:lnT>
                    <a:lnB>
                      <a:noFill/>
                    </a:lnB>
                    <a:noFill/>
                  </a:tcPr>
                </a:tc>
                <a:extLst>
                  <a:ext uri="{0D108BD9-81ED-4DB2-BD59-A6C34878D82A}">
                    <a16:rowId xmlns:a16="http://schemas.microsoft.com/office/drawing/2014/main" val="3899857102"/>
                  </a:ext>
                </a:extLst>
              </a:tr>
              <a:tr h="0">
                <a:tc>
                  <a:txBody>
                    <a:bodyPr/>
                    <a:lstStyle/>
                    <a:p>
                      <a:pPr>
                        <a:buNone/>
                      </a:pPr>
                      <a:r>
                        <a:rPr lang="en-IN"/>
                        <a:t>Popular in DevOps and GitHub Actions</a:t>
                      </a:r>
                    </a:p>
                  </a:txBody>
                  <a:tcPr anchor="ctr">
                    <a:lnL>
                      <a:noFill/>
                    </a:lnL>
                    <a:lnR>
                      <a:noFill/>
                    </a:lnR>
                    <a:lnT>
                      <a:noFill/>
                    </a:lnT>
                    <a:lnB>
                      <a:noFill/>
                    </a:lnB>
                    <a:noFill/>
                  </a:tcPr>
                </a:tc>
                <a:tc>
                  <a:txBody>
                    <a:bodyPr/>
                    <a:lstStyle/>
                    <a:p>
                      <a:pPr>
                        <a:buNone/>
                      </a:pPr>
                      <a:r>
                        <a:rPr lang="en-IN" dirty="0"/>
                        <a:t>Popular for Windows automation</a:t>
                      </a:r>
                    </a:p>
                  </a:txBody>
                  <a:tcPr anchor="ctr">
                    <a:lnL>
                      <a:noFill/>
                    </a:lnL>
                    <a:lnR>
                      <a:noFill/>
                    </a:lnR>
                    <a:lnT>
                      <a:noFill/>
                    </a:lnT>
                    <a:lnB>
                      <a:noFill/>
                    </a:lnB>
                    <a:noFill/>
                  </a:tcPr>
                </a:tc>
                <a:extLst>
                  <a:ext uri="{0D108BD9-81ED-4DB2-BD59-A6C34878D82A}">
                    <a16:rowId xmlns:a16="http://schemas.microsoft.com/office/drawing/2014/main" val="374910314"/>
                  </a:ext>
                </a:extLst>
              </a:tr>
            </a:tbl>
          </a:graphicData>
        </a:graphic>
      </p:graphicFrame>
    </p:spTree>
    <p:extLst>
      <p:ext uri="{BB962C8B-B14F-4D97-AF65-F5344CB8AC3E}">
        <p14:creationId xmlns:p14="http://schemas.microsoft.com/office/powerpoint/2010/main" val="371348932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F85D28-10EC-E59B-C31D-5D87DCC1014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C661A74-5CE9-9B2C-FD27-16A10673177A}"/>
              </a:ext>
            </a:extLst>
          </p:cNvPr>
          <p:cNvSpPr>
            <a:spLocks noGrp="1"/>
          </p:cNvSpPr>
          <p:nvPr>
            <p:ph idx="1"/>
          </p:nvPr>
        </p:nvSpPr>
        <p:spPr>
          <a:xfrm>
            <a:off x="838200" y="112294"/>
            <a:ext cx="10515600" cy="6681537"/>
          </a:xfrm>
        </p:spPr>
        <p:txBody>
          <a:bodyPr>
            <a:normAutofit/>
          </a:bodyPr>
          <a:lstStyle/>
          <a:p>
            <a:r>
              <a:rPr lang="en-IN" b="1" dirty="0"/>
              <a:t>Azure CLI Command Structure</a:t>
            </a:r>
          </a:p>
          <a:p>
            <a:r>
              <a:rPr lang="en-IN" dirty="0"/>
              <a:t>Most Azure CLI commands follow a simple pattern.</a:t>
            </a:r>
          </a:p>
          <a:p>
            <a:r>
              <a:rPr lang="en-IN" dirty="0" err="1"/>
              <a:t>az</a:t>
            </a:r>
            <a:r>
              <a:rPr lang="en-IN" dirty="0"/>
              <a:t> &lt;service&gt; &lt;operation&gt;</a:t>
            </a:r>
          </a:p>
          <a:p>
            <a:r>
              <a:rPr lang="en-IN" dirty="0"/>
              <a:t>For example:</a:t>
            </a:r>
          </a:p>
          <a:p>
            <a:r>
              <a:rPr lang="en-IN" dirty="0" err="1"/>
              <a:t>az</a:t>
            </a:r>
            <a:r>
              <a:rPr lang="en-IN" dirty="0"/>
              <a:t> </a:t>
            </a:r>
            <a:r>
              <a:rPr lang="en-IN" dirty="0" err="1"/>
              <a:t>vm</a:t>
            </a:r>
            <a:r>
              <a:rPr lang="en-IN" dirty="0"/>
              <a:t> create</a:t>
            </a:r>
          </a:p>
          <a:p>
            <a:r>
              <a:rPr lang="en-IN" b="1" dirty="0" err="1"/>
              <a:t>az</a:t>
            </a:r>
            <a:r>
              <a:rPr lang="en-IN" dirty="0"/>
              <a:t> → Azure CLI </a:t>
            </a:r>
          </a:p>
          <a:p>
            <a:r>
              <a:rPr lang="en-IN" b="1" dirty="0" err="1"/>
              <a:t>vm</a:t>
            </a:r>
            <a:r>
              <a:rPr lang="en-IN" dirty="0"/>
              <a:t> → Virtual Machine service </a:t>
            </a:r>
          </a:p>
          <a:p>
            <a:r>
              <a:rPr lang="en-IN" b="1" dirty="0"/>
              <a:t>create</a:t>
            </a:r>
            <a:r>
              <a:rPr lang="en-IN" dirty="0"/>
              <a:t> → Action</a:t>
            </a:r>
          </a:p>
        </p:txBody>
      </p:sp>
      <p:sp>
        <p:nvSpPr>
          <p:cNvPr id="5" name="TextBox 4">
            <a:extLst>
              <a:ext uri="{FF2B5EF4-FFF2-40B4-BE49-F238E27FC236}">
                <a16:creationId xmlns:a16="http://schemas.microsoft.com/office/drawing/2014/main" id="{47CC5BFF-25A4-534B-BC56-FAC31022BE86}"/>
              </a:ext>
            </a:extLst>
          </p:cNvPr>
          <p:cNvSpPr txBox="1"/>
          <p:nvPr/>
        </p:nvSpPr>
        <p:spPr>
          <a:xfrm>
            <a:off x="2775284" y="4324489"/>
            <a:ext cx="6096000" cy="1754326"/>
          </a:xfrm>
          <a:prstGeom prst="rect">
            <a:avLst/>
          </a:prstGeom>
          <a:noFill/>
        </p:spPr>
        <p:txBody>
          <a:bodyPr wrap="square">
            <a:spAutoFit/>
          </a:bodyPr>
          <a:lstStyle/>
          <a:p>
            <a:r>
              <a:rPr lang="en-IN" dirty="0"/>
              <a:t>Azure CLI is Microsoft's cross-platform command-line tool for managing Azure resources. It uses simple </a:t>
            </a:r>
            <a:r>
              <a:rPr lang="en-IN" dirty="0" err="1">
                <a:latin typeface="Courier New" panose="02070309020205020404" pitchFamily="49" charset="0"/>
              </a:rPr>
              <a:t>az</a:t>
            </a:r>
            <a:r>
              <a:rPr lang="en-IN" dirty="0"/>
              <a:t> commands, supports automation and scripting on Windows, Linux, and macOS, and every command ultimately sends Azure Resource Manager REST API requests to Azure.</a:t>
            </a:r>
          </a:p>
        </p:txBody>
      </p:sp>
    </p:spTree>
    <p:extLst>
      <p:ext uri="{BB962C8B-B14F-4D97-AF65-F5344CB8AC3E}">
        <p14:creationId xmlns:p14="http://schemas.microsoft.com/office/powerpoint/2010/main" val="101899619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005549-E99D-465A-37ED-9A1B4DF771E3}"/>
              </a:ext>
            </a:extLst>
          </p:cNvPr>
          <p:cNvSpPr>
            <a:spLocks noGrp="1"/>
          </p:cNvSpPr>
          <p:nvPr>
            <p:ph type="title"/>
          </p:nvPr>
        </p:nvSpPr>
        <p:spPr/>
        <p:txBody>
          <a:bodyPr/>
          <a:lstStyle/>
          <a:p>
            <a:r>
              <a:rPr lang="en-GB" dirty="0"/>
              <a:t>Azure VM</a:t>
            </a:r>
            <a:endParaRPr lang="en-IN" dirty="0"/>
          </a:p>
        </p:txBody>
      </p:sp>
      <p:sp>
        <p:nvSpPr>
          <p:cNvPr id="3" name="Content Placeholder 2">
            <a:extLst>
              <a:ext uri="{FF2B5EF4-FFF2-40B4-BE49-F238E27FC236}">
                <a16:creationId xmlns:a16="http://schemas.microsoft.com/office/drawing/2014/main" id="{6BBC3476-FC68-7BAA-1FA6-2EF2395812CB}"/>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7374693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CC860C-30D8-426A-26FF-968475D61C7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D1CEA87-3903-C680-0514-B15CFC3644BB}"/>
              </a:ext>
            </a:extLst>
          </p:cNvPr>
          <p:cNvSpPr>
            <a:spLocks noGrp="1"/>
          </p:cNvSpPr>
          <p:nvPr>
            <p:ph idx="1"/>
          </p:nvPr>
        </p:nvSpPr>
        <p:spPr>
          <a:xfrm>
            <a:off x="838200" y="112294"/>
            <a:ext cx="10515600" cy="6681537"/>
          </a:xfrm>
        </p:spPr>
        <p:txBody>
          <a:bodyPr>
            <a:normAutofit/>
          </a:bodyPr>
          <a:lstStyle/>
          <a:p>
            <a:r>
              <a:rPr lang="en-IN" b="1" dirty="0"/>
              <a:t>What is this application?</a:t>
            </a:r>
          </a:p>
          <a:p>
            <a:r>
              <a:rPr lang="en-IN" dirty="0"/>
              <a:t>Imagine a company like </a:t>
            </a:r>
            <a:r>
              <a:rPr lang="en-IN" b="1" dirty="0"/>
              <a:t>Amazon, Flipkart, Walmart, or eBay</a:t>
            </a:r>
            <a:r>
              <a:rPr lang="en-IN" dirty="0"/>
              <a:t>. Every second, thousands of customers are browsing products, searching, placing orders, making payments, uploading product images, and the company is also running analytics and machine learning in the background.</a:t>
            </a:r>
          </a:p>
          <a:p>
            <a:r>
              <a:rPr lang="en-IN" dirty="0"/>
              <a:t>One VM family cannot do all these jobs efficiently. Some tasks need more CPU, some need more memory, some need GPUs, while others need very fast storage. Azure provides different VM families so we can choose the best VM for each workload. This saves money and improves performance.</a:t>
            </a:r>
          </a:p>
        </p:txBody>
      </p:sp>
      <p:sp>
        <p:nvSpPr>
          <p:cNvPr id="2" name="TextBox 1">
            <a:extLst>
              <a:ext uri="{FF2B5EF4-FFF2-40B4-BE49-F238E27FC236}">
                <a16:creationId xmlns:a16="http://schemas.microsoft.com/office/drawing/2014/main" id="{B9108095-D1FE-EED7-5403-2EA7027D8836}"/>
              </a:ext>
            </a:extLst>
          </p:cNvPr>
          <p:cNvSpPr txBox="1"/>
          <p:nvPr/>
        </p:nvSpPr>
        <p:spPr>
          <a:xfrm>
            <a:off x="10098505" y="64169"/>
            <a:ext cx="1161280" cy="369332"/>
          </a:xfrm>
          <a:prstGeom prst="rect">
            <a:avLst/>
          </a:prstGeom>
          <a:noFill/>
        </p:spPr>
        <p:txBody>
          <a:bodyPr wrap="none" rtlCol="0">
            <a:spAutoFit/>
          </a:bodyPr>
          <a:lstStyle/>
          <a:p>
            <a:r>
              <a:rPr lang="en-GB" b="1" dirty="0"/>
              <a:t>Azure VM</a:t>
            </a:r>
            <a:endParaRPr lang="en-IN" b="1" dirty="0"/>
          </a:p>
        </p:txBody>
      </p:sp>
    </p:spTree>
    <p:extLst>
      <p:ext uri="{BB962C8B-B14F-4D97-AF65-F5344CB8AC3E}">
        <p14:creationId xmlns:p14="http://schemas.microsoft.com/office/powerpoint/2010/main" val="345698684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03C2B3-40DF-AA7C-7485-423DBEC705A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FDA7C6-F228-8AC6-8911-CBA6583BC0F3}"/>
              </a:ext>
            </a:extLst>
          </p:cNvPr>
          <p:cNvSpPr>
            <a:spLocks noGrp="1"/>
          </p:cNvSpPr>
          <p:nvPr>
            <p:ph idx="1"/>
          </p:nvPr>
        </p:nvSpPr>
        <p:spPr>
          <a:xfrm>
            <a:off x="838200" y="112294"/>
            <a:ext cx="10515600" cy="6681537"/>
          </a:xfrm>
        </p:spPr>
        <p:txBody>
          <a:bodyPr>
            <a:normAutofit fontScale="70000" lnSpcReduction="20000"/>
          </a:bodyPr>
          <a:lstStyle/>
          <a:p>
            <a:r>
              <a:rPr lang="en-IN" b="1" dirty="0"/>
              <a:t>Let's walk through the application from left to right.</a:t>
            </a:r>
          </a:p>
          <a:p>
            <a:pPr marL="0" indent="0">
              <a:buNone/>
            </a:pPr>
            <a:r>
              <a:rPr lang="en-IN" b="1" dirty="0"/>
              <a:t>1. Users access the application</a:t>
            </a:r>
          </a:p>
          <a:p>
            <a:r>
              <a:rPr lang="en-IN" dirty="0"/>
              <a:t>Customers open the website or mobile app.</a:t>
            </a:r>
          </a:p>
          <a:p>
            <a:r>
              <a:rPr lang="en-IN" dirty="0"/>
              <a:t>Their request first reaches Azure Front Door, WAF and Application Gateway for global routing, load balancing and security.</a:t>
            </a:r>
          </a:p>
          <a:p>
            <a:r>
              <a:rPr lang="en-IN" dirty="0"/>
              <a:t>After that, the request enters our Azure Virtual Network.</a:t>
            </a:r>
          </a:p>
          <a:p>
            <a:pPr marL="0" indent="0">
              <a:buNone/>
            </a:pPr>
            <a:br>
              <a:rPr lang="en-IN" dirty="0"/>
            </a:br>
            <a:endParaRPr lang="en-IN" dirty="0"/>
          </a:p>
          <a:p>
            <a:pPr marL="0" indent="0">
              <a:buNone/>
            </a:pPr>
            <a:r>
              <a:rPr lang="en-IN" b="1" dirty="0"/>
              <a:t>2. B-Series VM (Burstable)</a:t>
            </a:r>
          </a:p>
          <a:p>
            <a:r>
              <a:rPr lang="en-IN" dirty="0"/>
              <a:t>The first workload is the </a:t>
            </a:r>
            <a:r>
              <a:rPr lang="en-IN" b="1" dirty="0"/>
              <a:t>web frontend</a:t>
            </a:r>
            <a:r>
              <a:rPr lang="en-IN" dirty="0"/>
              <a:t>.</a:t>
            </a:r>
          </a:p>
          <a:p>
            <a:r>
              <a:rPr lang="en-IN" dirty="0"/>
              <a:t>These virtual machines display the website, product pages, login page and shopping cart.</a:t>
            </a:r>
          </a:p>
          <a:p>
            <a:r>
              <a:rPr lang="en-IN" dirty="0"/>
              <a:t>Most of the time CPU usage is low because users are just reading pages.</a:t>
            </a:r>
          </a:p>
          <a:p>
            <a:r>
              <a:rPr lang="en-IN" dirty="0"/>
              <a:t>Sometimes traffic suddenly increases during a sale.</a:t>
            </a:r>
          </a:p>
          <a:p>
            <a:r>
              <a:rPr lang="en-IN" dirty="0"/>
              <a:t>Instead of paying for a powerful VM all day, we use </a:t>
            </a:r>
            <a:r>
              <a:rPr lang="en-IN" b="1" dirty="0"/>
              <a:t>B-Series</a:t>
            </a:r>
            <a:r>
              <a:rPr lang="en-IN" dirty="0"/>
              <a:t> because it can burst CPU whenever traffic increases.</a:t>
            </a:r>
          </a:p>
          <a:p>
            <a:pPr marL="0" indent="0">
              <a:buNone/>
            </a:pPr>
            <a:r>
              <a:rPr lang="en-IN" b="1" dirty="0"/>
              <a:t>Real job</a:t>
            </a:r>
            <a:endParaRPr lang="en-IN" dirty="0"/>
          </a:p>
          <a:p>
            <a:r>
              <a:rPr lang="en-IN" dirty="0"/>
              <a:t>Website </a:t>
            </a:r>
          </a:p>
          <a:p>
            <a:r>
              <a:rPr lang="en-IN" dirty="0"/>
              <a:t>Landing pages </a:t>
            </a:r>
          </a:p>
          <a:p>
            <a:r>
              <a:rPr lang="en-IN" dirty="0"/>
              <a:t>Product catalogue </a:t>
            </a:r>
          </a:p>
          <a:p>
            <a:r>
              <a:rPr lang="en-IN" dirty="0"/>
              <a:t>Static content </a:t>
            </a:r>
          </a:p>
        </p:txBody>
      </p:sp>
      <p:sp>
        <p:nvSpPr>
          <p:cNvPr id="4" name="TextBox 3">
            <a:extLst>
              <a:ext uri="{FF2B5EF4-FFF2-40B4-BE49-F238E27FC236}">
                <a16:creationId xmlns:a16="http://schemas.microsoft.com/office/drawing/2014/main" id="{B9213769-E7E7-92EE-56CC-B8B4BFD27F0E}"/>
              </a:ext>
            </a:extLst>
          </p:cNvPr>
          <p:cNvSpPr txBox="1"/>
          <p:nvPr/>
        </p:nvSpPr>
        <p:spPr>
          <a:xfrm>
            <a:off x="10098505" y="64169"/>
            <a:ext cx="1161280" cy="369332"/>
          </a:xfrm>
          <a:prstGeom prst="rect">
            <a:avLst/>
          </a:prstGeom>
          <a:noFill/>
        </p:spPr>
        <p:txBody>
          <a:bodyPr wrap="none" rtlCol="0">
            <a:spAutoFit/>
          </a:bodyPr>
          <a:lstStyle/>
          <a:p>
            <a:r>
              <a:rPr lang="en-GB" b="1" dirty="0"/>
              <a:t>Azure VM</a:t>
            </a:r>
            <a:endParaRPr lang="en-IN" b="1" dirty="0"/>
          </a:p>
        </p:txBody>
      </p:sp>
    </p:spTree>
    <p:extLst>
      <p:ext uri="{BB962C8B-B14F-4D97-AF65-F5344CB8AC3E}">
        <p14:creationId xmlns:p14="http://schemas.microsoft.com/office/powerpoint/2010/main" val="157626872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801CD0-49C2-8DB1-8A31-82006617F5F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C283A51-DCD7-ADE9-1A92-F9F55B400AF7}"/>
              </a:ext>
            </a:extLst>
          </p:cNvPr>
          <p:cNvSpPr>
            <a:spLocks noGrp="1"/>
          </p:cNvSpPr>
          <p:nvPr>
            <p:ph idx="1"/>
          </p:nvPr>
        </p:nvSpPr>
        <p:spPr>
          <a:xfrm>
            <a:off x="838200" y="112294"/>
            <a:ext cx="10515600" cy="6681537"/>
          </a:xfrm>
        </p:spPr>
        <p:txBody>
          <a:bodyPr>
            <a:normAutofit fontScale="62500" lnSpcReduction="20000"/>
          </a:bodyPr>
          <a:lstStyle/>
          <a:p>
            <a:pPr marL="0" indent="0">
              <a:buNone/>
            </a:pPr>
            <a:r>
              <a:rPr lang="en-IN" b="1" dirty="0"/>
              <a:t>What is Burst CPU?</a:t>
            </a:r>
          </a:p>
          <a:p>
            <a:pPr marL="0" indent="0">
              <a:buNone/>
            </a:pPr>
            <a:r>
              <a:rPr lang="en-IN" dirty="0"/>
              <a:t>Imagine a small shop.</a:t>
            </a:r>
          </a:p>
          <a:p>
            <a:r>
              <a:rPr lang="en-IN" dirty="0"/>
              <a:t>Normally, only </a:t>
            </a:r>
            <a:r>
              <a:rPr lang="en-IN" b="1" dirty="0"/>
              <a:t>5 customers</a:t>
            </a:r>
            <a:r>
              <a:rPr lang="en-IN" dirty="0"/>
              <a:t> visit every minute, so one employee is enough.</a:t>
            </a:r>
          </a:p>
          <a:p>
            <a:r>
              <a:rPr lang="en-IN" dirty="0"/>
              <a:t>Suddenly, during a festival, </a:t>
            </a:r>
            <a:r>
              <a:rPr lang="en-IN" b="1" dirty="0"/>
              <a:t>100 customers</a:t>
            </a:r>
            <a:r>
              <a:rPr lang="en-IN" dirty="0"/>
              <a:t> arrive.</a:t>
            </a:r>
          </a:p>
          <a:p>
            <a:r>
              <a:rPr lang="en-IN" dirty="0"/>
              <a:t>Instead of hiring 10 employees permanently, you temporarily ask one employee to work much faster.</a:t>
            </a:r>
          </a:p>
          <a:p>
            <a:r>
              <a:rPr lang="en-IN" dirty="0"/>
              <a:t>That's exactly how </a:t>
            </a:r>
            <a:r>
              <a:rPr lang="en-IN" b="1" dirty="0"/>
              <a:t>Burst CPU</a:t>
            </a:r>
            <a:r>
              <a:rPr lang="en-IN" dirty="0"/>
              <a:t> works.</a:t>
            </a:r>
          </a:p>
          <a:p>
            <a:pPr marL="0" indent="0">
              <a:buNone/>
            </a:pPr>
            <a:r>
              <a:rPr lang="en-IN" dirty="0"/>
              <a:t>A </a:t>
            </a:r>
            <a:r>
              <a:rPr lang="en-IN" b="1" dirty="0"/>
              <a:t>B-Series VM</a:t>
            </a:r>
            <a:r>
              <a:rPr lang="en-IN" dirty="0"/>
              <a:t> usually runs using only part of its CPU. While it's running at low usage, it </a:t>
            </a:r>
            <a:r>
              <a:rPr lang="en-IN" b="1" dirty="0"/>
              <a:t>earns CPU credits</a:t>
            </a:r>
            <a:r>
              <a:rPr lang="en-IN" dirty="0"/>
              <a:t>.</a:t>
            </a:r>
          </a:p>
          <a:p>
            <a:r>
              <a:rPr lang="en-IN" dirty="0"/>
              <a:t>When the application suddenly needs more processing power, the VM uses those saved CPU credits to temporarily run at a much higher CPU speed.</a:t>
            </a:r>
          </a:p>
          <a:p>
            <a:r>
              <a:rPr lang="en-IN" dirty="0"/>
              <a:t>For example:</a:t>
            </a:r>
          </a:p>
          <a:p>
            <a:r>
              <a:rPr lang="en-IN" dirty="0"/>
              <a:t>Normal website traffic → CPU usage around </a:t>
            </a:r>
            <a:r>
              <a:rPr lang="en-IN" b="1" dirty="0"/>
              <a:t>10–20%</a:t>
            </a:r>
            <a:r>
              <a:rPr lang="en-IN" dirty="0"/>
              <a:t> </a:t>
            </a:r>
          </a:p>
          <a:p>
            <a:r>
              <a:rPr lang="en-IN" dirty="0"/>
              <a:t>Black Friday sale → CPU jumps to </a:t>
            </a:r>
            <a:r>
              <a:rPr lang="en-IN" b="1" dirty="0"/>
              <a:t>100%</a:t>
            </a:r>
            <a:r>
              <a:rPr lang="en-IN" dirty="0"/>
              <a:t> for a while </a:t>
            </a:r>
          </a:p>
          <a:p>
            <a:r>
              <a:rPr lang="en-IN" dirty="0"/>
              <a:t>After the traffic drops, the VM goes back to normal and starts earning CPU credits again. </a:t>
            </a:r>
          </a:p>
          <a:p>
            <a:pPr marL="0" indent="0">
              <a:buNone/>
            </a:pPr>
            <a:r>
              <a:rPr lang="en-IN" b="1" dirty="0"/>
              <a:t>Best use cases</a:t>
            </a:r>
          </a:p>
          <a:p>
            <a:r>
              <a:rPr lang="en-IN" dirty="0"/>
              <a:t>Small websites </a:t>
            </a:r>
          </a:p>
          <a:p>
            <a:r>
              <a:rPr lang="en-IN" dirty="0"/>
              <a:t>Development servers </a:t>
            </a:r>
          </a:p>
          <a:p>
            <a:r>
              <a:rPr lang="en-IN" dirty="0"/>
              <a:t>Test environments </a:t>
            </a:r>
          </a:p>
          <a:p>
            <a:r>
              <a:rPr lang="en-IN" dirty="0"/>
              <a:t>Jump servers </a:t>
            </a:r>
          </a:p>
          <a:p>
            <a:r>
              <a:rPr lang="en-IN" dirty="0"/>
              <a:t>Small APIs </a:t>
            </a:r>
          </a:p>
          <a:p>
            <a:r>
              <a:rPr lang="en-IN" dirty="0"/>
              <a:t>Not suitable for workloads that require high CPU all day.</a:t>
            </a:r>
          </a:p>
        </p:txBody>
      </p:sp>
      <p:sp>
        <p:nvSpPr>
          <p:cNvPr id="4" name="TextBox 3">
            <a:extLst>
              <a:ext uri="{FF2B5EF4-FFF2-40B4-BE49-F238E27FC236}">
                <a16:creationId xmlns:a16="http://schemas.microsoft.com/office/drawing/2014/main" id="{0364B094-D5FC-9F5D-71C2-539CB157C7C8}"/>
              </a:ext>
            </a:extLst>
          </p:cNvPr>
          <p:cNvSpPr txBox="1"/>
          <p:nvPr/>
        </p:nvSpPr>
        <p:spPr>
          <a:xfrm>
            <a:off x="10098505" y="64169"/>
            <a:ext cx="1161280" cy="369332"/>
          </a:xfrm>
          <a:prstGeom prst="rect">
            <a:avLst/>
          </a:prstGeom>
          <a:noFill/>
        </p:spPr>
        <p:txBody>
          <a:bodyPr wrap="none" rtlCol="0">
            <a:spAutoFit/>
          </a:bodyPr>
          <a:lstStyle/>
          <a:p>
            <a:r>
              <a:rPr lang="en-GB" b="1" dirty="0"/>
              <a:t>Azure VM</a:t>
            </a:r>
            <a:endParaRPr lang="en-IN" b="1" dirty="0"/>
          </a:p>
        </p:txBody>
      </p:sp>
    </p:spTree>
    <p:extLst>
      <p:ext uri="{BB962C8B-B14F-4D97-AF65-F5344CB8AC3E}">
        <p14:creationId xmlns:p14="http://schemas.microsoft.com/office/powerpoint/2010/main" val="350442385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0056AB-D979-C3F9-BAA1-262FE4CCA7D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7234CC-4921-BDBB-77EC-DF165581EBDC}"/>
              </a:ext>
            </a:extLst>
          </p:cNvPr>
          <p:cNvSpPr>
            <a:spLocks noGrp="1"/>
          </p:cNvSpPr>
          <p:nvPr>
            <p:ph idx="1"/>
          </p:nvPr>
        </p:nvSpPr>
        <p:spPr>
          <a:xfrm>
            <a:off x="838200" y="112294"/>
            <a:ext cx="10515600" cy="6681537"/>
          </a:xfrm>
        </p:spPr>
        <p:txBody>
          <a:bodyPr>
            <a:normAutofit fontScale="92500" lnSpcReduction="10000"/>
          </a:bodyPr>
          <a:lstStyle/>
          <a:p>
            <a:pPr marL="0" indent="0">
              <a:buNone/>
            </a:pPr>
            <a:r>
              <a:rPr lang="en-IN" b="1" dirty="0"/>
              <a:t>3. D-Series VM (General Purpose)</a:t>
            </a:r>
          </a:p>
          <a:p>
            <a:r>
              <a:rPr lang="en-IN" dirty="0"/>
              <a:t>Now the request reaches the application servers.</a:t>
            </a:r>
          </a:p>
          <a:p>
            <a:r>
              <a:rPr lang="en-IN" dirty="0"/>
              <a:t>This is where the actual business logic runs.</a:t>
            </a:r>
          </a:p>
          <a:p>
            <a:r>
              <a:rPr lang="en-IN" dirty="0"/>
              <a:t>The application checks</a:t>
            </a:r>
          </a:p>
          <a:p>
            <a:pPr marL="0" indent="0">
              <a:buNone/>
            </a:pPr>
            <a:r>
              <a:rPr lang="en-IN" dirty="0"/>
              <a:t>user login </a:t>
            </a:r>
          </a:p>
          <a:p>
            <a:pPr marL="0" indent="0">
              <a:buNone/>
            </a:pPr>
            <a:r>
              <a:rPr lang="en-IN" dirty="0"/>
              <a:t>shopping cart </a:t>
            </a:r>
          </a:p>
          <a:p>
            <a:pPr marL="0" indent="0">
              <a:buNone/>
            </a:pPr>
            <a:r>
              <a:rPr lang="en-IN" dirty="0"/>
              <a:t>product availability </a:t>
            </a:r>
          </a:p>
          <a:p>
            <a:pPr marL="0" indent="0">
              <a:buNone/>
            </a:pPr>
            <a:r>
              <a:rPr lang="en-IN" dirty="0"/>
              <a:t>order creation </a:t>
            </a:r>
          </a:p>
          <a:p>
            <a:pPr marL="0" indent="0">
              <a:buNone/>
            </a:pPr>
            <a:r>
              <a:rPr lang="en-IN" dirty="0"/>
              <a:t>payment request </a:t>
            </a:r>
          </a:p>
          <a:p>
            <a:pPr marL="0" indent="0">
              <a:buNone/>
            </a:pPr>
            <a:r>
              <a:rPr lang="en-IN" dirty="0"/>
              <a:t>inventory updates </a:t>
            </a:r>
          </a:p>
          <a:p>
            <a:r>
              <a:rPr lang="en-IN" dirty="0"/>
              <a:t>These servers need a balanced amount of CPU and memory.</a:t>
            </a:r>
          </a:p>
          <a:p>
            <a:r>
              <a:rPr lang="en-IN" dirty="0"/>
              <a:t>That's why we choose </a:t>
            </a:r>
            <a:r>
              <a:rPr lang="en-IN" b="1" dirty="0"/>
              <a:t>D-Series</a:t>
            </a:r>
            <a:r>
              <a:rPr lang="en-IN" dirty="0"/>
              <a:t>.</a:t>
            </a:r>
          </a:p>
          <a:p>
            <a:r>
              <a:rPr lang="en-IN" dirty="0"/>
              <a:t>Think of D-Series as the all-rounder VM.</a:t>
            </a:r>
          </a:p>
          <a:p>
            <a:r>
              <a:rPr lang="en-IN" dirty="0"/>
              <a:t>Most enterprise applications run on D-Series.</a:t>
            </a:r>
          </a:p>
        </p:txBody>
      </p:sp>
      <p:sp>
        <p:nvSpPr>
          <p:cNvPr id="4" name="TextBox 3">
            <a:extLst>
              <a:ext uri="{FF2B5EF4-FFF2-40B4-BE49-F238E27FC236}">
                <a16:creationId xmlns:a16="http://schemas.microsoft.com/office/drawing/2014/main" id="{37F4E286-ECFC-627E-1C0E-14D952B4E489}"/>
              </a:ext>
            </a:extLst>
          </p:cNvPr>
          <p:cNvSpPr txBox="1"/>
          <p:nvPr/>
        </p:nvSpPr>
        <p:spPr>
          <a:xfrm>
            <a:off x="10098505" y="64169"/>
            <a:ext cx="1161280" cy="369332"/>
          </a:xfrm>
          <a:prstGeom prst="rect">
            <a:avLst/>
          </a:prstGeom>
          <a:noFill/>
        </p:spPr>
        <p:txBody>
          <a:bodyPr wrap="none" rtlCol="0">
            <a:spAutoFit/>
          </a:bodyPr>
          <a:lstStyle/>
          <a:p>
            <a:r>
              <a:rPr lang="en-GB" b="1" dirty="0"/>
              <a:t>Azure VM</a:t>
            </a:r>
            <a:endParaRPr lang="en-IN" b="1" dirty="0"/>
          </a:p>
        </p:txBody>
      </p:sp>
    </p:spTree>
    <p:extLst>
      <p:ext uri="{BB962C8B-B14F-4D97-AF65-F5344CB8AC3E}">
        <p14:creationId xmlns:p14="http://schemas.microsoft.com/office/powerpoint/2010/main" val="184067480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A216F1-C0E4-A259-0720-4CE4FF6F45B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6A28D5-D677-38F1-616C-6CBDDF9779C7}"/>
              </a:ext>
            </a:extLst>
          </p:cNvPr>
          <p:cNvSpPr>
            <a:spLocks noGrp="1"/>
          </p:cNvSpPr>
          <p:nvPr>
            <p:ph idx="1"/>
          </p:nvPr>
        </p:nvSpPr>
        <p:spPr>
          <a:xfrm>
            <a:off x="838200" y="112294"/>
            <a:ext cx="10515600" cy="6681537"/>
          </a:xfrm>
        </p:spPr>
        <p:txBody>
          <a:bodyPr>
            <a:normAutofit lnSpcReduction="10000"/>
          </a:bodyPr>
          <a:lstStyle/>
          <a:p>
            <a:pPr marL="0" indent="0">
              <a:buNone/>
            </a:pPr>
            <a:r>
              <a:rPr lang="en-IN" b="1" dirty="0"/>
              <a:t>4. E-Series VM (Memory Optimized)</a:t>
            </a:r>
          </a:p>
          <a:p>
            <a:pPr marL="0" indent="0">
              <a:buNone/>
            </a:pPr>
            <a:r>
              <a:rPr lang="en-IN" dirty="0"/>
              <a:t>Now suppose a customer searches for</a:t>
            </a:r>
          </a:p>
          <a:p>
            <a:pPr marL="0" indent="0">
              <a:buNone/>
            </a:pPr>
            <a:r>
              <a:rPr lang="en-IN" dirty="0"/>
              <a:t>"Samsung 65-inch 4K TV"</a:t>
            </a:r>
          </a:p>
          <a:p>
            <a:pPr marL="0" indent="0">
              <a:buNone/>
            </a:pPr>
            <a:r>
              <a:rPr lang="en-IN" dirty="0"/>
              <a:t>The application needs very fast searching.</a:t>
            </a:r>
          </a:p>
          <a:p>
            <a:pPr marL="0" indent="0">
              <a:buNone/>
            </a:pPr>
            <a:r>
              <a:rPr lang="en-IN" dirty="0"/>
              <a:t>Instead of reading millions of records from disk every time, it keeps frequently used data in memory.</a:t>
            </a:r>
          </a:p>
          <a:p>
            <a:r>
              <a:rPr lang="en-IN" dirty="0"/>
              <a:t>Redis Cache</a:t>
            </a:r>
          </a:p>
          <a:p>
            <a:r>
              <a:rPr lang="en-IN" dirty="0"/>
              <a:t>Large search indexes</a:t>
            </a:r>
          </a:p>
          <a:p>
            <a:r>
              <a:rPr lang="en-IN" dirty="0"/>
              <a:t>Recommendation engine</a:t>
            </a:r>
          </a:p>
          <a:p>
            <a:r>
              <a:rPr lang="en-IN" dirty="0"/>
              <a:t>Session storage</a:t>
            </a:r>
          </a:p>
          <a:p>
            <a:pPr marL="0" indent="0">
              <a:buNone/>
            </a:pPr>
            <a:r>
              <a:rPr lang="en-IN" dirty="0"/>
              <a:t>        all need a large amount of RAM.</a:t>
            </a:r>
          </a:p>
          <a:p>
            <a:r>
              <a:rPr lang="en-IN" dirty="0"/>
              <a:t>CPU is not the main requirement here.</a:t>
            </a:r>
          </a:p>
          <a:p>
            <a:r>
              <a:rPr lang="en-IN" dirty="0"/>
              <a:t>Memory is.</a:t>
            </a:r>
          </a:p>
          <a:p>
            <a:r>
              <a:rPr lang="en-IN" dirty="0"/>
              <a:t>That's why we use </a:t>
            </a:r>
            <a:r>
              <a:rPr lang="en-IN" b="1" dirty="0"/>
              <a:t>E-Series</a:t>
            </a:r>
            <a:r>
              <a:rPr lang="en-IN" dirty="0"/>
              <a:t>.</a:t>
            </a:r>
          </a:p>
        </p:txBody>
      </p:sp>
      <p:sp>
        <p:nvSpPr>
          <p:cNvPr id="4" name="TextBox 3">
            <a:extLst>
              <a:ext uri="{FF2B5EF4-FFF2-40B4-BE49-F238E27FC236}">
                <a16:creationId xmlns:a16="http://schemas.microsoft.com/office/drawing/2014/main" id="{E8FABAC0-23A6-1A31-A2AC-CBCB6E566219}"/>
              </a:ext>
            </a:extLst>
          </p:cNvPr>
          <p:cNvSpPr txBox="1"/>
          <p:nvPr/>
        </p:nvSpPr>
        <p:spPr>
          <a:xfrm>
            <a:off x="10098505" y="64169"/>
            <a:ext cx="1161280" cy="369332"/>
          </a:xfrm>
          <a:prstGeom prst="rect">
            <a:avLst/>
          </a:prstGeom>
          <a:noFill/>
        </p:spPr>
        <p:txBody>
          <a:bodyPr wrap="none" rtlCol="0">
            <a:spAutoFit/>
          </a:bodyPr>
          <a:lstStyle/>
          <a:p>
            <a:r>
              <a:rPr lang="en-GB" b="1" dirty="0"/>
              <a:t>Azure VM</a:t>
            </a:r>
            <a:endParaRPr lang="en-IN" b="1" dirty="0"/>
          </a:p>
        </p:txBody>
      </p:sp>
      <p:sp>
        <p:nvSpPr>
          <p:cNvPr id="5" name="TextBox 4">
            <a:extLst>
              <a:ext uri="{FF2B5EF4-FFF2-40B4-BE49-F238E27FC236}">
                <a16:creationId xmlns:a16="http://schemas.microsoft.com/office/drawing/2014/main" id="{07F8035E-13A8-E030-73BD-F269F44604A5}"/>
              </a:ext>
            </a:extLst>
          </p:cNvPr>
          <p:cNvSpPr txBox="1"/>
          <p:nvPr/>
        </p:nvSpPr>
        <p:spPr>
          <a:xfrm>
            <a:off x="6416842" y="2453170"/>
            <a:ext cx="6096000" cy="4247317"/>
          </a:xfrm>
          <a:prstGeom prst="rect">
            <a:avLst/>
          </a:prstGeom>
          <a:noFill/>
        </p:spPr>
        <p:txBody>
          <a:bodyPr wrap="square">
            <a:spAutoFit/>
          </a:bodyPr>
          <a:lstStyle/>
          <a:p>
            <a:pPr>
              <a:buNone/>
            </a:pPr>
            <a:r>
              <a:rPr lang="en-IN" dirty="0"/>
              <a:t>Instead of reading data from the database every time, </a:t>
            </a:r>
          </a:p>
          <a:p>
            <a:pPr>
              <a:buNone/>
            </a:pPr>
            <a:r>
              <a:rPr lang="en-IN" dirty="0"/>
              <a:t>Redis stores frequently used data in memory (RAM).</a:t>
            </a:r>
          </a:p>
          <a:p>
            <a:pPr>
              <a:buNone/>
            </a:pPr>
            <a:r>
              <a:rPr lang="en-IN" dirty="0"/>
              <a:t>For example, thousands of users may request:</a:t>
            </a:r>
          </a:p>
          <a:p>
            <a:pPr>
              <a:buFont typeface="Arial" panose="020B0604020202020204" pitchFamily="34" charset="0"/>
              <a:buChar char="•"/>
            </a:pPr>
            <a:r>
              <a:rPr lang="en-IN" dirty="0"/>
              <a:t>Product list </a:t>
            </a:r>
          </a:p>
          <a:p>
            <a:pPr>
              <a:buFont typeface="Arial" panose="020B0604020202020204" pitchFamily="34" charset="0"/>
              <a:buChar char="•"/>
            </a:pPr>
            <a:r>
              <a:rPr lang="en-IN" dirty="0"/>
              <a:t>Today's offers </a:t>
            </a:r>
          </a:p>
          <a:p>
            <a:pPr>
              <a:buFont typeface="Arial" panose="020B0604020202020204" pitchFamily="34" charset="0"/>
              <a:buChar char="•"/>
            </a:pPr>
            <a:r>
              <a:rPr lang="en-IN" dirty="0"/>
              <a:t>User session </a:t>
            </a:r>
          </a:p>
          <a:p>
            <a:pPr>
              <a:buFont typeface="Arial" panose="020B0604020202020204" pitchFamily="34" charset="0"/>
              <a:buChar char="•"/>
            </a:pPr>
            <a:r>
              <a:rPr lang="en-IN" dirty="0"/>
              <a:t>Shopping cart </a:t>
            </a:r>
          </a:p>
          <a:p>
            <a:pPr>
              <a:buFont typeface="Arial" panose="020B0604020202020204" pitchFamily="34" charset="0"/>
              <a:buChar char="•"/>
            </a:pPr>
            <a:r>
              <a:rPr lang="en-IN" dirty="0"/>
              <a:t>Top-selling products </a:t>
            </a:r>
          </a:p>
          <a:p>
            <a:pPr>
              <a:buNone/>
            </a:pPr>
            <a:r>
              <a:rPr lang="en-IN" dirty="0"/>
              <a:t>Instead of asking SQL Server every time,</a:t>
            </a:r>
          </a:p>
          <a:p>
            <a:pPr>
              <a:buNone/>
            </a:pPr>
            <a:r>
              <a:rPr lang="en-IN" dirty="0"/>
              <a:t>Application → Redis → Answer immediately</a:t>
            </a:r>
          </a:p>
          <a:p>
            <a:pPr>
              <a:buNone/>
            </a:pPr>
            <a:endParaRPr lang="en-IN" dirty="0"/>
          </a:p>
          <a:p>
            <a:pPr>
              <a:buNone/>
            </a:pPr>
            <a:r>
              <a:rPr lang="en-IN" dirty="0"/>
              <a:t>Only if Redis doesn't have the data does it ask SQL Server.</a:t>
            </a:r>
          </a:p>
          <a:p>
            <a:r>
              <a:rPr lang="en-IN" dirty="0"/>
              <a:t>It may require </a:t>
            </a:r>
            <a:r>
              <a:rPr lang="en-IN" b="1" dirty="0"/>
              <a:t>64 GB</a:t>
            </a:r>
            <a:r>
              <a:rPr lang="en-IN" dirty="0"/>
              <a:t>, </a:t>
            </a:r>
            <a:r>
              <a:rPr lang="en-IN" b="1" dirty="0"/>
              <a:t>128 GB</a:t>
            </a:r>
            <a:r>
              <a:rPr lang="en-IN" dirty="0"/>
              <a:t>, or </a:t>
            </a:r>
            <a:r>
              <a:rPr lang="en-IN" b="1" dirty="0"/>
              <a:t>256 GB</a:t>
            </a:r>
            <a:r>
              <a:rPr lang="en-IN" dirty="0"/>
              <a:t> of RAM.</a:t>
            </a:r>
          </a:p>
          <a:p>
            <a:r>
              <a:rPr lang="en-IN" dirty="0"/>
              <a:t>An </a:t>
            </a:r>
            <a:r>
              <a:rPr lang="en-IN" b="1" dirty="0"/>
              <a:t>E-Series VM</a:t>
            </a:r>
            <a:r>
              <a:rPr lang="en-IN" dirty="0"/>
              <a:t> is perfect.</a:t>
            </a:r>
          </a:p>
          <a:p>
            <a:pPr>
              <a:buNone/>
            </a:pPr>
            <a:endParaRPr lang="en-IN" dirty="0"/>
          </a:p>
        </p:txBody>
      </p:sp>
    </p:spTree>
    <p:extLst>
      <p:ext uri="{BB962C8B-B14F-4D97-AF65-F5344CB8AC3E}">
        <p14:creationId xmlns:p14="http://schemas.microsoft.com/office/powerpoint/2010/main" val="58436594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56C7E-731C-7767-F2C0-B8FB8896855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2DE31-0975-0017-F3CC-38C04EF7C74F}"/>
              </a:ext>
            </a:extLst>
          </p:cNvPr>
          <p:cNvSpPr>
            <a:spLocks noGrp="1"/>
          </p:cNvSpPr>
          <p:nvPr>
            <p:ph idx="1"/>
          </p:nvPr>
        </p:nvSpPr>
        <p:spPr>
          <a:xfrm>
            <a:off x="838200" y="112294"/>
            <a:ext cx="10515600" cy="6681537"/>
          </a:xfrm>
        </p:spPr>
        <p:txBody>
          <a:bodyPr>
            <a:normAutofit fontScale="85000" lnSpcReduction="20000"/>
          </a:bodyPr>
          <a:lstStyle/>
          <a:p>
            <a:pPr marL="0" indent="0">
              <a:buNone/>
            </a:pPr>
            <a:r>
              <a:rPr lang="en-IN" b="1" dirty="0"/>
              <a:t>5. Fsv2 Series (Compute Optimized)</a:t>
            </a:r>
          </a:p>
          <a:p>
            <a:pPr marL="0" indent="0">
              <a:buNone/>
            </a:pPr>
            <a:r>
              <a:rPr lang="en-IN" dirty="0"/>
              <a:t>Now imagine the company starts a huge background job.</a:t>
            </a:r>
          </a:p>
          <a:p>
            <a:pPr marL="0" indent="0">
              <a:buNone/>
            </a:pPr>
            <a:r>
              <a:rPr lang="en-IN" dirty="0"/>
              <a:t>Examples are</a:t>
            </a:r>
          </a:p>
          <a:p>
            <a:r>
              <a:rPr lang="en-IN" dirty="0"/>
              <a:t>calculating product recommendations </a:t>
            </a:r>
          </a:p>
          <a:p>
            <a:r>
              <a:rPr lang="en-IN" dirty="0"/>
              <a:t>fraud detection </a:t>
            </a:r>
          </a:p>
          <a:p>
            <a:r>
              <a:rPr lang="en-IN" dirty="0"/>
              <a:t>pricing calculations </a:t>
            </a:r>
          </a:p>
          <a:p>
            <a:r>
              <a:rPr lang="en-IN" dirty="0"/>
              <a:t>sales forecasting </a:t>
            </a:r>
          </a:p>
          <a:p>
            <a:r>
              <a:rPr lang="en-IN" dirty="0"/>
              <a:t>financial simulations </a:t>
            </a:r>
          </a:p>
          <a:p>
            <a:r>
              <a:rPr lang="en-IN" dirty="0"/>
              <a:t>image processing </a:t>
            </a:r>
          </a:p>
          <a:p>
            <a:r>
              <a:rPr lang="en-IN" dirty="0"/>
              <a:t>search indexing </a:t>
            </a:r>
          </a:p>
          <a:p>
            <a:pPr marL="0" indent="0">
              <a:buNone/>
            </a:pPr>
            <a:r>
              <a:rPr lang="en-IN" dirty="0"/>
              <a:t>These jobs perform millions of calculations.</a:t>
            </a:r>
          </a:p>
          <a:p>
            <a:pPr marL="0" indent="0">
              <a:buNone/>
            </a:pPr>
            <a:r>
              <a:rPr lang="en-IN" dirty="0"/>
              <a:t>They don't require huge memory.</a:t>
            </a:r>
          </a:p>
          <a:p>
            <a:pPr marL="0" indent="0">
              <a:buNone/>
            </a:pPr>
            <a:r>
              <a:rPr lang="en-IN" dirty="0"/>
              <a:t>They mainly need CPU power.</a:t>
            </a:r>
          </a:p>
          <a:p>
            <a:pPr marL="0" indent="0">
              <a:buNone/>
            </a:pPr>
            <a:r>
              <a:rPr lang="en-IN" dirty="0"/>
              <a:t>This is where </a:t>
            </a:r>
            <a:r>
              <a:rPr lang="en-IN" b="1" dirty="0"/>
              <a:t>Fsv2 Compute Optimized</a:t>
            </a:r>
            <a:r>
              <a:rPr lang="en-IN" dirty="0"/>
              <a:t> VMs are perfect.</a:t>
            </a:r>
          </a:p>
          <a:p>
            <a:pPr marL="0" indent="0">
              <a:buNone/>
            </a:pPr>
            <a:r>
              <a:rPr lang="en-IN" dirty="0"/>
              <a:t>Usually Azure Batch or VM Scale Sets create hundreds of Fsv2 VMs.</a:t>
            </a:r>
          </a:p>
          <a:p>
            <a:pPr marL="0" indent="0">
              <a:buNone/>
            </a:pPr>
            <a:r>
              <a:rPr lang="en-IN" dirty="0"/>
              <a:t>Each VM processes one part of the workload.</a:t>
            </a:r>
          </a:p>
          <a:p>
            <a:pPr marL="0" indent="0">
              <a:buNone/>
            </a:pPr>
            <a:r>
              <a:rPr lang="en-IN" dirty="0"/>
              <a:t>Together they finish the job much faster.</a:t>
            </a:r>
          </a:p>
        </p:txBody>
      </p:sp>
      <p:sp>
        <p:nvSpPr>
          <p:cNvPr id="4" name="TextBox 3">
            <a:extLst>
              <a:ext uri="{FF2B5EF4-FFF2-40B4-BE49-F238E27FC236}">
                <a16:creationId xmlns:a16="http://schemas.microsoft.com/office/drawing/2014/main" id="{20BA53A8-9FC1-4CC2-A4C1-9436A2285EB3}"/>
              </a:ext>
            </a:extLst>
          </p:cNvPr>
          <p:cNvSpPr txBox="1"/>
          <p:nvPr/>
        </p:nvSpPr>
        <p:spPr>
          <a:xfrm>
            <a:off x="10098505" y="64169"/>
            <a:ext cx="1161280" cy="369332"/>
          </a:xfrm>
          <a:prstGeom prst="rect">
            <a:avLst/>
          </a:prstGeom>
          <a:noFill/>
        </p:spPr>
        <p:txBody>
          <a:bodyPr wrap="none" rtlCol="0">
            <a:spAutoFit/>
          </a:bodyPr>
          <a:lstStyle/>
          <a:p>
            <a:r>
              <a:rPr lang="en-GB" b="1" dirty="0"/>
              <a:t>Azure VM</a:t>
            </a:r>
            <a:endParaRPr lang="en-IN" b="1" dirty="0"/>
          </a:p>
        </p:txBody>
      </p:sp>
    </p:spTree>
    <p:extLst>
      <p:ext uri="{BB962C8B-B14F-4D97-AF65-F5344CB8AC3E}">
        <p14:creationId xmlns:p14="http://schemas.microsoft.com/office/powerpoint/2010/main" val="4775219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BD680-B219-7C16-EBF8-3D90C5D35F5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411147E-38A8-478A-2BAD-CF9107AB0568}"/>
              </a:ext>
            </a:extLst>
          </p:cNvPr>
          <p:cNvSpPr>
            <a:spLocks noGrp="1"/>
          </p:cNvSpPr>
          <p:nvPr>
            <p:ph idx="1"/>
          </p:nvPr>
        </p:nvSpPr>
        <p:spPr>
          <a:xfrm>
            <a:off x="838200" y="112294"/>
            <a:ext cx="10515600" cy="6681537"/>
          </a:xfrm>
        </p:spPr>
        <p:txBody>
          <a:bodyPr>
            <a:normAutofit lnSpcReduction="10000"/>
          </a:bodyPr>
          <a:lstStyle/>
          <a:p>
            <a:pPr marL="0" indent="0">
              <a:buNone/>
            </a:pPr>
            <a:r>
              <a:rPr lang="en-IN" b="1" dirty="0"/>
              <a:t>6. </a:t>
            </a:r>
            <a:r>
              <a:rPr lang="en-IN" b="1" dirty="0" err="1"/>
              <a:t>NVads</a:t>
            </a:r>
            <a:r>
              <a:rPr lang="en-IN" b="1" dirty="0"/>
              <a:t> A10 v5 (GPU Optimized)</a:t>
            </a:r>
          </a:p>
          <a:p>
            <a:r>
              <a:rPr lang="en-IN" dirty="0"/>
              <a:t>Now suppose the customer uploads a product photo.</a:t>
            </a:r>
          </a:p>
          <a:p>
            <a:r>
              <a:rPr lang="en-IN" dirty="0"/>
              <a:t>Or the company wants to generate AI product images.</a:t>
            </a:r>
          </a:p>
          <a:p>
            <a:r>
              <a:rPr lang="en-IN" dirty="0"/>
              <a:t>Or customers want to try furniture inside their room using augmented reality.</a:t>
            </a:r>
          </a:p>
          <a:p>
            <a:pPr marL="0" indent="0">
              <a:buNone/>
            </a:pPr>
            <a:r>
              <a:rPr lang="en-IN" dirty="0"/>
              <a:t>These workloads require GPU.</a:t>
            </a:r>
          </a:p>
          <a:p>
            <a:r>
              <a:rPr lang="en-IN" dirty="0"/>
              <a:t>Examples are</a:t>
            </a:r>
          </a:p>
          <a:p>
            <a:r>
              <a:rPr lang="en-IN" dirty="0"/>
              <a:t>AI inference </a:t>
            </a:r>
          </a:p>
          <a:p>
            <a:r>
              <a:rPr lang="en-IN" dirty="0"/>
              <a:t>Image generation </a:t>
            </a:r>
          </a:p>
          <a:p>
            <a:r>
              <a:rPr lang="en-IN" dirty="0"/>
              <a:t>Video rendering </a:t>
            </a:r>
          </a:p>
          <a:p>
            <a:r>
              <a:rPr lang="en-IN" dirty="0"/>
              <a:t>3D visualization </a:t>
            </a:r>
          </a:p>
          <a:p>
            <a:r>
              <a:rPr lang="en-IN" dirty="0"/>
              <a:t>Product image enhancement </a:t>
            </a:r>
          </a:p>
          <a:p>
            <a:pPr marL="0" indent="0">
              <a:buNone/>
            </a:pPr>
            <a:r>
              <a:rPr lang="en-IN" dirty="0"/>
              <a:t>CPU alone cannot process these efficiently.</a:t>
            </a:r>
          </a:p>
          <a:p>
            <a:pPr marL="0" indent="0">
              <a:buNone/>
            </a:pPr>
            <a:r>
              <a:rPr lang="en-IN" dirty="0"/>
              <a:t>GPU-optimized </a:t>
            </a:r>
            <a:r>
              <a:rPr lang="en-IN" b="1" dirty="0" err="1"/>
              <a:t>NVads</a:t>
            </a:r>
            <a:r>
              <a:rPr lang="en-IN" b="1" dirty="0"/>
              <a:t> A10 v5</a:t>
            </a:r>
            <a:r>
              <a:rPr lang="en-IN" dirty="0"/>
              <a:t> VMs handle these workloads.</a:t>
            </a:r>
          </a:p>
        </p:txBody>
      </p:sp>
      <p:sp>
        <p:nvSpPr>
          <p:cNvPr id="4" name="TextBox 3">
            <a:extLst>
              <a:ext uri="{FF2B5EF4-FFF2-40B4-BE49-F238E27FC236}">
                <a16:creationId xmlns:a16="http://schemas.microsoft.com/office/drawing/2014/main" id="{B63677FE-5652-677F-C004-7D86810A8111}"/>
              </a:ext>
            </a:extLst>
          </p:cNvPr>
          <p:cNvSpPr txBox="1"/>
          <p:nvPr/>
        </p:nvSpPr>
        <p:spPr>
          <a:xfrm>
            <a:off x="10098505" y="64169"/>
            <a:ext cx="1161280" cy="369332"/>
          </a:xfrm>
          <a:prstGeom prst="rect">
            <a:avLst/>
          </a:prstGeom>
          <a:noFill/>
        </p:spPr>
        <p:txBody>
          <a:bodyPr wrap="none" rtlCol="0">
            <a:spAutoFit/>
          </a:bodyPr>
          <a:lstStyle/>
          <a:p>
            <a:r>
              <a:rPr lang="en-GB" b="1" dirty="0"/>
              <a:t>Azure VM</a:t>
            </a:r>
            <a:endParaRPr lang="en-IN" b="1" dirty="0"/>
          </a:p>
        </p:txBody>
      </p:sp>
    </p:spTree>
    <p:extLst>
      <p:ext uri="{BB962C8B-B14F-4D97-AF65-F5344CB8AC3E}">
        <p14:creationId xmlns:p14="http://schemas.microsoft.com/office/powerpoint/2010/main" val="346343551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261AC0-3EF6-1503-D9C6-F62BCAAE743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24435BC-276E-FB6D-73FD-9E13CD205C25}"/>
              </a:ext>
            </a:extLst>
          </p:cNvPr>
          <p:cNvSpPr>
            <a:spLocks noGrp="1"/>
          </p:cNvSpPr>
          <p:nvPr>
            <p:ph idx="1"/>
          </p:nvPr>
        </p:nvSpPr>
        <p:spPr>
          <a:xfrm>
            <a:off x="838200" y="112294"/>
            <a:ext cx="10515600" cy="6681537"/>
          </a:xfrm>
        </p:spPr>
        <p:txBody>
          <a:bodyPr>
            <a:normAutofit lnSpcReduction="10000"/>
          </a:bodyPr>
          <a:lstStyle/>
          <a:p>
            <a:r>
              <a:rPr lang="en-IN" b="1" dirty="0"/>
              <a:t>7. M-Series (Memory Optimized - Very Large)</a:t>
            </a:r>
          </a:p>
          <a:p>
            <a:pPr marL="0" indent="0">
              <a:buNone/>
            </a:pPr>
            <a:r>
              <a:rPr lang="en-IN" dirty="0"/>
              <a:t>Now we reach the database layer.</a:t>
            </a:r>
          </a:p>
          <a:p>
            <a:pPr marL="0" indent="0">
              <a:buNone/>
            </a:pPr>
            <a:r>
              <a:rPr lang="en-IN" dirty="0"/>
              <a:t>This company stores</a:t>
            </a:r>
          </a:p>
          <a:p>
            <a:r>
              <a:rPr lang="en-IN" dirty="0"/>
              <a:t>millions of customers </a:t>
            </a:r>
          </a:p>
          <a:p>
            <a:r>
              <a:rPr lang="en-IN" dirty="0"/>
              <a:t>billions of orders </a:t>
            </a:r>
          </a:p>
          <a:p>
            <a:r>
              <a:rPr lang="en-IN" dirty="0"/>
              <a:t>inventory </a:t>
            </a:r>
          </a:p>
          <a:p>
            <a:r>
              <a:rPr lang="en-IN" dirty="0"/>
              <a:t>payment history </a:t>
            </a:r>
          </a:p>
          <a:p>
            <a:r>
              <a:rPr lang="en-IN" dirty="0"/>
              <a:t>reports </a:t>
            </a:r>
          </a:p>
          <a:p>
            <a:pPr marL="0" indent="0">
              <a:buNone/>
            </a:pPr>
            <a:r>
              <a:rPr lang="en-IN" dirty="0"/>
              <a:t>Large enterprise databases like SAP HANA or SQL Server Enterprise can keep huge amounts of data in memory.</a:t>
            </a:r>
          </a:p>
          <a:p>
            <a:pPr marL="0" indent="0">
              <a:buNone/>
            </a:pPr>
            <a:r>
              <a:rPr lang="en-IN" dirty="0"/>
              <a:t>Instead of reading from storage repeatedly, data stays in RAM for very fast queries.</a:t>
            </a:r>
          </a:p>
          <a:p>
            <a:pPr marL="0" indent="0">
              <a:buNone/>
            </a:pPr>
            <a:r>
              <a:rPr lang="en-IN" dirty="0"/>
              <a:t>That's why </a:t>
            </a:r>
            <a:r>
              <a:rPr lang="en-IN" b="1" dirty="0"/>
              <a:t>M-Series</a:t>
            </a:r>
            <a:r>
              <a:rPr lang="en-IN" dirty="0"/>
              <a:t> VMs are used.</a:t>
            </a:r>
          </a:p>
          <a:p>
            <a:pPr marL="0" indent="0">
              <a:buNone/>
            </a:pPr>
            <a:r>
              <a:rPr lang="en-IN" dirty="0"/>
              <a:t>These VMs provide enormous amounts of memory.</a:t>
            </a:r>
          </a:p>
        </p:txBody>
      </p:sp>
      <p:sp>
        <p:nvSpPr>
          <p:cNvPr id="4" name="TextBox 3">
            <a:extLst>
              <a:ext uri="{FF2B5EF4-FFF2-40B4-BE49-F238E27FC236}">
                <a16:creationId xmlns:a16="http://schemas.microsoft.com/office/drawing/2014/main" id="{14D8BF86-E36E-E37F-E752-7606A73B5E8D}"/>
              </a:ext>
            </a:extLst>
          </p:cNvPr>
          <p:cNvSpPr txBox="1"/>
          <p:nvPr/>
        </p:nvSpPr>
        <p:spPr>
          <a:xfrm>
            <a:off x="10098505" y="64169"/>
            <a:ext cx="1161280" cy="369332"/>
          </a:xfrm>
          <a:prstGeom prst="rect">
            <a:avLst/>
          </a:prstGeom>
          <a:noFill/>
        </p:spPr>
        <p:txBody>
          <a:bodyPr wrap="none" rtlCol="0">
            <a:spAutoFit/>
          </a:bodyPr>
          <a:lstStyle/>
          <a:p>
            <a:r>
              <a:rPr lang="en-GB" b="1" dirty="0"/>
              <a:t>Azure VM</a:t>
            </a:r>
            <a:endParaRPr lang="en-IN" b="1" dirty="0"/>
          </a:p>
        </p:txBody>
      </p:sp>
      <p:sp>
        <p:nvSpPr>
          <p:cNvPr id="5" name="TextBox 4">
            <a:extLst>
              <a:ext uri="{FF2B5EF4-FFF2-40B4-BE49-F238E27FC236}">
                <a16:creationId xmlns:a16="http://schemas.microsoft.com/office/drawing/2014/main" id="{19B944CE-2815-4534-ECF4-1FAB8E9CDF38}"/>
              </a:ext>
            </a:extLst>
          </p:cNvPr>
          <p:cNvSpPr txBox="1"/>
          <p:nvPr/>
        </p:nvSpPr>
        <p:spPr>
          <a:xfrm>
            <a:off x="6096000" y="708319"/>
            <a:ext cx="6096000" cy="3139321"/>
          </a:xfrm>
          <a:prstGeom prst="rect">
            <a:avLst/>
          </a:prstGeom>
          <a:noFill/>
        </p:spPr>
        <p:txBody>
          <a:bodyPr wrap="square">
            <a:spAutoFit/>
          </a:bodyPr>
          <a:lstStyle/>
          <a:p>
            <a:pPr>
              <a:buNone/>
            </a:pPr>
            <a:r>
              <a:rPr lang="en-IN" b="1" dirty="0"/>
              <a:t>Example of M-Series</a:t>
            </a:r>
          </a:p>
          <a:p>
            <a:pPr>
              <a:buNone/>
            </a:pPr>
            <a:r>
              <a:rPr lang="en-IN" dirty="0"/>
              <a:t>Now imagine a multinational bank.</a:t>
            </a:r>
          </a:p>
          <a:p>
            <a:pPr>
              <a:buNone/>
            </a:pPr>
            <a:r>
              <a:rPr lang="en-IN" dirty="0"/>
              <a:t>It has</a:t>
            </a:r>
          </a:p>
          <a:p>
            <a:pPr>
              <a:buFont typeface="Arial" panose="020B0604020202020204" pitchFamily="34" charset="0"/>
              <a:buChar char="•"/>
            </a:pPr>
            <a:r>
              <a:rPr lang="en-IN" dirty="0"/>
              <a:t>50 million customers </a:t>
            </a:r>
          </a:p>
          <a:p>
            <a:pPr>
              <a:buFont typeface="Arial" panose="020B0604020202020204" pitchFamily="34" charset="0"/>
              <a:buChar char="•"/>
            </a:pPr>
            <a:r>
              <a:rPr lang="en-IN" dirty="0"/>
              <a:t>20 years of transaction history </a:t>
            </a:r>
          </a:p>
          <a:p>
            <a:pPr>
              <a:buFont typeface="Arial" panose="020B0604020202020204" pitchFamily="34" charset="0"/>
              <a:buChar char="•"/>
            </a:pPr>
            <a:r>
              <a:rPr lang="en-IN" dirty="0"/>
              <a:t>Thousands of employees running reports </a:t>
            </a:r>
          </a:p>
          <a:p>
            <a:pPr>
              <a:buNone/>
            </a:pPr>
            <a:r>
              <a:rPr lang="en-IN" dirty="0"/>
              <a:t>The entire SAP HANA database may require </a:t>
            </a:r>
            <a:r>
              <a:rPr lang="en-IN" b="1" dirty="0"/>
              <a:t>4 TB</a:t>
            </a:r>
            <a:r>
              <a:rPr lang="en-IN" dirty="0"/>
              <a:t>, </a:t>
            </a:r>
            <a:r>
              <a:rPr lang="en-IN" b="1" dirty="0"/>
              <a:t>8 TB</a:t>
            </a:r>
            <a:r>
              <a:rPr lang="en-IN" dirty="0"/>
              <a:t>, or even </a:t>
            </a:r>
            <a:r>
              <a:rPr lang="en-IN" b="1" dirty="0"/>
              <a:t>12 TB</a:t>
            </a:r>
            <a:r>
              <a:rPr lang="en-IN" dirty="0"/>
              <a:t> of RAM.</a:t>
            </a:r>
          </a:p>
          <a:p>
            <a:pPr>
              <a:buNone/>
            </a:pPr>
            <a:r>
              <a:rPr lang="en-IN" dirty="0"/>
              <a:t>An </a:t>
            </a:r>
            <a:r>
              <a:rPr lang="en-IN" b="1" dirty="0"/>
              <a:t>E-Series</a:t>
            </a:r>
            <a:r>
              <a:rPr lang="en-IN" dirty="0"/>
              <a:t> cannot provide that much memory.</a:t>
            </a:r>
          </a:p>
          <a:p>
            <a:pPr>
              <a:buNone/>
            </a:pPr>
            <a:r>
              <a:rPr lang="en-IN" dirty="0"/>
              <a:t>That's why Azure provides </a:t>
            </a:r>
            <a:r>
              <a:rPr lang="en-IN" b="1" dirty="0"/>
              <a:t>M-Series</a:t>
            </a:r>
            <a:r>
              <a:rPr lang="en-IN" dirty="0"/>
              <a:t>, which is built specifically for huge enterprise databases.</a:t>
            </a:r>
          </a:p>
        </p:txBody>
      </p:sp>
    </p:spTree>
    <p:extLst>
      <p:ext uri="{BB962C8B-B14F-4D97-AF65-F5344CB8AC3E}">
        <p14:creationId xmlns:p14="http://schemas.microsoft.com/office/powerpoint/2010/main" val="417304216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983AD5-64B7-3366-2C1D-D4D8E48629D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938B54-9B20-4607-46DF-10EBF5FABB32}"/>
              </a:ext>
            </a:extLst>
          </p:cNvPr>
          <p:cNvSpPr>
            <a:spLocks noGrp="1"/>
          </p:cNvSpPr>
          <p:nvPr>
            <p:ph idx="1"/>
          </p:nvPr>
        </p:nvSpPr>
        <p:spPr>
          <a:xfrm>
            <a:off x="838200" y="112294"/>
            <a:ext cx="10515600" cy="6681537"/>
          </a:xfrm>
        </p:spPr>
        <p:txBody>
          <a:bodyPr>
            <a:normAutofit lnSpcReduction="10000"/>
          </a:bodyPr>
          <a:lstStyle/>
          <a:p>
            <a:pPr marL="0" indent="0">
              <a:buNone/>
            </a:pPr>
            <a:r>
              <a:rPr lang="en-IN" b="1" dirty="0"/>
              <a:t>8. L-Series (Storage Optimized)</a:t>
            </a:r>
          </a:p>
          <a:p>
            <a:pPr marL="0" indent="0">
              <a:buNone/>
            </a:pPr>
            <a:r>
              <a:rPr lang="en-IN" dirty="0"/>
              <a:t>Finally, we have storage-intensive workloads.</a:t>
            </a:r>
          </a:p>
          <a:p>
            <a:pPr marL="0" indent="0">
              <a:buNone/>
            </a:pPr>
            <a:r>
              <a:rPr lang="en-IN" dirty="0"/>
              <a:t>Examples are</a:t>
            </a:r>
          </a:p>
          <a:p>
            <a:r>
              <a:rPr lang="en-IN" dirty="0"/>
              <a:t>File servers </a:t>
            </a:r>
          </a:p>
          <a:p>
            <a:r>
              <a:rPr lang="en-IN" dirty="0"/>
              <a:t>Log processing </a:t>
            </a:r>
          </a:p>
          <a:p>
            <a:r>
              <a:rPr lang="en-IN" dirty="0"/>
              <a:t>Backup repositories </a:t>
            </a:r>
          </a:p>
          <a:p>
            <a:r>
              <a:rPr lang="en-IN" dirty="0"/>
              <a:t>Video storage </a:t>
            </a:r>
          </a:p>
          <a:p>
            <a:r>
              <a:rPr lang="en-IN" dirty="0"/>
              <a:t>Search indexes </a:t>
            </a:r>
          </a:p>
          <a:p>
            <a:r>
              <a:rPr lang="en-IN" dirty="0"/>
              <a:t>Big log analytics </a:t>
            </a:r>
          </a:p>
          <a:p>
            <a:pPr marL="0" indent="0">
              <a:buNone/>
            </a:pPr>
            <a:r>
              <a:rPr lang="en-IN" dirty="0"/>
              <a:t>These workloads continuously read and write massive amounts of data.</a:t>
            </a:r>
          </a:p>
          <a:p>
            <a:r>
              <a:rPr lang="en-IN" dirty="0"/>
              <a:t>They don't mainly need CPU or memory.</a:t>
            </a:r>
          </a:p>
          <a:p>
            <a:r>
              <a:rPr lang="en-IN" dirty="0"/>
              <a:t>They need extremely fast local SSD storage.</a:t>
            </a:r>
          </a:p>
          <a:p>
            <a:r>
              <a:rPr lang="en-IN" dirty="0"/>
              <a:t>That's why </a:t>
            </a:r>
            <a:r>
              <a:rPr lang="en-IN" b="1" dirty="0"/>
              <a:t>L-Series</a:t>
            </a:r>
            <a:r>
              <a:rPr lang="en-IN" dirty="0"/>
              <a:t> VMs are used.</a:t>
            </a:r>
          </a:p>
        </p:txBody>
      </p:sp>
      <p:sp>
        <p:nvSpPr>
          <p:cNvPr id="4" name="TextBox 3">
            <a:extLst>
              <a:ext uri="{FF2B5EF4-FFF2-40B4-BE49-F238E27FC236}">
                <a16:creationId xmlns:a16="http://schemas.microsoft.com/office/drawing/2014/main" id="{043EAC73-EFAD-BB56-6C73-FAF3C78E8B8D}"/>
              </a:ext>
            </a:extLst>
          </p:cNvPr>
          <p:cNvSpPr txBox="1"/>
          <p:nvPr/>
        </p:nvSpPr>
        <p:spPr>
          <a:xfrm>
            <a:off x="10098505" y="64169"/>
            <a:ext cx="1161280" cy="369332"/>
          </a:xfrm>
          <a:prstGeom prst="rect">
            <a:avLst/>
          </a:prstGeom>
          <a:noFill/>
        </p:spPr>
        <p:txBody>
          <a:bodyPr wrap="none" rtlCol="0">
            <a:spAutoFit/>
          </a:bodyPr>
          <a:lstStyle/>
          <a:p>
            <a:r>
              <a:rPr lang="en-GB" b="1" dirty="0"/>
              <a:t>Azure VM</a:t>
            </a:r>
            <a:endParaRPr lang="en-IN" b="1" dirty="0"/>
          </a:p>
        </p:txBody>
      </p:sp>
    </p:spTree>
    <p:extLst>
      <p:ext uri="{BB962C8B-B14F-4D97-AF65-F5344CB8AC3E}">
        <p14:creationId xmlns:p14="http://schemas.microsoft.com/office/powerpoint/2010/main" val="168784589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33C6CD-EAC3-DEF7-C44B-C87C8EB8E07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2823218-7FC8-E8AC-A729-0ADA2665CC33}"/>
              </a:ext>
            </a:extLst>
          </p:cNvPr>
          <p:cNvSpPr>
            <a:spLocks noGrp="1"/>
          </p:cNvSpPr>
          <p:nvPr>
            <p:ph idx="1"/>
          </p:nvPr>
        </p:nvSpPr>
        <p:spPr>
          <a:xfrm>
            <a:off x="838200" y="112294"/>
            <a:ext cx="10515600" cy="6681537"/>
          </a:xfrm>
        </p:spPr>
        <p:txBody>
          <a:bodyPr>
            <a:normAutofit lnSpcReduction="10000"/>
          </a:bodyPr>
          <a:lstStyle/>
          <a:p>
            <a:pPr marL="0" indent="0">
              <a:buNone/>
            </a:pPr>
            <a:r>
              <a:rPr lang="en-IN" b="1" dirty="0"/>
              <a:t>How everything works together</a:t>
            </a:r>
          </a:p>
          <a:p>
            <a:pPr marL="0" indent="0">
              <a:buNone/>
            </a:pPr>
            <a:r>
              <a:rPr lang="en-IN" dirty="0"/>
              <a:t>So the complete flow is very simple.</a:t>
            </a:r>
          </a:p>
          <a:p>
            <a:r>
              <a:rPr lang="en-IN" dirty="0"/>
              <a:t>Customer opens the website.</a:t>
            </a:r>
          </a:p>
          <a:p>
            <a:r>
              <a:rPr lang="en-IN" dirty="0"/>
              <a:t>The web server on </a:t>
            </a:r>
            <a:r>
              <a:rPr lang="en-IN" b="1" dirty="0"/>
              <a:t>B-Series</a:t>
            </a:r>
            <a:r>
              <a:rPr lang="en-IN" dirty="0"/>
              <a:t> displays the pages.</a:t>
            </a:r>
          </a:p>
          <a:p>
            <a:r>
              <a:rPr lang="en-IN" dirty="0"/>
              <a:t>The application server on </a:t>
            </a:r>
            <a:r>
              <a:rPr lang="en-IN" b="1" dirty="0"/>
              <a:t>D-Series</a:t>
            </a:r>
            <a:r>
              <a:rPr lang="en-IN" dirty="0"/>
              <a:t> processes business logic.</a:t>
            </a:r>
          </a:p>
          <a:p>
            <a:r>
              <a:rPr lang="en-IN" dirty="0"/>
              <a:t>The </a:t>
            </a:r>
            <a:r>
              <a:rPr lang="en-IN" b="1" dirty="0"/>
              <a:t>E-Series</a:t>
            </a:r>
            <a:r>
              <a:rPr lang="en-IN" dirty="0"/>
              <a:t> cache provides frequently used data very quickly.</a:t>
            </a:r>
          </a:p>
          <a:p>
            <a:r>
              <a:rPr lang="en-IN" dirty="0"/>
              <a:t>Background calculations are performed by </a:t>
            </a:r>
            <a:r>
              <a:rPr lang="en-IN" b="1" dirty="0"/>
              <a:t>Fsv2 Compute Optimized</a:t>
            </a:r>
            <a:r>
              <a:rPr lang="en-IN" dirty="0"/>
              <a:t> VMs.</a:t>
            </a:r>
          </a:p>
          <a:p>
            <a:r>
              <a:rPr lang="en-IN" dirty="0"/>
              <a:t>AI image processing and rendering are handled by </a:t>
            </a:r>
            <a:r>
              <a:rPr lang="en-IN" b="1" dirty="0" err="1"/>
              <a:t>NVads</a:t>
            </a:r>
            <a:r>
              <a:rPr lang="en-IN" b="1" dirty="0"/>
              <a:t> A10 v5 GPU</a:t>
            </a:r>
            <a:r>
              <a:rPr lang="en-IN" dirty="0"/>
              <a:t> VMs.</a:t>
            </a:r>
          </a:p>
          <a:p>
            <a:r>
              <a:rPr lang="en-IN" dirty="0"/>
              <a:t>Large enterprise databases run on </a:t>
            </a:r>
            <a:r>
              <a:rPr lang="en-IN" b="1" dirty="0"/>
              <a:t>M-Series</a:t>
            </a:r>
            <a:r>
              <a:rPr lang="en-IN" dirty="0"/>
              <a:t>.</a:t>
            </a:r>
          </a:p>
          <a:p>
            <a:r>
              <a:rPr lang="en-IN" dirty="0"/>
              <a:t>High-speed file storage and log processing run on </a:t>
            </a:r>
            <a:r>
              <a:rPr lang="en-IN" b="1" dirty="0"/>
              <a:t>L-Series</a:t>
            </a:r>
            <a:r>
              <a:rPr lang="en-IN" dirty="0"/>
              <a:t>.</a:t>
            </a:r>
          </a:p>
          <a:p>
            <a:r>
              <a:rPr lang="en-IN" dirty="0"/>
              <a:t>Finally, reports are generated in Power BI, monitoring is done through Azure Monitor, and security is handled by Microsoft Defender for Cloud.</a:t>
            </a:r>
          </a:p>
        </p:txBody>
      </p:sp>
      <p:sp>
        <p:nvSpPr>
          <p:cNvPr id="4" name="TextBox 3">
            <a:extLst>
              <a:ext uri="{FF2B5EF4-FFF2-40B4-BE49-F238E27FC236}">
                <a16:creationId xmlns:a16="http://schemas.microsoft.com/office/drawing/2014/main" id="{155A2CE8-95A7-3BEC-C364-C0545451B21D}"/>
              </a:ext>
            </a:extLst>
          </p:cNvPr>
          <p:cNvSpPr txBox="1"/>
          <p:nvPr/>
        </p:nvSpPr>
        <p:spPr>
          <a:xfrm>
            <a:off x="10098505" y="64169"/>
            <a:ext cx="1161280" cy="369332"/>
          </a:xfrm>
          <a:prstGeom prst="rect">
            <a:avLst/>
          </a:prstGeom>
          <a:noFill/>
        </p:spPr>
        <p:txBody>
          <a:bodyPr wrap="none" rtlCol="0">
            <a:spAutoFit/>
          </a:bodyPr>
          <a:lstStyle/>
          <a:p>
            <a:r>
              <a:rPr lang="en-GB" b="1" dirty="0"/>
              <a:t>Azure VM</a:t>
            </a:r>
            <a:endParaRPr lang="en-IN" b="1" dirty="0"/>
          </a:p>
        </p:txBody>
      </p:sp>
    </p:spTree>
    <p:extLst>
      <p:ext uri="{BB962C8B-B14F-4D97-AF65-F5344CB8AC3E}">
        <p14:creationId xmlns:p14="http://schemas.microsoft.com/office/powerpoint/2010/main" val="166656883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7A2FD2-362A-EF7D-EB9C-BC26E1C665D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7C62ED4-D497-F3A1-ABB0-507C4FCB2152}"/>
              </a:ext>
            </a:extLst>
          </p:cNvPr>
          <p:cNvSpPr>
            <a:spLocks noGrp="1"/>
          </p:cNvSpPr>
          <p:nvPr>
            <p:ph idx="1"/>
          </p:nvPr>
        </p:nvSpPr>
        <p:spPr>
          <a:xfrm>
            <a:off x="838200" y="112294"/>
            <a:ext cx="10515600" cy="6681537"/>
          </a:xfrm>
        </p:spPr>
        <p:txBody>
          <a:bodyPr>
            <a:normAutofit/>
          </a:bodyPr>
          <a:lstStyle/>
          <a:p>
            <a:pPr marL="0" indent="0">
              <a:buNone/>
            </a:pPr>
            <a:r>
              <a:rPr lang="en-IN" b="1" dirty="0"/>
              <a:t>One-line summary</a:t>
            </a:r>
          </a:p>
          <a:p>
            <a:r>
              <a:rPr lang="en-IN" b="1" dirty="0"/>
              <a:t>B-Series</a:t>
            </a:r>
            <a:r>
              <a:rPr lang="en-IN" dirty="0"/>
              <a:t> → Small websites with occasional traffic spikes. </a:t>
            </a:r>
          </a:p>
          <a:p>
            <a:r>
              <a:rPr lang="en-IN" b="1" dirty="0"/>
              <a:t>D-Series</a:t>
            </a:r>
            <a:r>
              <a:rPr lang="en-IN" dirty="0"/>
              <a:t> → Everyday business applications. </a:t>
            </a:r>
          </a:p>
          <a:p>
            <a:r>
              <a:rPr lang="en-IN" b="1" dirty="0"/>
              <a:t>E-Series</a:t>
            </a:r>
            <a:r>
              <a:rPr lang="en-IN" dirty="0"/>
              <a:t> → Applications that need lots of memory. </a:t>
            </a:r>
          </a:p>
          <a:p>
            <a:r>
              <a:rPr lang="en-IN" b="1" dirty="0"/>
              <a:t>Fsv2</a:t>
            </a:r>
            <a:r>
              <a:rPr lang="en-IN" dirty="0"/>
              <a:t> → CPU-intensive calculations and batch processing. </a:t>
            </a:r>
          </a:p>
          <a:p>
            <a:r>
              <a:rPr lang="en-IN" b="1" dirty="0" err="1"/>
              <a:t>NVads</a:t>
            </a:r>
            <a:r>
              <a:rPr lang="en-IN" b="1" dirty="0"/>
              <a:t> A10 v5</a:t>
            </a:r>
            <a:r>
              <a:rPr lang="en-IN" dirty="0"/>
              <a:t> → AI, graphics, rendering and video workloads. </a:t>
            </a:r>
          </a:p>
          <a:p>
            <a:r>
              <a:rPr lang="en-IN" b="1" dirty="0"/>
              <a:t>M-Series</a:t>
            </a:r>
            <a:r>
              <a:rPr lang="en-IN" dirty="0"/>
              <a:t> → Very large enterprise databases. </a:t>
            </a:r>
          </a:p>
          <a:p>
            <a:r>
              <a:rPr lang="en-IN" b="1" dirty="0"/>
              <a:t>L-Series</a:t>
            </a:r>
            <a:r>
              <a:rPr lang="en-IN" dirty="0"/>
              <a:t> → High-speed storage and file processing. </a:t>
            </a:r>
          </a:p>
          <a:p>
            <a:r>
              <a:rPr lang="en-IN" b="1" dirty="0"/>
              <a:t>The key idea is simple:</a:t>
            </a:r>
            <a:r>
              <a:rPr lang="en-IN" dirty="0"/>
              <a:t> Azure doesn't expect one VM family to do every job. It provides specialized VM families so each part of the application runs on the infrastructure best suited to its workload, delivering better performance and lower cost.</a:t>
            </a:r>
          </a:p>
        </p:txBody>
      </p:sp>
      <p:sp>
        <p:nvSpPr>
          <p:cNvPr id="4" name="TextBox 3">
            <a:extLst>
              <a:ext uri="{FF2B5EF4-FFF2-40B4-BE49-F238E27FC236}">
                <a16:creationId xmlns:a16="http://schemas.microsoft.com/office/drawing/2014/main" id="{461D306D-B690-AC1A-2E59-31104470CB29}"/>
              </a:ext>
            </a:extLst>
          </p:cNvPr>
          <p:cNvSpPr txBox="1"/>
          <p:nvPr/>
        </p:nvSpPr>
        <p:spPr>
          <a:xfrm>
            <a:off x="10098505" y="64169"/>
            <a:ext cx="1161280" cy="369332"/>
          </a:xfrm>
          <a:prstGeom prst="rect">
            <a:avLst/>
          </a:prstGeom>
          <a:noFill/>
        </p:spPr>
        <p:txBody>
          <a:bodyPr wrap="none" rtlCol="0">
            <a:spAutoFit/>
          </a:bodyPr>
          <a:lstStyle/>
          <a:p>
            <a:r>
              <a:rPr lang="en-GB" b="1" dirty="0"/>
              <a:t>Azure VM</a:t>
            </a:r>
            <a:endParaRPr lang="en-IN" b="1" dirty="0"/>
          </a:p>
        </p:txBody>
      </p:sp>
    </p:spTree>
    <p:extLst>
      <p:ext uri="{BB962C8B-B14F-4D97-AF65-F5344CB8AC3E}">
        <p14:creationId xmlns:p14="http://schemas.microsoft.com/office/powerpoint/2010/main" val="82118055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C6CF53-CE4C-545D-DC2A-08FDE938781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6858E24-F81C-C67F-2295-13B26E537097}"/>
              </a:ext>
            </a:extLst>
          </p:cNvPr>
          <p:cNvSpPr>
            <a:spLocks noGrp="1"/>
          </p:cNvSpPr>
          <p:nvPr>
            <p:ph idx="1"/>
          </p:nvPr>
        </p:nvSpPr>
        <p:spPr>
          <a:xfrm>
            <a:off x="838200" y="112294"/>
            <a:ext cx="10515600" cy="6681537"/>
          </a:xfrm>
        </p:spPr>
        <p:txBody>
          <a:bodyPr>
            <a:normAutofit fontScale="92500" lnSpcReduction="20000"/>
          </a:bodyPr>
          <a:lstStyle/>
          <a:p>
            <a:pPr marL="0" indent="0">
              <a:buNone/>
            </a:pPr>
            <a:r>
              <a:rPr lang="en-IN" b="1" dirty="0"/>
              <a:t>What is HPC?</a:t>
            </a:r>
          </a:p>
          <a:p>
            <a:r>
              <a:rPr lang="en-IN" dirty="0"/>
              <a:t>HPC stands for </a:t>
            </a:r>
            <a:r>
              <a:rPr lang="en-IN" b="1" dirty="0"/>
              <a:t>High Performance Computing</a:t>
            </a:r>
            <a:r>
              <a:rPr lang="en-IN" dirty="0"/>
              <a:t>.</a:t>
            </a:r>
          </a:p>
          <a:p>
            <a:r>
              <a:rPr lang="en-IN" dirty="0"/>
              <a:t>Normally, one computer solves one problem.</a:t>
            </a:r>
          </a:p>
          <a:p>
            <a:r>
              <a:rPr lang="en-IN" dirty="0"/>
              <a:t>In HPC, </a:t>
            </a:r>
            <a:r>
              <a:rPr lang="en-IN" b="1" dirty="0"/>
              <a:t>hundreds or even thousands of virtual machines work together to solve one very large problem.</a:t>
            </a:r>
            <a:endParaRPr lang="en-IN" dirty="0"/>
          </a:p>
          <a:p>
            <a:pPr marL="0" indent="0">
              <a:buNone/>
            </a:pPr>
            <a:r>
              <a:rPr lang="en-IN" dirty="0"/>
              <a:t>Instead of one VM taking 10 days, 1,000 VMs can finish the same job in a few hours.</a:t>
            </a:r>
          </a:p>
          <a:p>
            <a:pPr marL="0" indent="0">
              <a:buNone/>
            </a:pPr>
            <a:r>
              <a:rPr lang="en-IN" b="1" dirty="0"/>
              <a:t>Real-world example</a:t>
            </a:r>
          </a:p>
          <a:p>
            <a:r>
              <a:rPr lang="en-IN" dirty="0"/>
              <a:t>Imagine a pharmaceutical company.</a:t>
            </a:r>
          </a:p>
          <a:p>
            <a:r>
              <a:rPr lang="en-IN" dirty="0"/>
              <a:t>Scientists are trying to discover a new medicine.</a:t>
            </a:r>
          </a:p>
          <a:p>
            <a:r>
              <a:rPr lang="en-IN" dirty="0"/>
              <a:t>To find the correct molecule, they need to test </a:t>
            </a:r>
            <a:r>
              <a:rPr lang="en-IN" b="1" dirty="0"/>
              <a:t>billions of chemical combinations</a:t>
            </a:r>
            <a:r>
              <a:rPr lang="en-IN" dirty="0"/>
              <a:t>.</a:t>
            </a:r>
          </a:p>
          <a:p>
            <a:r>
              <a:rPr lang="en-IN" dirty="0"/>
              <a:t>One VM would take months.</a:t>
            </a:r>
          </a:p>
          <a:p>
            <a:r>
              <a:rPr lang="en-IN" dirty="0"/>
              <a:t>So Azure creates thousands of HPC virtual machines.</a:t>
            </a:r>
          </a:p>
          <a:p>
            <a:r>
              <a:rPr lang="en-IN" dirty="0"/>
              <a:t>Each VM tests a small group of molecules.</a:t>
            </a:r>
          </a:p>
          <a:p>
            <a:r>
              <a:rPr lang="en-IN" dirty="0"/>
              <a:t>All the results are combined together.</a:t>
            </a:r>
          </a:p>
          <a:p>
            <a:r>
              <a:rPr lang="en-IN" dirty="0"/>
              <a:t>This dramatically reduces the research time.</a:t>
            </a:r>
          </a:p>
          <a:p>
            <a:pPr marL="0" indent="0">
              <a:buNone/>
            </a:pPr>
            <a:endParaRPr lang="en-IN" dirty="0"/>
          </a:p>
        </p:txBody>
      </p:sp>
      <p:sp>
        <p:nvSpPr>
          <p:cNvPr id="4" name="TextBox 3">
            <a:extLst>
              <a:ext uri="{FF2B5EF4-FFF2-40B4-BE49-F238E27FC236}">
                <a16:creationId xmlns:a16="http://schemas.microsoft.com/office/drawing/2014/main" id="{9E9D752F-7B33-A00C-DFF4-BD6AEE683E41}"/>
              </a:ext>
            </a:extLst>
          </p:cNvPr>
          <p:cNvSpPr txBox="1"/>
          <p:nvPr/>
        </p:nvSpPr>
        <p:spPr>
          <a:xfrm>
            <a:off x="10098505" y="64169"/>
            <a:ext cx="1161280" cy="369332"/>
          </a:xfrm>
          <a:prstGeom prst="rect">
            <a:avLst/>
          </a:prstGeom>
          <a:noFill/>
        </p:spPr>
        <p:txBody>
          <a:bodyPr wrap="none" rtlCol="0">
            <a:spAutoFit/>
          </a:bodyPr>
          <a:lstStyle/>
          <a:p>
            <a:r>
              <a:rPr lang="en-GB" b="1" dirty="0"/>
              <a:t>Azure VM</a:t>
            </a:r>
            <a:endParaRPr lang="en-IN" b="1" dirty="0"/>
          </a:p>
        </p:txBody>
      </p:sp>
    </p:spTree>
    <p:extLst>
      <p:ext uri="{BB962C8B-B14F-4D97-AF65-F5344CB8AC3E}">
        <p14:creationId xmlns:p14="http://schemas.microsoft.com/office/powerpoint/2010/main" val="348868710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1607F3-DCAF-6FCA-AA84-F720222EA04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82815C0-311B-C542-E762-1DF8C10F5345}"/>
              </a:ext>
            </a:extLst>
          </p:cNvPr>
          <p:cNvSpPr>
            <a:spLocks noGrp="1"/>
          </p:cNvSpPr>
          <p:nvPr>
            <p:ph idx="1"/>
          </p:nvPr>
        </p:nvSpPr>
        <p:spPr>
          <a:xfrm>
            <a:off x="838200" y="112294"/>
            <a:ext cx="10515600" cy="6681537"/>
          </a:xfrm>
        </p:spPr>
        <p:txBody>
          <a:bodyPr>
            <a:normAutofit/>
          </a:bodyPr>
          <a:lstStyle/>
          <a:p>
            <a:pPr marL="0" indent="0">
              <a:buNone/>
            </a:pPr>
            <a:r>
              <a:rPr lang="en-IN" b="1" dirty="0"/>
              <a:t>Other real-world HPC workloads</a:t>
            </a:r>
          </a:p>
          <a:p>
            <a:r>
              <a:rPr lang="en-IN" dirty="0"/>
              <a:t>Weather forecasting </a:t>
            </a:r>
          </a:p>
          <a:p>
            <a:r>
              <a:rPr lang="en-IN" dirty="0"/>
              <a:t>Earthquake prediction </a:t>
            </a:r>
          </a:p>
          <a:p>
            <a:r>
              <a:rPr lang="en-IN" dirty="0"/>
              <a:t>Aircraft design (Boeing, Airbus) </a:t>
            </a:r>
          </a:p>
          <a:p>
            <a:r>
              <a:rPr lang="en-IN" dirty="0"/>
              <a:t>Car crash simulation (BMW, Tesla, Mercedes) </a:t>
            </a:r>
          </a:p>
          <a:p>
            <a:r>
              <a:rPr lang="en-IN" dirty="0"/>
              <a:t>Oil and gas exploration </a:t>
            </a:r>
          </a:p>
          <a:p>
            <a:r>
              <a:rPr lang="en-IN" dirty="0"/>
              <a:t>DNA and genome sequencing </a:t>
            </a:r>
          </a:p>
          <a:p>
            <a:r>
              <a:rPr lang="en-IN" dirty="0"/>
              <a:t>Space research (NASA) </a:t>
            </a:r>
          </a:p>
          <a:p>
            <a:r>
              <a:rPr lang="en-IN" dirty="0"/>
              <a:t>Financial risk modelling </a:t>
            </a:r>
          </a:p>
          <a:p>
            <a:r>
              <a:rPr lang="en-IN" dirty="0"/>
              <a:t>Scientific research at universities </a:t>
            </a:r>
          </a:p>
        </p:txBody>
      </p:sp>
      <p:sp>
        <p:nvSpPr>
          <p:cNvPr id="4" name="TextBox 3">
            <a:extLst>
              <a:ext uri="{FF2B5EF4-FFF2-40B4-BE49-F238E27FC236}">
                <a16:creationId xmlns:a16="http://schemas.microsoft.com/office/drawing/2014/main" id="{5161EDFE-C68B-66CF-329A-A5B9FAE8E50A}"/>
              </a:ext>
            </a:extLst>
          </p:cNvPr>
          <p:cNvSpPr txBox="1"/>
          <p:nvPr/>
        </p:nvSpPr>
        <p:spPr>
          <a:xfrm>
            <a:off x="10098505" y="64169"/>
            <a:ext cx="1161280" cy="369332"/>
          </a:xfrm>
          <a:prstGeom prst="rect">
            <a:avLst/>
          </a:prstGeom>
          <a:noFill/>
        </p:spPr>
        <p:txBody>
          <a:bodyPr wrap="none" rtlCol="0">
            <a:spAutoFit/>
          </a:bodyPr>
          <a:lstStyle/>
          <a:p>
            <a:r>
              <a:rPr lang="en-GB" b="1" dirty="0"/>
              <a:t>Azure VM</a:t>
            </a:r>
            <a:endParaRPr lang="en-IN" b="1" dirty="0"/>
          </a:p>
        </p:txBody>
      </p:sp>
      <p:sp>
        <p:nvSpPr>
          <p:cNvPr id="5" name="TextBox 4">
            <a:extLst>
              <a:ext uri="{FF2B5EF4-FFF2-40B4-BE49-F238E27FC236}">
                <a16:creationId xmlns:a16="http://schemas.microsoft.com/office/drawing/2014/main" id="{C7A2124A-8CF9-CF44-2566-4EADB0CB8B51}"/>
              </a:ext>
            </a:extLst>
          </p:cNvPr>
          <p:cNvSpPr txBox="1"/>
          <p:nvPr/>
        </p:nvSpPr>
        <p:spPr>
          <a:xfrm>
            <a:off x="7756358" y="1730458"/>
            <a:ext cx="6096000" cy="4247317"/>
          </a:xfrm>
          <a:prstGeom prst="rect">
            <a:avLst/>
          </a:prstGeom>
          <a:noFill/>
        </p:spPr>
        <p:txBody>
          <a:bodyPr wrap="square">
            <a:spAutoFit/>
          </a:bodyPr>
          <a:lstStyle/>
          <a:p>
            <a:r>
              <a:rPr lang="en-IN" dirty="0"/>
              <a:t>Researcher submits one large job</a:t>
            </a:r>
          </a:p>
          <a:p>
            <a:r>
              <a:rPr lang="en-IN" dirty="0"/>
              <a:t>                │</a:t>
            </a:r>
          </a:p>
          <a:p>
            <a:r>
              <a:rPr lang="en-IN" dirty="0"/>
              <a:t>                ▼</a:t>
            </a:r>
          </a:p>
          <a:p>
            <a:r>
              <a:rPr lang="en-IN" dirty="0"/>
              <a:t>        Azure Batch / HPC Scheduler</a:t>
            </a:r>
          </a:p>
          <a:p>
            <a:r>
              <a:rPr lang="en-IN" dirty="0"/>
              <a:t>                │</a:t>
            </a:r>
          </a:p>
          <a:p>
            <a:r>
              <a:rPr lang="en-IN" dirty="0"/>
              <a:t>     ┌──────────┼──────────┐</a:t>
            </a:r>
          </a:p>
          <a:p>
            <a:r>
              <a:rPr lang="en-IN" dirty="0"/>
              <a:t>     ▼          ▼          ▼</a:t>
            </a:r>
          </a:p>
          <a:p>
            <a:r>
              <a:rPr lang="en-IN" dirty="0"/>
              <a:t> HPC VM 1    HPC VM 2   HPC VM 3</a:t>
            </a:r>
          </a:p>
          <a:p>
            <a:r>
              <a:rPr lang="en-IN" dirty="0"/>
              <a:t>     ▼          ▼          ▼</a:t>
            </a:r>
          </a:p>
          <a:p>
            <a:r>
              <a:rPr lang="en-IN" dirty="0"/>
              <a:t> Thousands of calculations</a:t>
            </a:r>
          </a:p>
          <a:p>
            <a:r>
              <a:rPr lang="en-IN" dirty="0"/>
              <a:t>     ▼          ▼          ▼</a:t>
            </a:r>
          </a:p>
          <a:p>
            <a:r>
              <a:rPr lang="en-IN" dirty="0"/>
              <a:t>      Results combined together</a:t>
            </a:r>
          </a:p>
          <a:p>
            <a:r>
              <a:rPr lang="en-IN" dirty="0"/>
              <a:t>                │</a:t>
            </a:r>
          </a:p>
          <a:p>
            <a:r>
              <a:rPr lang="en-IN" dirty="0"/>
              <a:t>                ▼</a:t>
            </a:r>
          </a:p>
          <a:p>
            <a:r>
              <a:rPr lang="en-IN" dirty="0"/>
              <a:t>          Final Answer</a:t>
            </a:r>
          </a:p>
        </p:txBody>
      </p:sp>
    </p:spTree>
    <p:extLst>
      <p:ext uri="{BB962C8B-B14F-4D97-AF65-F5344CB8AC3E}">
        <p14:creationId xmlns:p14="http://schemas.microsoft.com/office/powerpoint/2010/main" val="383484375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F48E2-3C5C-D38D-B768-9CE3220358E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D3114FF-8239-9000-FF30-8F635A1FBCC4}"/>
              </a:ext>
            </a:extLst>
          </p:cNvPr>
          <p:cNvSpPr>
            <a:spLocks noGrp="1"/>
          </p:cNvSpPr>
          <p:nvPr>
            <p:ph idx="1"/>
          </p:nvPr>
        </p:nvSpPr>
        <p:spPr>
          <a:xfrm>
            <a:off x="838200" y="112294"/>
            <a:ext cx="10515600" cy="6681537"/>
          </a:xfrm>
        </p:spPr>
        <p:txBody>
          <a:bodyPr>
            <a:normAutofit/>
          </a:bodyPr>
          <a:lstStyle/>
          <a:p>
            <a:pPr marL="0" indent="0">
              <a:buNone/>
            </a:pPr>
            <a:r>
              <a:rPr lang="en-IN" b="1" dirty="0"/>
              <a:t>Which Azure VM family is used?</a:t>
            </a:r>
          </a:p>
          <a:p>
            <a:r>
              <a:rPr lang="en-IN" dirty="0"/>
              <a:t>Azure provides dedicated HPC VM families such as:</a:t>
            </a:r>
          </a:p>
          <a:p>
            <a:r>
              <a:rPr lang="en-IN" b="1" dirty="0"/>
              <a:t>HB-series</a:t>
            </a:r>
            <a:r>
              <a:rPr lang="en-IN" dirty="0"/>
              <a:t> – CPU-intensive scientific computing </a:t>
            </a:r>
          </a:p>
          <a:p>
            <a:r>
              <a:rPr lang="en-IN" b="1" dirty="0"/>
              <a:t>HC-series</a:t>
            </a:r>
            <a:r>
              <a:rPr lang="en-IN" dirty="0"/>
              <a:t> – Engineering simulations </a:t>
            </a:r>
          </a:p>
          <a:p>
            <a:r>
              <a:rPr lang="en-IN" b="1" dirty="0"/>
              <a:t>HX-series</a:t>
            </a:r>
            <a:r>
              <a:rPr lang="en-IN" dirty="0"/>
              <a:t> – Very large memory HPC workloads </a:t>
            </a:r>
          </a:p>
          <a:p>
            <a:r>
              <a:rPr lang="en-IN" dirty="0"/>
              <a:t>These VMs include technologies such as:</a:t>
            </a:r>
          </a:p>
          <a:p>
            <a:r>
              <a:rPr lang="en-IN" dirty="0"/>
              <a:t>AMD EPYC processors </a:t>
            </a:r>
          </a:p>
          <a:p>
            <a:r>
              <a:rPr lang="en-IN" dirty="0"/>
              <a:t>High-speed InfiniBand networking </a:t>
            </a:r>
          </a:p>
          <a:p>
            <a:r>
              <a:rPr lang="en-IN" dirty="0"/>
              <a:t>RDMA (Remote Direct Memory Access) </a:t>
            </a:r>
          </a:p>
          <a:p>
            <a:r>
              <a:rPr lang="en-IN" dirty="0"/>
              <a:t>Low-latency communication between VMs </a:t>
            </a:r>
          </a:p>
          <a:p>
            <a:r>
              <a:rPr lang="en-IN" dirty="0"/>
              <a:t>This allows hundreds or thousands of VMs to exchange data extremely quickly, which is essential for HPC.</a:t>
            </a:r>
          </a:p>
        </p:txBody>
      </p:sp>
      <p:sp>
        <p:nvSpPr>
          <p:cNvPr id="4" name="TextBox 3">
            <a:extLst>
              <a:ext uri="{FF2B5EF4-FFF2-40B4-BE49-F238E27FC236}">
                <a16:creationId xmlns:a16="http://schemas.microsoft.com/office/drawing/2014/main" id="{B45492D2-1213-1E4D-8708-CB91951F1239}"/>
              </a:ext>
            </a:extLst>
          </p:cNvPr>
          <p:cNvSpPr txBox="1"/>
          <p:nvPr/>
        </p:nvSpPr>
        <p:spPr>
          <a:xfrm>
            <a:off x="10098505" y="64169"/>
            <a:ext cx="1161280" cy="369332"/>
          </a:xfrm>
          <a:prstGeom prst="rect">
            <a:avLst/>
          </a:prstGeom>
          <a:noFill/>
        </p:spPr>
        <p:txBody>
          <a:bodyPr wrap="none" rtlCol="0">
            <a:spAutoFit/>
          </a:bodyPr>
          <a:lstStyle/>
          <a:p>
            <a:r>
              <a:rPr lang="en-GB" b="1" dirty="0"/>
              <a:t>Azure VM</a:t>
            </a:r>
            <a:endParaRPr lang="en-IN" b="1" dirty="0"/>
          </a:p>
        </p:txBody>
      </p:sp>
    </p:spTree>
    <p:extLst>
      <p:ext uri="{BB962C8B-B14F-4D97-AF65-F5344CB8AC3E}">
        <p14:creationId xmlns:p14="http://schemas.microsoft.com/office/powerpoint/2010/main" val="342200104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A704F0-7E0E-BCCA-1EDB-FC3A1AB7DBD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902A976-EB0B-1A85-C9F8-959090A86965}"/>
              </a:ext>
            </a:extLst>
          </p:cNvPr>
          <p:cNvSpPr>
            <a:spLocks noGrp="1"/>
          </p:cNvSpPr>
          <p:nvPr>
            <p:ph idx="1"/>
          </p:nvPr>
        </p:nvSpPr>
        <p:spPr>
          <a:xfrm>
            <a:off x="838200" y="112294"/>
            <a:ext cx="10515600" cy="6681537"/>
          </a:xfrm>
        </p:spPr>
        <p:txBody>
          <a:bodyPr>
            <a:normAutofit/>
          </a:bodyPr>
          <a:lstStyle/>
          <a:p>
            <a:r>
              <a:rPr lang="en-IN" b="1" dirty="0"/>
              <a:t>Simple way to explain</a:t>
            </a:r>
          </a:p>
          <a:p>
            <a:r>
              <a:rPr lang="en-IN" b="1" dirty="0"/>
              <a:t>Compute Optimized</a:t>
            </a:r>
            <a:r>
              <a:rPr lang="en-IN" dirty="0"/>
              <a:t> means </a:t>
            </a:r>
            <a:r>
              <a:rPr lang="en-IN" b="1" dirty="0"/>
              <a:t>"This VM has a very powerful CPU."</a:t>
            </a:r>
            <a:endParaRPr lang="en-IN" dirty="0"/>
          </a:p>
          <a:p>
            <a:r>
              <a:rPr lang="en-IN" b="1" dirty="0"/>
              <a:t>HPC</a:t>
            </a:r>
            <a:r>
              <a:rPr lang="en-IN" dirty="0"/>
              <a:t> means </a:t>
            </a:r>
            <a:r>
              <a:rPr lang="en-IN" b="1" dirty="0"/>
              <a:t>"Many powerful VMs work together as one supercomputer."</a:t>
            </a:r>
            <a:endParaRPr lang="en-IN" dirty="0"/>
          </a:p>
        </p:txBody>
      </p:sp>
      <p:sp>
        <p:nvSpPr>
          <p:cNvPr id="4" name="TextBox 3">
            <a:extLst>
              <a:ext uri="{FF2B5EF4-FFF2-40B4-BE49-F238E27FC236}">
                <a16:creationId xmlns:a16="http://schemas.microsoft.com/office/drawing/2014/main" id="{E9082D5B-331F-8ACC-F177-4F98B078C815}"/>
              </a:ext>
            </a:extLst>
          </p:cNvPr>
          <p:cNvSpPr txBox="1"/>
          <p:nvPr/>
        </p:nvSpPr>
        <p:spPr>
          <a:xfrm>
            <a:off x="10098505" y="64169"/>
            <a:ext cx="1161280" cy="369332"/>
          </a:xfrm>
          <a:prstGeom prst="rect">
            <a:avLst/>
          </a:prstGeom>
          <a:noFill/>
        </p:spPr>
        <p:txBody>
          <a:bodyPr wrap="none" rtlCol="0">
            <a:spAutoFit/>
          </a:bodyPr>
          <a:lstStyle/>
          <a:p>
            <a:r>
              <a:rPr lang="en-GB" b="1" dirty="0"/>
              <a:t>Azure VM</a:t>
            </a:r>
            <a:endParaRPr lang="en-IN" b="1" dirty="0"/>
          </a:p>
        </p:txBody>
      </p:sp>
      <p:graphicFrame>
        <p:nvGraphicFramePr>
          <p:cNvPr id="2" name="Table 1">
            <a:extLst>
              <a:ext uri="{FF2B5EF4-FFF2-40B4-BE49-F238E27FC236}">
                <a16:creationId xmlns:a16="http://schemas.microsoft.com/office/drawing/2014/main" id="{A6C889BB-676B-8C08-4B3D-6A6D78C4F4ED}"/>
              </a:ext>
            </a:extLst>
          </p:cNvPr>
          <p:cNvGraphicFramePr>
            <a:graphicFrameLocks noGrp="1"/>
          </p:cNvGraphicFramePr>
          <p:nvPr/>
        </p:nvGraphicFramePr>
        <p:xfrm>
          <a:off x="838200" y="2949734"/>
          <a:ext cx="10515600" cy="2103120"/>
        </p:xfrm>
        <a:graphic>
          <a:graphicData uri="http://schemas.openxmlformats.org/drawingml/2006/table">
            <a:tbl>
              <a:tblPr/>
              <a:tblGrid>
                <a:gridCol w="5257800">
                  <a:extLst>
                    <a:ext uri="{9D8B030D-6E8A-4147-A177-3AD203B41FA5}">
                      <a16:colId xmlns:a16="http://schemas.microsoft.com/office/drawing/2014/main" val="1100656191"/>
                    </a:ext>
                  </a:extLst>
                </a:gridCol>
                <a:gridCol w="5257800">
                  <a:extLst>
                    <a:ext uri="{9D8B030D-6E8A-4147-A177-3AD203B41FA5}">
                      <a16:colId xmlns:a16="http://schemas.microsoft.com/office/drawing/2014/main" val="2000393485"/>
                    </a:ext>
                  </a:extLst>
                </a:gridCol>
              </a:tblGrid>
              <a:tr h="0">
                <a:tc>
                  <a:txBody>
                    <a:bodyPr/>
                    <a:lstStyle/>
                    <a:p>
                      <a:pPr>
                        <a:buNone/>
                      </a:pPr>
                      <a:r>
                        <a:rPr lang="en-IN"/>
                        <a:t>Compute Optimized</a:t>
                      </a:r>
                    </a:p>
                  </a:txBody>
                  <a:tcPr anchor="ctr">
                    <a:lnL>
                      <a:noFill/>
                    </a:lnL>
                    <a:lnR>
                      <a:noFill/>
                    </a:lnR>
                    <a:lnT>
                      <a:noFill/>
                    </a:lnT>
                    <a:lnB>
                      <a:noFill/>
                    </a:lnB>
                    <a:noFill/>
                  </a:tcPr>
                </a:tc>
                <a:tc>
                  <a:txBody>
                    <a:bodyPr/>
                    <a:lstStyle/>
                    <a:p>
                      <a:pPr>
                        <a:buNone/>
                      </a:pPr>
                      <a:r>
                        <a:rPr lang="en-IN"/>
                        <a:t>HPC</a:t>
                      </a:r>
                    </a:p>
                  </a:txBody>
                  <a:tcPr anchor="ctr">
                    <a:lnL>
                      <a:noFill/>
                    </a:lnL>
                    <a:lnR>
                      <a:noFill/>
                    </a:lnR>
                    <a:lnT>
                      <a:noFill/>
                    </a:lnT>
                    <a:lnB>
                      <a:noFill/>
                    </a:lnB>
                    <a:noFill/>
                  </a:tcPr>
                </a:tc>
                <a:extLst>
                  <a:ext uri="{0D108BD9-81ED-4DB2-BD59-A6C34878D82A}">
                    <a16:rowId xmlns:a16="http://schemas.microsoft.com/office/drawing/2014/main" val="28406199"/>
                  </a:ext>
                </a:extLst>
              </a:tr>
              <a:tr h="0">
                <a:tc>
                  <a:txBody>
                    <a:bodyPr/>
                    <a:lstStyle/>
                    <a:p>
                      <a:pPr>
                        <a:buNone/>
                      </a:pPr>
                      <a:r>
                        <a:rPr lang="en-IN"/>
                        <a:t>One VM or a small VM Scale Set</a:t>
                      </a:r>
                    </a:p>
                  </a:txBody>
                  <a:tcPr anchor="ctr">
                    <a:lnL>
                      <a:noFill/>
                    </a:lnL>
                    <a:lnR>
                      <a:noFill/>
                    </a:lnR>
                    <a:lnT>
                      <a:noFill/>
                    </a:lnT>
                    <a:lnB>
                      <a:noFill/>
                    </a:lnB>
                    <a:noFill/>
                  </a:tcPr>
                </a:tc>
                <a:tc>
                  <a:txBody>
                    <a:bodyPr/>
                    <a:lstStyle/>
                    <a:p>
                      <a:pPr>
                        <a:buNone/>
                      </a:pPr>
                      <a:r>
                        <a:rPr lang="en-IN"/>
                        <a:t>Hundreds or thousands of VMs</a:t>
                      </a:r>
                    </a:p>
                  </a:txBody>
                  <a:tcPr anchor="ctr">
                    <a:lnL>
                      <a:noFill/>
                    </a:lnL>
                    <a:lnR>
                      <a:noFill/>
                    </a:lnR>
                    <a:lnT>
                      <a:noFill/>
                    </a:lnT>
                    <a:lnB>
                      <a:noFill/>
                    </a:lnB>
                    <a:noFill/>
                  </a:tcPr>
                </a:tc>
                <a:extLst>
                  <a:ext uri="{0D108BD9-81ED-4DB2-BD59-A6C34878D82A}">
                    <a16:rowId xmlns:a16="http://schemas.microsoft.com/office/drawing/2014/main" val="412957329"/>
                  </a:ext>
                </a:extLst>
              </a:tr>
              <a:tr h="0">
                <a:tc>
                  <a:txBody>
                    <a:bodyPr/>
                    <a:lstStyle/>
                    <a:p>
                      <a:pPr>
                        <a:buNone/>
                      </a:pPr>
                      <a:r>
                        <a:rPr lang="en-IN"/>
                        <a:t>High CPU for application processing</a:t>
                      </a:r>
                    </a:p>
                  </a:txBody>
                  <a:tcPr anchor="ctr">
                    <a:lnL>
                      <a:noFill/>
                    </a:lnL>
                    <a:lnR>
                      <a:noFill/>
                    </a:lnR>
                    <a:lnT>
                      <a:noFill/>
                    </a:lnT>
                    <a:lnB>
                      <a:noFill/>
                    </a:lnB>
                    <a:noFill/>
                  </a:tcPr>
                </a:tc>
                <a:tc>
                  <a:txBody>
                    <a:bodyPr/>
                    <a:lstStyle/>
                    <a:p>
                      <a:pPr>
                        <a:buNone/>
                      </a:pPr>
                      <a:r>
                        <a:rPr lang="en-IN"/>
                        <a:t>Massive parallel computing</a:t>
                      </a:r>
                    </a:p>
                  </a:txBody>
                  <a:tcPr anchor="ctr">
                    <a:lnL>
                      <a:noFill/>
                    </a:lnL>
                    <a:lnR>
                      <a:noFill/>
                    </a:lnR>
                    <a:lnT>
                      <a:noFill/>
                    </a:lnT>
                    <a:lnB>
                      <a:noFill/>
                    </a:lnB>
                    <a:noFill/>
                  </a:tcPr>
                </a:tc>
                <a:extLst>
                  <a:ext uri="{0D108BD9-81ED-4DB2-BD59-A6C34878D82A}">
                    <a16:rowId xmlns:a16="http://schemas.microsoft.com/office/drawing/2014/main" val="2315914897"/>
                  </a:ext>
                </a:extLst>
              </a:tr>
              <a:tr h="0">
                <a:tc>
                  <a:txBody>
                    <a:bodyPr/>
                    <a:lstStyle/>
                    <a:p>
                      <a:pPr>
                        <a:buNone/>
                      </a:pPr>
                      <a:r>
                        <a:rPr lang="en-IN"/>
                        <a:t>Batch jobs, search indexing, fraud detection</a:t>
                      </a:r>
                    </a:p>
                  </a:txBody>
                  <a:tcPr anchor="ctr">
                    <a:lnL>
                      <a:noFill/>
                    </a:lnL>
                    <a:lnR>
                      <a:noFill/>
                    </a:lnR>
                    <a:lnT>
                      <a:noFill/>
                    </a:lnT>
                    <a:lnB>
                      <a:noFill/>
                    </a:lnB>
                    <a:noFill/>
                  </a:tcPr>
                </a:tc>
                <a:tc>
                  <a:txBody>
                    <a:bodyPr/>
                    <a:lstStyle/>
                    <a:p>
                      <a:pPr>
                        <a:buNone/>
                      </a:pPr>
                      <a:r>
                        <a:rPr lang="en-IN"/>
                        <a:t>Scientific simulations, weather models, genome sequencing</a:t>
                      </a:r>
                    </a:p>
                  </a:txBody>
                  <a:tcPr anchor="ctr">
                    <a:lnL>
                      <a:noFill/>
                    </a:lnL>
                    <a:lnR>
                      <a:noFill/>
                    </a:lnR>
                    <a:lnT>
                      <a:noFill/>
                    </a:lnT>
                    <a:lnB>
                      <a:noFill/>
                    </a:lnB>
                    <a:noFill/>
                  </a:tcPr>
                </a:tc>
                <a:extLst>
                  <a:ext uri="{0D108BD9-81ED-4DB2-BD59-A6C34878D82A}">
                    <a16:rowId xmlns:a16="http://schemas.microsoft.com/office/drawing/2014/main" val="3905946885"/>
                  </a:ext>
                </a:extLst>
              </a:tr>
              <a:tr h="0">
                <a:tc>
                  <a:txBody>
                    <a:bodyPr/>
                    <a:lstStyle/>
                    <a:p>
                      <a:pPr>
                        <a:buNone/>
                      </a:pPr>
                      <a:r>
                        <a:rPr lang="en-IN"/>
                        <a:t>Fsv2, FX-series</a:t>
                      </a:r>
                    </a:p>
                  </a:txBody>
                  <a:tcPr anchor="ctr">
                    <a:lnL>
                      <a:noFill/>
                    </a:lnL>
                    <a:lnR>
                      <a:noFill/>
                    </a:lnR>
                    <a:lnT>
                      <a:noFill/>
                    </a:lnT>
                    <a:lnB>
                      <a:noFill/>
                    </a:lnB>
                    <a:noFill/>
                  </a:tcPr>
                </a:tc>
                <a:tc>
                  <a:txBody>
                    <a:bodyPr/>
                    <a:lstStyle/>
                    <a:p>
                      <a:pPr>
                        <a:buNone/>
                      </a:pPr>
                      <a:r>
                        <a:rPr lang="en-IN" dirty="0"/>
                        <a:t>HB, HC, HX-series</a:t>
                      </a:r>
                    </a:p>
                  </a:txBody>
                  <a:tcPr anchor="ctr">
                    <a:lnL>
                      <a:noFill/>
                    </a:lnL>
                    <a:lnR>
                      <a:noFill/>
                    </a:lnR>
                    <a:lnT>
                      <a:noFill/>
                    </a:lnT>
                    <a:lnB>
                      <a:noFill/>
                    </a:lnB>
                    <a:noFill/>
                  </a:tcPr>
                </a:tc>
                <a:extLst>
                  <a:ext uri="{0D108BD9-81ED-4DB2-BD59-A6C34878D82A}">
                    <a16:rowId xmlns:a16="http://schemas.microsoft.com/office/drawing/2014/main" val="2205263264"/>
                  </a:ext>
                </a:extLst>
              </a:tr>
            </a:tbl>
          </a:graphicData>
        </a:graphic>
      </p:graphicFrame>
    </p:spTree>
    <p:extLst>
      <p:ext uri="{BB962C8B-B14F-4D97-AF65-F5344CB8AC3E}">
        <p14:creationId xmlns:p14="http://schemas.microsoft.com/office/powerpoint/2010/main" val="191370341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7F8D62-2A0D-9765-7293-3C45C218926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044952C-B0AE-4927-ED21-19CFB7E3EBAA}"/>
              </a:ext>
            </a:extLst>
          </p:cNvPr>
          <p:cNvSpPr txBox="1"/>
          <p:nvPr/>
        </p:nvSpPr>
        <p:spPr>
          <a:xfrm>
            <a:off x="10098505" y="64169"/>
            <a:ext cx="1161280" cy="369332"/>
          </a:xfrm>
          <a:prstGeom prst="rect">
            <a:avLst/>
          </a:prstGeom>
          <a:noFill/>
        </p:spPr>
        <p:txBody>
          <a:bodyPr wrap="none" rtlCol="0">
            <a:spAutoFit/>
          </a:bodyPr>
          <a:lstStyle/>
          <a:p>
            <a:r>
              <a:rPr lang="en-GB" b="1" dirty="0"/>
              <a:t>Azure VM</a:t>
            </a:r>
            <a:endParaRPr lang="en-IN" b="1" dirty="0"/>
          </a:p>
        </p:txBody>
      </p:sp>
      <p:sp>
        <p:nvSpPr>
          <p:cNvPr id="8" name="TextBox 7">
            <a:extLst>
              <a:ext uri="{FF2B5EF4-FFF2-40B4-BE49-F238E27FC236}">
                <a16:creationId xmlns:a16="http://schemas.microsoft.com/office/drawing/2014/main" id="{615AB2F6-75E0-D2E3-80D5-2656A7E33F04}"/>
              </a:ext>
            </a:extLst>
          </p:cNvPr>
          <p:cNvSpPr txBox="1"/>
          <p:nvPr/>
        </p:nvSpPr>
        <p:spPr>
          <a:xfrm>
            <a:off x="152400" y="248835"/>
            <a:ext cx="6096000" cy="4801314"/>
          </a:xfrm>
          <a:prstGeom prst="rect">
            <a:avLst/>
          </a:prstGeom>
          <a:noFill/>
        </p:spPr>
        <p:txBody>
          <a:bodyPr wrap="square">
            <a:spAutoFit/>
          </a:bodyPr>
          <a:lstStyle/>
          <a:p>
            <a:pPr>
              <a:buNone/>
            </a:pPr>
            <a:r>
              <a:rPr lang="en-IN" b="1" dirty="0"/>
              <a:t>1. Enable Secure Boot ✅ (Checked)</a:t>
            </a:r>
          </a:p>
          <a:p>
            <a:pPr>
              <a:buNone/>
            </a:pPr>
            <a:r>
              <a:rPr lang="en-IN" b="1" dirty="0"/>
              <a:t>What does it do?</a:t>
            </a:r>
          </a:p>
          <a:p>
            <a:pPr>
              <a:buNone/>
            </a:pPr>
            <a:r>
              <a:rPr lang="en-IN" dirty="0"/>
              <a:t>Secure Boot ensures that </a:t>
            </a:r>
            <a:r>
              <a:rPr lang="en-IN" b="1" dirty="0"/>
              <a:t>only trusted and digitally signed software</a:t>
            </a:r>
            <a:r>
              <a:rPr lang="en-IN" dirty="0"/>
              <a:t> is allowed to run when the VM starts.</a:t>
            </a:r>
          </a:p>
          <a:p>
            <a:pPr>
              <a:buNone/>
            </a:pPr>
            <a:r>
              <a:rPr lang="en-IN" b="1" dirty="0"/>
              <a:t>Normal boot</a:t>
            </a:r>
          </a:p>
          <a:p>
            <a:pPr rtl="0">
              <a:buNone/>
            </a:pPr>
            <a:r>
              <a:rPr lang="en-IN" dirty="0">
                <a:latin typeface="Courier New" panose="02070309020205020404" pitchFamily="49" charset="0"/>
              </a:rPr>
              <a:t>Power On</a:t>
            </a:r>
          </a:p>
          <a:p>
            <a:pPr rtl="0">
              <a:buNone/>
            </a:pPr>
            <a:r>
              <a:rPr lang="en-IN" dirty="0">
                <a:latin typeface="Courier New" panose="02070309020205020404" pitchFamily="49" charset="0"/>
              </a:rPr>
              <a:t>   │</a:t>
            </a:r>
          </a:p>
          <a:p>
            <a:pPr rtl="0">
              <a:buNone/>
            </a:pPr>
            <a:r>
              <a:rPr lang="en-IN" dirty="0">
                <a:latin typeface="Courier New" panose="02070309020205020404" pitchFamily="49" charset="0"/>
              </a:rPr>
              <a:t>   ▼</a:t>
            </a:r>
          </a:p>
          <a:p>
            <a:pPr rtl="0">
              <a:buNone/>
            </a:pPr>
            <a:r>
              <a:rPr lang="en-IN" dirty="0">
                <a:latin typeface="Courier New" panose="02070309020205020404" pitchFamily="49" charset="0"/>
              </a:rPr>
              <a:t>BIOS/UEFI</a:t>
            </a:r>
          </a:p>
          <a:p>
            <a:pPr rtl="0">
              <a:buNone/>
            </a:pPr>
            <a:r>
              <a:rPr lang="en-IN" dirty="0">
                <a:latin typeface="Courier New" panose="02070309020205020404" pitchFamily="49" charset="0"/>
              </a:rPr>
              <a:t>   │</a:t>
            </a:r>
          </a:p>
          <a:p>
            <a:pPr rtl="0">
              <a:buNone/>
            </a:pPr>
            <a:r>
              <a:rPr lang="en-IN" dirty="0">
                <a:latin typeface="Courier New" panose="02070309020205020404" pitchFamily="49" charset="0"/>
              </a:rPr>
              <a:t>   ▼</a:t>
            </a:r>
          </a:p>
          <a:p>
            <a:pPr rtl="0">
              <a:buNone/>
            </a:pPr>
            <a:r>
              <a:rPr lang="en-IN" dirty="0">
                <a:latin typeface="Courier New" panose="02070309020205020404" pitchFamily="49" charset="0"/>
              </a:rPr>
              <a:t>Boot Loader</a:t>
            </a:r>
          </a:p>
          <a:p>
            <a:pPr rtl="0">
              <a:buNone/>
            </a:pPr>
            <a:r>
              <a:rPr lang="en-IN" dirty="0">
                <a:latin typeface="Courier New" panose="02070309020205020404" pitchFamily="49" charset="0"/>
              </a:rPr>
              <a:t>   │</a:t>
            </a:r>
          </a:p>
          <a:p>
            <a:pPr rtl="0">
              <a:buNone/>
            </a:pPr>
            <a:r>
              <a:rPr lang="en-IN" dirty="0">
                <a:latin typeface="Courier New" panose="02070309020205020404" pitchFamily="49" charset="0"/>
              </a:rPr>
              <a:t>   ▼</a:t>
            </a:r>
          </a:p>
          <a:p>
            <a:pPr rtl="0">
              <a:buNone/>
            </a:pPr>
            <a:r>
              <a:rPr lang="en-IN" dirty="0">
                <a:latin typeface="Courier New" panose="02070309020205020404" pitchFamily="49" charset="0"/>
              </a:rPr>
              <a:t>Operating System</a:t>
            </a:r>
          </a:p>
          <a:p>
            <a:pPr>
              <a:buNone/>
            </a:pPr>
            <a:r>
              <a:rPr lang="en-IN" dirty="0"/>
              <a:t>If a hacker replaces the boot loader with malware, the operating system starts with the malware.</a:t>
            </a:r>
          </a:p>
        </p:txBody>
      </p:sp>
      <p:sp>
        <p:nvSpPr>
          <p:cNvPr id="10" name="TextBox 9">
            <a:extLst>
              <a:ext uri="{FF2B5EF4-FFF2-40B4-BE49-F238E27FC236}">
                <a16:creationId xmlns:a16="http://schemas.microsoft.com/office/drawing/2014/main" id="{329B4B29-1B18-18B8-6A8F-145F79BB9D22}"/>
              </a:ext>
            </a:extLst>
          </p:cNvPr>
          <p:cNvSpPr txBox="1"/>
          <p:nvPr/>
        </p:nvSpPr>
        <p:spPr>
          <a:xfrm>
            <a:off x="6360694" y="1303201"/>
            <a:ext cx="6096000" cy="4524315"/>
          </a:xfrm>
          <a:prstGeom prst="rect">
            <a:avLst/>
          </a:prstGeom>
          <a:noFill/>
        </p:spPr>
        <p:txBody>
          <a:bodyPr wrap="square">
            <a:spAutoFit/>
          </a:bodyPr>
          <a:lstStyle/>
          <a:p>
            <a:pPr>
              <a:buNone/>
            </a:pPr>
            <a:r>
              <a:rPr lang="en-IN" b="1" dirty="0"/>
              <a:t>Secure Boot enabled</a:t>
            </a:r>
          </a:p>
          <a:p>
            <a:pPr rtl="0">
              <a:buNone/>
            </a:pPr>
            <a:r>
              <a:rPr lang="en-IN" dirty="0">
                <a:latin typeface="Courier New" panose="02070309020205020404" pitchFamily="49" charset="0"/>
              </a:rPr>
              <a:t>Power On</a:t>
            </a:r>
          </a:p>
          <a:p>
            <a:pPr rtl="0">
              <a:buNone/>
            </a:pPr>
            <a:r>
              <a:rPr lang="en-IN" dirty="0">
                <a:latin typeface="Courier New" panose="02070309020205020404" pitchFamily="49" charset="0"/>
              </a:rPr>
              <a:t>   │</a:t>
            </a:r>
          </a:p>
          <a:p>
            <a:pPr rtl="0">
              <a:buNone/>
            </a:pPr>
            <a:r>
              <a:rPr lang="en-IN" dirty="0">
                <a:latin typeface="Courier New" panose="02070309020205020404" pitchFamily="49" charset="0"/>
              </a:rPr>
              <a:t>   ▼</a:t>
            </a:r>
          </a:p>
          <a:p>
            <a:pPr rtl="0">
              <a:buNone/>
            </a:pPr>
            <a:r>
              <a:rPr lang="en-IN" dirty="0">
                <a:latin typeface="Courier New" panose="02070309020205020404" pitchFamily="49" charset="0"/>
              </a:rPr>
              <a:t>UEFI Firmware</a:t>
            </a:r>
          </a:p>
          <a:p>
            <a:pPr rtl="0">
              <a:buNone/>
            </a:pPr>
            <a:r>
              <a:rPr lang="en-IN" dirty="0">
                <a:latin typeface="Courier New" panose="02070309020205020404" pitchFamily="49" charset="0"/>
              </a:rPr>
              <a:t>   │</a:t>
            </a:r>
          </a:p>
          <a:p>
            <a:pPr rtl="0">
              <a:buNone/>
            </a:pPr>
            <a:r>
              <a:rPr lang="en-IN" dirty="0">
                <a:latin typeface="Courier New" panose="02070309020205020404" pitchFamily="49" charset="0"/>
              </a:rPr>
              <a:t>Verify Digital Signature</a:t>
            </a:r>
          </a:p>
          <a:p>
            <a:pPr rtl="0">
              <a:buNone/>
            </a:pPr>
            <a:r>
              <a:rPr lang="en-IN" dirty="0">
                <a:latin typeface="Courier New" panose="02070309020205020404" pitchFamily="49" charset="0"/>
              </a:rPr>
              <a:t>   │</a:t>
            </a:r>
          </a:p>
          <a:p>
            <a:pPr rtl="0">
              <a:buNone/>
            </a:pPr>
            <a:r>
              <a:rPr lang="en-IN" dirty="0">
                <a:latin typeface="Courier New" panose="02070309020205020404" pitchFamily="49" charset="0"/>
              </a:rPr>
              <a:t>   ├── Trusted ✔ Boot continues</a:t>
            </a:r>
          </a:p>
          <a:p>
            <a:pPr rtl="0">
              <a:buNone/>
            </a:pPr>
            <a:r>
              <a:rPr lang="en-IN" dirty="0">
                <a:latin typeface="Courier New" panose="02070309020205020404" pitchFamily="49" charset="0"/>
              </a:rPr>
              <a:t>   └── Untrusted ❌ Boot stops</a:t>
            </a:r>
          </a:p>
          <a:p>
            <a:pPr>
              <a:buNone/>
            </a:pPr>
            <a:r>
              <a:rPr lang="en-IN" dirty="0"/>
              <a:t>Only Microsoft-signed or trusted boot components are allowed.</a:t>
            </a:r>
          </a:p>
          <a:p>
            <a:pPr>
              <a:buNone/>
            </a:pPr>
            <a:r>
              <a:rPr lang="en-IN" b="1" dirty="0"/>
              <a:t>Protects against</a:t>
            </a:r>
          </a:p>
          <a:p>
            <a:pPr>
              <a:buFont typeface="Arial" panose="020B0604020202020204" pitchFamily="34" charset="0"/>
              <a:buChar char="•"/>
            </a:pPr>
            <a:r>
              <a:rPr lang="en-IN" dirty="0" err="1"/>
              <a:t>Bootkits</a:t>
            </a:r>
            <a:r>
              <a:rPr lang="en-IN" dirty="0"/>
              <a:t> </a:t>
            </a:r>
          </a:p>
          <a:p>
            <a:pPr>
              <a:buFont typeface="Arial" panose="020B0604020202020204" pitchFamily="34" charset="0"/>
              <a:buChar char="•"/>
            </a:pPr>
            <a:r>
              <a:rPr lang="en-IN" dirty="0"/>
              <a:t>Rootkits </a:t>
            </a:r>
          </a:p>
          <a:p>
            <a:pPr>
              <a:buFont typeface="Arial" panose="020B0604020202020204" pitchFamily="34" charset="0"/>
              <a:buChar char="•"/>
            </a:pPr>
            <a:r>
              <a:rPr lang="en-IN" dirty="0"/>
              <a:t>Boot loader malware</a:t>
            </a:r>
          </a:p>
        </p:txBody>
      </p:sp>
    </p:spTree>
    <p:extLst>
      <p:ext uri="{BB962C8B-B14F-4D97-AF65-F5344CB8AC3E}">
        <p14:creationId xmlns:p14="http://schemas.microsoft.com/office/powerpoint/2010/main" val="221072338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3B16C3-9726-20DD-DEF1-855B8046D3D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CFBFF0F-CCD6-0922-12AD-DF7A203D39E5}"/>
              </a:ext>
            </a:extLst>
          </p:cNvPr>
          <p:cNvSpPr txBox="1"/>
          <p:nvPr/>
        </p:nvSpPr>
        <p:spPr>
          <a:xfrm>
            <a:off x="64168" y="0"/>
            <a:ext cx="6096000" cy="5078313"/>
          </a:xfrm>
          <a:prstGeom prst="rect">
            <a:avLst/>
          </a:prstGeom>
          <a:noFill/>
        </p:spPr>
        <p:txBody>
          <a:bodyPr wrap="square">
            <a:spAutoFit/>
          </a:bodyPr>
          <a:lstStyle/>
          <a:p>
            <a:pPr>
              <a:buNone/>
            </a:pPr>
            <a:r>
              <a:rPr lang="en-IN" b="1" dirty="0"/>
              <a:t>2. Enable </a:t>
            </a:r>
            <a:r>
              <a:rPr lang="en-IN" b="1" dirty="0" err="1"/>
              <a:t>vTPM</a:t>
            </a:r>
            <a:r>
              <a:rPr lang="en-IN" b="1" dirty="0"/>
              <a:t> (Virtual Trusted Platform Module) ✅ (Checked)</a:t>
            </a:r>
          </a:p>
          <a:p>
            <a:pPr>
              <a:buNone/>
            </a:pPr>
            <a:r>
              <a:rPr lang="en-IN" dirty="0"/>
              <a:t>A </a:t>
            </a:r>
            <a:r>
              <a:rPr lang="en-IN" b="1" dirty="0"/>
              <a:t>TPM (Trusted Platform Module)</a:t>
            </a:r>
            <a:r>
              <a:rPr lang="en-IN" dirty="0"/>
              <a:t> is normally a small security chip on a physical computer.</a:t>
            </a:r>
          </a:p>
          <a:p>
            <a:pPr>
              <a:buNone/>
            </a:pPr>
            <a:r>
              <a:rPr lang="en-IN" dirty="0"/>
              <a:t>Azure provides a </a:t>
            </a:r>
            <a:r>
              <a:rPr lang="en-IN" b="1" dirty="0"/>
              <a:t>virtual TPM</a:t>
            </a:r>
            <a:r>
              <a:rPr lang="en-IN" dirty="0"/>
              <a:t> inside the VM.</a:t>
            </a:r>
          </a:p>
          <a:p>
            <a:pPr>
              <a:buNone/>
            </a:pPr>
            <a:r>
              <a:rPr lang="en-IN" dirty="0"/>
              <a:t>It securely stores:</a:t>
            </a:r>
          </a:p>
          <a:p>
            <a:pPr>
              <a:buFont typeface="Arial" panose="020B0604020202020204" pitchFamily="34" charset="0"/>
              <a:buChar char="•"/>
            </a:pPr>
            <a:r>
              <a:rPr lang="en-IN" dirty="0"/>
              <a:t>Encryption keys </a:t>
            </a:r>
          </a:p>
          <a:p>
            <a:pPr>
              <a:buFont typeface="Arial" panose="020B0604020202020204" pitchFamily="34" charset="0"/>
              <a:buChar char="•"/>
            </a:pPr>
            <a:r>
              <a:rPr lang="en-IN" dirty="0"/>
              <a:t>Certificates </a:t>
            </a:r>
          </a:p>
          <a:p>
            <a:pPr>
              <a:buFont typeface="Arial" panose="020B0604020202020204" pitchFamily="34" charset="0"/>
              <a:buChar char="•"/>
            </a:pPr>
            <a:r>
              <a:rPr lang="en-IN" dirty="0"/>
              <a:t>Password-related secrets </a:t>
            </a:r>
          </a:p>
          <a:p>
            <a:pPr>
              <a:buFont typeface="Arial" panose="020B0604020202020204" pitchFamily="34" charset="0"/>
              <a:buChar char="•"/>
            </a:pPr>
            <a:r>
              <a:rPr lang="en-IN" dirty="0"/>
              <a:t>BitLocker keys </a:t>
            </a:r>
          </a:p>
          <a:p>
            <a:pPr>
              <a:buFont typeface="Arial" panose="020B0604020202020204" pitchFamily="34" charset="0"/>
              <a:buChar char="•"/>
            </a:pPr>
            <a:r>
              <a:rPr lang="en-IN" dirty="0"/>
              <a:t>Measured boot information </a:t>
            </a:r>
          </a:p>
          <a:p>
            <a:pPr>
              <a:buNone/>
            </a:pPr>
            <a:r>
              <a:rPr lang="en-IN" b="1" dirty="0"/>
              <a:t>Example</a:t>
            </a:r>
          </a:p>
          <a:p>
            <a:pPr>
              <a:buNone/>
            </a:pPr>
            <a:r>
              <a:rPr lang="en-IN" dirty="0"/>
              <a:t>Suppose you enable </a:t>
            </a:r>
            <a:r>
              <a:rPr lang="en-IN" b="1" dirty="0"/>
              <a:t>BitLocker</a:t>
            </a:r>
            <a:r>
              <a:rPr lang="en-IN" dirty="0"/>
              <a:t> inside your Windows VM.</a:t>
            </a:r>
          </a:p>
          <a:p>
            <a:pPr>
              <a:buNone/>
            </a:pPr>
            <a:r>
              <a:rPr lang="en-IN" dirty="0"/>
              <a:t>Without TPM:</a:t>
            </a:r>
          </a:p>
          <a:p>
            <a:pPr rtl="0">
              <a:buNone/>
            </a:pPr>
            <a:r>
              <a:rPr lang="en-IN" dirty="0">
                <a:latin typeface="Courier New" panose="02070309020205020404" pitchFamily="49" charset="0"/>
              </a:rPr>
              <a:t>Disk Encryption Key</a:t>
            </a:r>
          </a:p>
          <a:p>
            <a:pPr rtl="0">
              <a:buNone/>
            </a:pPr>
            <a:r>
              <a:rPr lang="en-IN" dirty="0">
                <a:latin typeface="Courier New" panose="02070309020205020404" pitchFamily="49" charset="0"/>
              </a:rPr>
              <a:t>        │</a:t>
            </a:r>
          </a:p>
          <a:p>
            <a:pPr rtl="0">
              <a:buNone/>
            </a:pPr>
            <a:r>
              <a:rPr lang="en-IN" dirty="0">
                <a:latin typeface="Courier New" panose="02070309020205020404" pitchFamily="49" charset="0"/>
              </a:rPr>
              <a:t>Stored somewhere on disk</a:t>
            </a:r>
          </a:p>
          <a:p>
            <a:pPr>
              <a:buNone/>
            </a:pPr>
            <a:r>
              <a:rPr lang="en-IN" dirty="0"/>
              <a:t>An attacker may be able to access it.</a:t>
            </a:r>
          </a:p>
        </p:txBody>
      </p:sp>
      <p:sp>
        <p:nvSpPr>
          <p:cNvPr id="6" name="TextBox 5">
            <a:extLst>
              <a:ext uri="{FF2B5EF4-FFF2-40B4-BE49-F238E27FC236}">
                <a16:creationId xmlns:a16="http://schemas.microsoft.com/office/drawing/2014/main" id="{9F1693CE-22D4-4BE3-E6E6-5DEF12FF4227}"/>
              </a:ext>
            </a:extLst>
          </p:cNvPr>
          <p:cNvSpPr txBox="1"/>
          <p:nvPr/>
        </p:nvSpPr>
        <p:spPr>
          <a:xfrm>
            <a:off x="6160168" y="1161508"/>
            <a:ext cx="6096000" cy="3139321"/>
          </a:xfrm>
          <a:prstGeom prst="rect">
            <a:avLst/>
          </a:prstGeom>
          <a:noFill/>
        </p:spPr>
        <p:txBody>
          <a:bodyPr wrap="square">
            <a:spAutoFit/>
          </a:bodyPr>
          <a:lstStyle/>
          <a:p>
            <a:pPr>
              <a:buNone/>
            </a:pPr>
            <a:r>
              <a:rPr lang="en-IN" dirty="0"/>
              <a:t>With </a:t>
            </a:r>
            <a:r>
              <a:rPr lang="en-IN" b="1" dirty="0" err="1"/>
              <a:t>vTPM</a:t>
            </a:r>
            <a:r>
              <a:rPr lang="en-IN" dirty="0"/>
              <a:t>:</a:t>
            </a:r>
          </a:p>
          <a:p>
            <a:pPr rtl="0">
              <a:buNone/>
            </a:pPr>
            <a:r>
              <a:rPr lang="en-IN" dirty="0">
                <a:latin typeface="Courier New" panose="02070309020205020404" pitchFamily="49" charset="0"/>
              </a:rPr>
              <a:t>Disk Encryption Key</a:t>
            </a:r>
          </a:p>
          <a:p>
            <a:pPr rtl="0">
              <a:buNone/>
            </a:pPr>
            <a:r>
              <a:rPr lang="en-IN" dirty="0">
                <a:latin typeface="Courier New" panose="02070309020205020404" pitchFamily="49" charset="0"/>
              </a:rPr>
              <a:t>        │</a:t>
            </a:r>
          </a:p>
          <a:p>
            <a:pPr rtl="0">
              <a:buNone/>
            </a:pPr>
            <a:r>
              <a:rPr lang="en-IN" dirty="0">
                <a:latin typeface="Courier New" panose="02070309020205020404" pitchFamily="49" charset="0"/>
              </a:rPr>
              <a:t>Stored securely inside </a:t>
            </a:r>
            <a:r>
              <a:rPr lang="en-IN" dirty="0" err="1">
                <a:latin typeface="Courier New" panose="02070309020205020404" pitchFamily="49" charset="0"/>
              </a:rPr>
              <a:t>vTPM</a:t>
            </a:r>
            <a:endParaRPr lang="en-IN" dirty="0">
              <a:latin typeface="Courier New" panose="02070309020205020404" pitchFamily="49" charset="0"/>
            </a:endParaRPr>
          </a:p>
          <a:p>
            <a:pPr>
              <a:buNone/>
            </a:pPr>
            <a:r>
              <a:rPr lang="en-IN" dirty="0"/>
              <a:t>The key is protected and cannot be easily extracted.</a:t>
            </a:r>
          </a:p>
          <a:p>
            <a:pPr>
              <a:buNone/>
            </a:pPr>
            <a:r>
              <a:rPr lang="en-IN" b="1" dirty="0"/>
              <a:t>Used by</a:t>
            </a:r>
          </a:p>
          <a:p>
            <a:pPr>
              <a:buFont typeface="Arial" panose="020B0604020202020204" pitchFamily="34" charset="0"/>
              <a:buChar char="•"/>
            </a:pPr>
            <a:r>
              <a:rPr lang="en-IN" dirty="0"/>
              <a:t>BitLocker </a:t>
            </a:r>
          </a:p>
          <a:p>
            <a:pPr>
              <a:buFont typeface="Arial" panose="020B0604020202020204" pitchFamily="34" charset="0"/>
              <a:buChar char="•"/>
            </a:pPr>
            <a:r>
              <a:rPr lang="en-IN" dirty="0"/>
              <a:t>Windows Hello </a:t>
            </a:r>
          </a:p>
          <a:p>
            <a:pPr>
              <a:buFont typeface="Arial" panose="020B0604020202020204" pitchFamily="34" charset="0"/>
              <a:buChar char="•"/>
            </a:pPr>
            <a:r>
              <a:rPr lang="en-IN" dirty="0"/>
              <a:t>Credential Guard </a:t>
            </a:r>
          </a:p>
          <a:p>
            <a:pPr>
              <a:buFont typeface="Arial" panose="020B0604020202020204" pitchFamily="34" charset="0"/>
              <a:buChar char="•"/>
            </a:pPr>
            <a:r>
              <a:rPr lang="en-IN" dirty="0"/>
              <a:t>Device Guard </a:t>
            </a:r>
          </a:p>
          <a:p>
            <a:pPr>
              <a:buFont typeface="Arial" panose="020B0604020202020204" pitchFamily="34" charset="0"/>
              <a:buChar char="•"/>
            </a:pPr>
            <a:r>
              <a:rPr lang="en-IN" dirty="0"/>
              <a:t>Measured Boot</a:t>
            </a:r>
          </a:p>
        </p:txBody>
      </p:sp>
    </p:spTree>
    <p:extLst>
      <p:ext uri="{BB962C8B-B14F-4D97-AF65-F5344CB8AC3E}">
        <p14:creationId xmlns:p14="http://schemas.microsoft.com/office/powerpoint/2010/main" val="353587133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205DF7-A720-7BDC-F49B-FFEF5720BBA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77B182B-4D7D-C57C-FA14-C3659F0F713A}"/>
              </a:ext>
            </a:extLst>
          </p:cNvPr>
          <p:cNvSpPr txBox="1"/>
          <p:nvPr/>
        </p:nvSpPr>
        <p:spPr>
          <a:xfrm>
            <a:off x="192505" y="0"/>
            <a:ext cx="8935453" cy="6463308"/>
          </a:xfrm>
          <a:prstGeom prst="rect">
            <a:avLst/>
          </a:prstGeom>
          <a:noFill/>
        </p:spPr>
        <p:txBody>
          <a:bodyPr wrap="square">
            <a:spAutoFit/>
          </a:bodyPr>
          <a:lstStyle/>
          <a:p>
            <a:pPr>
              <a:buNone/>
            </a:pPr>
            <a:r>
              <a:rPr lang="en-IN" b="1" dirty="0"/>
              <a:t>3. Integrity Monitoring ⬜ (Unchecked)</a:t>
            </a:r>
          </a:p>
          <a:p>
            <a:pPr>
              <a:buNone/>
            </a:pPr>
            <a:r>
              <a:rPr lang="en-IN" dirty="0"/>
              <a:t>This continuously checks whether the VM's boot process has been modified.</a:t>
            </a:r>
          </a:p>
          <a:p>
            <a:pPr>
              <a:buNone/>
            </a:pPr>
            <a:r>
              <a:rPr lang="en-IN" dirty="0"/>
              <a:t>Think of it as a security guard who checks every time the VM starts.</a:t>
            </a:r>
          </a:p>
          <a:p>
            <a:pPr>
              <a:buNone/>
            </a:pPr>
            <a:r>
              <a:rPr lang="en-IN" b="1" dirty="0"/>
              <a:t>Normal boot</a:t>
            </a:r>
          </a:p>
          <a:p>
            <a:pPr rtl="0">
              <a:buNone/>
            </a:pPr>
            <a:r>
              <a:rPr lang="en-IN" dirty="0">
                <a:latin typeface="Courier New" panose="02070309020205020404" pitchFamily="49" charset="0"/>
              </a:rPr>
              <a:t>Firmware</a:t>
            </a:r>
          </a:p>
          <a:p>
            <a:pPr rtl="0">
              <a:buNone/>
            </a:pPr>
            <a:r>
              <a:rPr lang="en-IN" dirty="0">
                <a:latin typeface="Courier New" panose="02070309020205020404" pitchFamily="49" charset="0"/>
              </a:rPr>
              <a:t>   │</a:t>
            </a:r>
          </a:p>
          <a:p>
            <a:pPr rtl="0">
              <a:buNone/>
            </a:pPr>
            <a:r>
              <a:rPr lang="en-IN" dirty="0">
                <a:latin typeface="Courier New" panose="02070309020205020404" pitchFamily="49" charset="0"/>
              </a:rPr>
              <a:t>Boot Loader</a:t>
            </a:r>
          </a:p>
          <a:p>
            <a:pPr rtl="0">
              <a:buNone/>
            </a:pPr>
            <a:r>
              <a:rPr lang="en-IN" dirty="0">
                <a:latin typeface="Courier New" panose="02070309020205020404" pitchFamily="49" charset="0"/>
              </a:rPr>
              <a:t>   │</a:t>
            </a:r>
          </a:p>
          <a:p>
            <a:pPr rtl="0">
              <a:buNone/>
            </a:pPr>
            <a:r>
              <a:rPr lang="en-IN" dirty="0">
                <a:latin typeface="Courier New" panose="02070309020205020404" pitchFamily="49" charset="0"/>
              </a:rPr>
              <a:t>Operating System</a:t>
            </a:r>
          </a:p>
          <a:p>
            <a:pPr>
              <a:buNone/>
            </a:pPr>
            <a:r>
              <a:rPr lang="en-IN" dirty="0"/>
              <a:t>Azure records measurements of these components.</a:t>
            </a:r>
          </a:p>
          <a:p>
            <a:pPr>
              <a:buNone/>
            </a:pPr>
            <a:r>
              <a:rPr lang="en-IN" dirty="0"/>
              <a:t>Later it compares them.</a:t>
            </a:r>
          </a:p>
          <a:p>
            <a:pPr rtl="0">
              <a:buNone/>
            </a:pPr>
            <a:r>
              <a:rPr lang="en-IN" dirty="0">
                <a:latin typeface="Courier New" panose="02070309020205020404" pitchFamily="49" charset="0"/>
              </a:rPr>
              <a:t>Previous Boot</a:t>
            </a:r>
          </a:p>
          <a:p>
            <a:pPr rtl="0">
              <a:buNone/>
            </a:pPr>
            <a:r>
              <a:rPr lang="en-IN" dirty="0">
                <a:latin typeface="Courier New" panose="02070309020205020404" pitchFamily="49" charset="0"/>
              </a:rPr>
              <a:t>        │</a:t>
            </a:r>
          </a:p>
          <a:p>
            <a:pPr rtl="0">
              <a:buNone/>
            </a:pPr>
            <a:r>
              <a:rPr lang="en-IN" dirty="0">
                <a:latin typeface="Courier New" panose="02070309020205020404" pitchFamily="49" charset="0"/>
              </a:rPr>
              <a:t>        ▼</a:t>
            </a:r>
          </a:p>
          <a:p>
            <a:pPr rtl="0">
              <a:buNone/>
            </a:pPr>
            <a:r>
              <a:rPr lang="en-IN" dirty="0">
                <a:latin typeface="Courier New" panose="02070309020205020404" pitchFamily="49" charset="0"/>
              </a:rPr>
              <a:t>Current Boot</a:t>
            </a:r>
          </a:p>
          <a:p>
            <a:pPr rtl="0">
              <a:buNone/>
            </a:pPr>
            <a:r>
              <a:rPr lang="en-IN" dirty="0">
                <a:latin typeface="Courier New" panose="02070309020205020404" pitchFamily="49" charset="0"/>
              </a:rPr>
              <a:t>        │</a:t>
            </a:r>
          </a:p>
          <a:p>
            <a:pPr rtl="0">
              <a:buNone/>
            </a:pPr>
            <a:r>
              <a:rPr lang="en-IN" dirty="0">
                <a:latin typeface="Courier New" panose="02070309020205020404" pitchFamily="49" charset="0"/>
              </a:rPr>
              <a:t>Same? ✔ VM looks healthy</a:t>
            </a:r>
          </a:p>
          <a:p>
            <a:pPr rtl="0">
              <a:buNone/>
            </a:pPr>
            <a:endParaRPr lang="en-IN" dirty="0">
              <a:latin typeface="Courier New" panose="02070309020205020404" pitchFamily="49" charset="0"/>
            </a:endParaRPr>
          </a:p>
          <a:p>
            <a:pPr rtl="0">
              <a:buNone/>
            </a:pPr>
            <a:r>
              <a:rPr lang="en-IN" dirty="0">
                <a:latin typeface="Courier New" panose="02070309020205020404" pitchFamily="49" charset="0"/>
              </a:rPr>
              <a:t>Different? ❌ Generate security alert</a:t>
            </a:r>
          </a:p>
          <a:p>
            <a:pPr>
              <a:buNone/>
            </a:pPr>
            <a:r>
              <a:rPr lang="en-IN" dirty="0"/>
              <a:t>If someone changes:</a:t>
            </a:r>
          </a:p>
          <a:p>
            <a:pPr>
              <a:buFont typeface="Arial" panose="020B0604020202020204" pitchFamily="34" charset="0"/>
              <a:buChar char="•"/>
            </a:pPr>
            <a:r>
              <a:rPr lang="en-IN" dirty="0"/>
              <a:t>Firmware  , Boot loader ,Kernel ,Boot configuration </a:t>
            </a:r>
          </a:p>
          <a:p>
            <a:pPr>
              <a:buNone/>
            </a:pPr>
            <a:r>
              <a:rPr lang="en-IN" dirty="0"/>
              <a:t>Azure can detect it and raise an alert.</a:t>
            </a:r>
          </a:p>
          <a:p>
            <a:pPr>
              <a:buNone/>
            </a:pPr>
            <a:r>
              <a:rPr lang="en-IN" dirty="0"/>
              <a:t>This feature integrates with </a:t>
            </a:r>
            <a:r>
              <a:rPr lang="en-IN" b="1" dirty="0"/>
              <a:t>Microsoft Defender for Cloud</a:t>
            </a:r>
            <a:r>
              <a:rPr lang="en-IN" dirty="0"/>
              <a:t>.</a:t>
            </a:r>
          </a:p>
        </p:txBody>
      </p:sp>
    </p:spTree>
    <p:extLst>
      <p:ext uri="{BB962C8B-B14F-4D97-AF65-F5344CB8AC3E}">
        <p14:creationId xmlns:p14="http://schemas.microsoft.com/office/powerpoint/2010/main" val="364893418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9EEA6-A397-7C0B-3EF0-F117020503E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9E22F17-495A-D647-99FD-EC7D7F231962}"/>
              </a:ext>
            </a:extLst>
          </p:cNvPr>
          <p:cNvSpPr txBox="1"/>
          <p:nvPr/>
        </p:nvSpPr>
        <p:spPr>
          <a:xfrm>
            <a:off x="128337" y="80807"/>
            <a:ext cx="6096000" cy="2862322"/>
          </a:xfrm>
          <a:prstGeom prst="rect">
            <a:avLst/>
          </a:prstGeom>
          <a:noFill/>
        </p:spPr>
        <p:txBody>
          <a:bodyPr wrap="square">
            <a:spAutoFit/>
          </a:bodyPr>
          <a:lstStyle/>
          <a:p>
            <a:pPr>
              <a:buNone/>
            </a:pPr>
            <a:r>
              <a:rPr lang="en-IN" b="1" dirty="0"/>
              <a:t>What is an Azure Spot VM?</a:t>
            </a:r>
          </a:p>
          <a:p>
            <a:pPr>
              <a:buNone/>
            </a:pPr>
            <a:r>
              <a:rPr lang="en-IN" dirty="0"/>
              <a:t>An </a:t>
            </a:r>
            <a:r>
              <a:rPr lang="en-IN" b="1" dirty="0"/>
              <a:t>Azure Spot VM</a:t>
            </a:r>
            <a:r>
              <a:rPr lang="en-IN" dirty="0"/>
              <a:t> is an Azure virtual machine that uses </a:t>
            </a:r>
            <a:r>
              <a:rPr lang="en-IN" b="1" dirty="0"/>
              <a:t>unused (spare) capacity</a:t>
            </a:r>
            <a:r>
              <a:rPr lang="en-IN" dirty="0"/>
              <a:t> in Microsoft's datacenters. Because Azure can reclaim that capacity at any time, Spot VMs are offered at a </a:t>
            </a:r>
            <a:r>
              <a:rPr lang="en-IN" b="1" dirty="0"/>
              <a:t>significantly lower price</a:t>
            </a:r>
            <a:r>
              <a:rPr lang="en-IN" dirty="0"/>
              <a:t> than regular VMs.</a:t>
            </a:r>
          </a:p>
          <a:p>
            <a:pPr>
              <a:buNone/>
            </a:pPr>
            <a:r>
              <a:rPr lang="en-IN" dirty="0"/>
              <a:t>Think of it like this:</a:t>
            </a:r>
          </a:p>
          <a:p>
            <a:pPr>
              <a:buNone/>
            </a:pPr>
            <a:r>
              <a:rPr lang="en-IN" dirty="0"/>
              <a:t>Azure has many servers. If some are sitting idle, Azure rents them at a big discount. But if another customer needs that capacity, Azure can take the Spot VM back.</a:t>
            </a:r>
          </a:p>
        </p:txBody>
      </p:sp>
      <p:sp>
        <p:nvSpPr>
          <p:cNvPr id="6" name="TextBox 5">
            <a:extLst>
              <a:ext uri="{FF2B5EF4-FFF2-40B4-BE49-F238E27FC236}">
                <a16:creationId xmlns:a16="http://schemas.microsoft.com/office/drawing/2014/main" id="{C2C2D1C5-ECC2-6306-762B-A91360FC0A70}"/>
              </a:ext>
            </a:extLst>
          </p:cNvPr>
          <p:cNvSpPr txBox="1"/>
          <p:nvPr/>
        </p:nvSpPr>
        <p:spPr>
          <a:xfrm>
            <a:off x="6096000" y="0"/>
            <a:ext cx="6096000" cy="7017306"/>
          </a:xfrm>
          <a:prstGeom prst="rect">
            <a:avLst/>
          </a:prstGeom>
          <a:noFill/>
        </p:spPr>
        <p:txBody>
          <a:bodyPr wrap="square">
            <a:spAutoFit/>
          </a:bodyPr>
          <a:lstStyle/>
          <a:p>
            <a:pPr>
              <a:buNone/>
            </a:pPr>
            <a:r>
              <a:rPr lang="en-IN" b="1" dirty="0"/>
              <a:t>How it works</a:t>
            </a:r>
          </a:p>
          <a:p>
            <a:pPr>
              <a:buNone/>
            </a:pPr>
            <a:r>
              <a:rPr lang="en-IN" b="1" dirty="0"/>
              <a:t>Regular VM</a:t>
            </a:r>
          </a:p>
          <a:p>
            <a:pPr rtl="0">
              <a:buNone/>
            </a:pPr>
            <a:r>
              <a:rPr lang="en-IN" dirty="0">
                <a:latin typeface="Courier New" panose="02070309020205020404" pitchFamily="49" charset="0"/>
              </a:rPr>
              <a:t>You request a VM</a:t>
            </a:r>
          </a:p>
          <a:p>
            <a:pPr rtl="0">
              <a:buNone/>
            </a:pPr>
            <a:r>
              <a:rPr lang="en-IN" dirty="0">
                <a:latin typeface="Courier New" panose="02070309020205020404" pitchFamily="49" charset="0"/>
              </a:rPr>
              <a:t>        │</a:t>
            </a:r>
          </a:p>
          <a:p>
            <a:pPr rtl="0">
              <a:buNone/>
            </a:pPr>
            <a:r>
              <a:rPr lang="en-IN" dirty="0">
                <a:latin typeface="Courier New" panose="02070309020205020404" pitchFamily="49" charset="0"/>
              </a:rPr>
              <a:t>        ▼</a:t>
            </a:r>
          </a:p>
          <a:p>
            <a:pPr rtl="0">
              <a:buNone/>
            </a:pPr>
            <a:r>
              <a:rPr lang="en-IN" dirty="0">
                <a:latin typeface="Courier New" panose="02070309020205020404" pitchFamily="49" charset="0"/>
              </a:rPr>
              <a:t>Azure creates the VM</a:t>
            </a:r>
          </a:p>
          <a:p>
            <a:pPr rtl="0">
              <a:buNone/>
            </a:pPr>
            <a:r>
              <a:rPr lang="en-IN" dirty="0">
                <a:latin typeface="Courier New" panose="02070309020205020404" pitchFamily="49" charset="0"/>
              </a:rPr>
              <a:t>        │</a:t>
            </a:r>
          </a:p>
          <a:p>
            <a:pPr rtl="0">
              <a:buNone/>
            </a:pPr>
            <a:r>
              <a:rPr lang="en-IN" dirty="0">
                <a:latin typeface="Courier New" panose="02070309020205020404" pitchFamily="49" charset="0"/>
              </a:rPr>
              <a:t>        ▼</a:t>
            </a:r>
          </a:p>
          <a:p>
            <a:pPr rtl="0">
              <a:buNone/>
            </a:pPr>
            <a:r>
              <a:rPr lang="en-IN" dirty="0">
                <a:latin typeface="Courier New" panose="02070309020205020404" pitchFamily="49" charset="0"/>
              </a:rPr>
              <a:t>VM keeps running until you stop or delete it</a:t>
            </a:r>
          </a:p>
          <a:p>
            <a:pPr>
              <a:buNone/>
            </a:pPr>
            <a:r>
              <a:rPr lang="en-IN" b="1" dirty="0"/>
              <a:t>Spot VM</a:t>
            </a:r>
          </a:p>
          <a:p>
            <a:pPr rtl="0">
              <a:buNone/>
            </a:pPr>
            <a:r>
              <a:rPr lang="en-IN" dirty="0">
                <a:latin typeface="Courier New" panose="02070309020205020404" pitchFamily="49" charset="0"/>
              </a:rPr>
              <a:t>You request a Spot VM</a:t>
            </a:r>
          </a:p>
          <a:p>
            <a:pPr rtl="0">
              <a:buNone/>
            </a:pPr>
            <a:r>
              <a:rPr lang="en-IN" dirty="0">
                <a:latin typeface="Courier New" panose="02070309020205020404" pitchFamily="49" charset="0"/>
              </a:rPr>
              <a:t>        │</a:t>
            </a:r>
          </a:p>
          <a:p>
            <a:pPr rtl="0">
              <a:buNone/>
            </a:pPr>
            <a:r>
              <a:rPr lang="en-IN" dirty="0">
                <a:latin typeface="Courier New" panose="02070309020205020404" pitchFamily="49" charset="0"/>
              </a:rPr>
              <a:t>        ▼</a:t>
            </a:r>
          </a:p>
          <a:p>
            <a:pPr rtl="0">
              <a:buNone/>
            </a:pPr>
            <a:r>
              <a:rPr lang="en-IN" dirty="0">
                <a:latin typeface="Courier New" panose="02070309020205020404" pitchFamily="49" charset="0"/>
              </a:rPr>
              <a:t>Azure uses spare capacity</a:t>
            </a:r>
          </a:p>
          <a:p>
            <a:pPr rtl="0">
              <a:buNone/>
            </a:pPr>
            <a:r>
              <a:rPr lang="en-IN" dirty="0">
                <a:latin typeface="Courier New" panose="02070309020205020404" pitchFamily="49" charset="0"/>
              </a:rPr>
              <a:t>        │</a:t>
            </a:r>
          </a:p>
          <a:p>
            <a:pPr rtl="0">
              <a:buNone/>
            </a:pPr>
            <a:r>
              <a:rPr lang="en-IN" dirty="0">
                <a:latin typeface="Courier New" panose="02070309020205020404" pitchFamily="49" charset="0"/>
              </a:rPr>
              <a:t>        ▼</a:t>
            </a:r>
          </a:p>
          <a:p>
            <a:pPr rtl="0">
              <a:buNone/>
            </a:pPr>
            <a:r>
              <a:rPr lang="en-IN" dirty="0">
                <a:latin typeface="Courier New" panose="02070309020205020404" pitchFamily="49" charset="0"/>
              </a:rPr>
              <a:t>VM runs normally</a:t>
            </a:r>
          </a:p>
          <a:p>
            <a:pPr rtl="0">
              <a:buNone/>
            </a:pPr>
            <a:r>
              <a:rPr lang="en-IN" dirty="0">
                <a:latin typeface="Courier New" panose="02070309020205020404" pitchFamily="49" charset="0"/>
              </a:rPr>
              <a:t>        │</a:t>
            </a:r>
          </a:p>
          <a:p>
            <a:pPr rtl="0">
              <a:buNone/>
            </a:pPr>
            <a:r>
              <a:rPr lang="en-IN" dirty="0">
                <a:latin typeface="Courier New" panose="02070309020205020404" pitchFamily="49" charset="0"/>
              </a:rPr>
              <a:t>        ▼</a:t>
            </a:r>
          </a:p>
          <a:p>
            <a:pPr rtl="0">
              <a:buNone/>
            </a:pPr>
            <a:r>
              <a:rPr lang="en-IN" dirty="0">
                <a:latin typeface="Courier New" panose="02070309020205020404" pitchFamily="49" charset="0"/>
              </a:rPr>
              <a:t>Azure needs the capacity</a:t>
            </a:r>
          </a:p>
          <a:p>
            <a:pPr rtl="0">
              <a:buNone/>
            </a:pPr>
            <a:r>
              <a:rPr lang="en-IN" dirty="0">
                <a:latin typeface="Courier New" panose="02070309020205020404" pitchFamily="49" charset="0"/>
              </a:rPr>
              <a:t>        │</a:t>
            </a:r>
          </a:p>
          <a:p>
            <a:pPr rtl="0">
              <a:buNone/>
            </a:pPr>
            <a:r>
              <a:rPr lang="en-IN" dirty="0">
                <a:latin typeface="Courier New" panose="02070309020205020404" pitchFamily="49" charset="0"/>
              </a:rPr>
              <a:t>        ▼</a:t>
            </a:r>
          </a:p>
          <a:p>
            <a:pPr rtl="0">
              <a:buNone/>
            </a:pPr>
            <a:r>
              <a:rPr lang="en-IN" dirty="0">
                <a:latin typeface="Courier New" panose="02070309020205020404" pitchFamily="49" charset="0"/>
              </a:rPr>
              <a:t>Spot VM may be evicted (stopped or deleted)</a:t>
            </a:r>
            <a:endParaRPr lang="en-IN" dirty="0"/>
          </a:p>
          <a:p>
            <a:pPr>
              <a:buNone/>
            </a:pPr>
            <a:endParaRPr lang="en-IN" dirty="0"/>
          </a:p>
        </p:txBody>
      </p:sp>
      <p:sp>
        <p:nvSpPr>
          <p:cNvPr id="8" name="TextBox 7">
            <a:extLst>
              <a:ext uri="{FF2B5EF4-FFF2-40B4-BE49-F238E27FC236}">
                <a16:creationId xmlns:a16="http://schemas.microsoft.com/office/drawing/2014/main" id="{CF3A6637-0A79-C514-AAA8-3B122F2062AE}"/>
              </a:ext>
            </a:extLst>
          </p:cNvPr>
          <p:cNvSpPr txBox="1"/>
          <p:nvPr/>
        </p:nvSpPr>
        <p:spPr>
          <a:xfrm>
            <a:off x="1646321" y="3985736"/>
            <a:ext cx="3310690" cy="2585323"/>
          </a:xfrm>
          <a:prstGeom prst="rect">
            <a:avLst/>
          </a:prstGeom>
          <a:noFill/>
        </p:spPr>
        <p:txBody>
          <a:bodyPr wrap="square">
            <a:spAutoFit/>
          </a:bodyPr>
          <a:lstStyle/>
          <a:p>
            <a:pPr>
              <a:buNone/>
            </a:pPr>
            <a:r>
              <a:rPr lang="en-IN" b="1" dirty="0"/>
              <a:t>Why is it cheaper?</a:t>
            </a:r>
          </a:p>
          <a:p>
            <a:pPr>
              <a:buNone/>
            </a:pPr>
            <a:r>
              <a:rPr lang="en-IN" dirty="0"/>
              <a:t>A regular VM reserves capacity for you.</a:t>
            </a:r>
          </a:p>
          <a:p>
            <a:pPr>
              <a:buNone/>
            </a:pPr>
            <a:r>
              <a:rPr lang="en-IN" dirty="0"/>
              <a:t>A Spot VM </a:t>
            </a:r>
            <a:r>
              <a:rPr lang="en-IN" b="1" dirty="0"/>
              <a:t>does not reserve capacity</a:t>
            </a:r>
            <a:r>
              <a:rPr lang="en-IN" dirty="0"/>
              <a:t>. Azure can reclaim it whenever capacity is needed elsewhere.</a:t>
            </a:r>
          </a:p>
          <a:p>
            <a:pPr>
              <a:buNone/>
            </a:pPr>
            <a:r>
              <a:rPr lang="en-IN" dirty="0"/>
              <a:t>That's why Spot VMs can be much cheaper.</a:t>
            </a:r>
          </a:p>
        </p:txBody>
      </p:sp>
    </p:spTree>
    <p:extLst>
      <p:ext uri="{BB962C8B-B14F-4D97-AF65-F5344CB8AC3E}">
        <p14:creationId xmlns:p14="http://schemas.microsoft.com/office/powerpoint/2010/main" val="17858521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3021F7-306E-C50A-4DED-569829047F1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48F1561-9116-9C31-7CEC-95168636437E}"/>
              </a:ext>
            </a:extLst>
          </p:cNvPr>
          <p:cNvSpPr txBox="1"/>
          <p:nvPr/>
        </p:nvSpPr>
        <p:spPr>
          <a:xfrm>
            <a:off x="312821" y="150311"/>
            <a:ext cx="6096000" cy="4524315"/>
          </a:xfrm>
          <a:prstGeom prst="rect">
            <a:avLst/>
          </a:prstGeom>
          <a:noFill/>
        </p:spPr>
        <p:txBody>
          <a:bodyPr wrap="square">
            <a:spAutoFit/>
          </a:bodyPr>
          <a:lstStyle/>
          <a:p>
            <a:pPr>
              <a:buNone/>
            </a:pPr>
            <a:r>
              <a:rPr lang="en-IN" b="1" dirty="0"/>
              <a:t>Best use cases</a:t>
            </a:r>
          </a:p>
          <a:p>
            <a:pPr>
              <a:buNone/>
            </a:pPr>
            <a:r>
              <a:rPr lang="en-IN" dirty="0"/>
              <a:t>Spot VMs are ideal for work that can be interrupted and restarted:</a:t>
            </a:r>
          </a:p>
          <a:p>
            <a:pPr>
              <a:buFont typeface="Arial" panose="020B0604020202020204" pitchFamily="34" charset="0"/>
              <a:buChar char="•"/>
            </a:pPr>
            <a:r>
              <a:rPr lang="en-IN" dirty="0"/>
              <a:t>Batch processing </a:t>
            </a:r>
          </a:p>
          <a:p>
            <a:pPr>
              <a:buFont typeface="Arial" panose="020B0604020202020204" pitchFamily="34" charset="0"/>
              <a:buChar char="•"/>
            </a:pPr>
            <a:r>
              <a:rPr lang="en-IN" dirty="0"/>
              <a:t>Video transcoding </a:t>
            </a:r>
          </a:p>
          <a:p>
            <a:pPr>
              <a:buFont typeface="Arial" panose="020B0604020202020204" pitchFamily="34" charset="0"/>
              <a:buChar char="•"/>
            </a:pPr>
            <a:r>
              <a:rPr lang="en-IN" dirty="0"/>
              <a:t>Image rendering </a:t>
            </a:r>
          </a:p>
          <a:p>
            <a:pPr>
              <a:buFont typeface="Arial" panose="020B0604020202020204" pitchFamily="34" charset="0"/>
              <a:buChar char="•"/>
            </a:pPr>
            <a:r>
              <a:rPr lang="en-IN" dirty="0"/>
              <a:t>AI model training </a:t>
            </a:r>
          </a:p>
          <a:p>
            <a:pPr>
              <a:buFont typeface="Arial" panose="020B0604020202020204" pitchFamily="34" charset="0"/>
              <a:buChar char="•"/>
            </a:pPr>
            <a:r>
              <a:rPr lang="en-IN" dirty="0"/>
              <a:t>HPC simulations </a:t>
            </a:r>
          </a:p>
          <a:p>
            <a:pPr>
              <a:buFont typeface="Arial" panose="020B0604020202020204" pitchFamily="34" charset="0"/>
              <a:buChar char="•"/>
            </a:pPr>
            <a:r>
              <a:rPr lang="en-IN" dirty="0"/>
              <a:t>Data analysis </a:t>
            </a:r>
          </a:p>
          <a:p>
            <a:pPr>
              <a:buFont typeface="Arial" panose="020B0604020202020204" pitchFamily="34" charset="0"/>
              <a:buChar char="•"/>
            </a:pPr>
            <a:r>
              <a:rPr lang="en-IN" dirty="0"/>
              <a:t>CI/CD build agents </a:t>
            </a:r>
          </a:p>
          <a:p>
            <a:pPr>
              <a:buFont typeface="Arial" panose="020B0604020202020204" pitchFamily="34" charset="0"/>
              <a:buChar char="•"/>
            </a:pPr>
            <a:r>
              <a:rPr lang="en-IN" dirty="0"/>
              <a:t>Software testing </a:t>
            </a:r>
          </a:p>
          <a:p>
            <a:pPr>
              <a:buFont typeface="Arial" panose="020B0604020202020204" pitchFamily="34" charset="0"/>
              <a:buChar char="•"/>
            </a:pPr>
            <a:r>
              <a:rPr lang="en-IN" dirty="0"/>
              <a:t>Scientific research </a:t>
            </a:r>
          </a:p>
          <a:p>
            <a:pPr>
              <a:buNone/>
            </a:pPr>
            <a:r>
              <a:rPr lang="en-IN" dirty="0"/>
              <a:t>For example, if you need to process </a:t>
            </a:r>
            <a:r>
              <a:rPr lang="en-IN" b="1" dirty="0"/>
              <a:t>10 million </a:t>
            </a:r>
          </a:p>
          <a:p>
            <a:pPr>
              <a:buNone/>
            </a:pPr>
            <a:r>
              <a:rPr lang="en-IN" b="1" dirty="0"/>
              <a:t>images</a:t>
            </a:r>
            <a:r>
              <a:rPr lang="en-IN" dirty="0"/>
              <a:t>, you can run hundreds of Spot VMs. </a:t>
            </a:r>
          </a:p>
          <a:p>
            <a:pPr>
              <a:buNone/>
            </a:pPr>
            <a:r>
              <a:rPr lang="en-IN" dirty="0"/>
              <a:t>If a few are evicted, your application </a:t>
            </a:r>
          </a:p>
          <a:p>
            <a:pPr>
              <a:buNone/>
            </a:pPr>
            <a:r>
              <a:rPr lang="en-IN" dirty="0"/>
              <a:t>simply restarts those tasks on other VMs.</a:t>
            </a:r>
          </a:p>
        </p:txBody>
      </p:sp>
      <p:sp>
        <p:nvSpPr>
          <p:cNvPr id="7" name="TextBox 6">
            <a:extLst>
              <a:ext uri="{FF2B5EF4-FFF2-40B4-BE49-F238E27FC236}">
                <a16:creationId xmlns:a16="http://schemas.microsoft.com/office/drawing/2014/main" id="{651F970B-B642-4669-4590-09A0539B5A73}"/>
              </a:ext>
            </a:extLst>
          </p:cNvPr>
          <p:cNvSpPr txBox="1"/>
          <p:nvPr/>
        </p:nvSpPr>
        <p:spPr>
          <a:xfrm>
            <a:off x="5783179" y="117693"/>
            <a:ext cx="6096000" cy="6740307"/>
          </a:xfrm>
          <a:prstGeom prst="rect">
            <a:avLst/>
          </a:prstGeom>
          <a:noFill/>
        </p:spPr>
        <p:txBody>
          <a:bodyPr wrap="square">
            <a:spAutoFit/>
          </a:bodyPr>
          <a:lstStyle/>
          <a:p>
            <a:pPr>
              <a:buNone/>
            </a:pPr>
            <a:r>
              <a:rPr lang="en-IN" b="1" dirty="0"/>
              <a:t>Not suitable for</a:t>
            </a:r>
          </a:p>
          <a:p>
            <a:pPr>
              <a:buNone/>
            </a:pPr>
            <a:r>
              <a:rPr lang="en-IN" dirty="0"/>
              <a:t>Avoid Spot VMs for workloads that must stay online continuously, such as:</a:t>
            </a:r>
          </a:p>
          <a:p>
            <a:pPr>
              <a:buFont typeface="Arial" panose="020B0604020202020204" pitchFamily="34" charset="0"/>
              <a:buChar char="•"/>
            </a:pPr>
            <a:r>
              <a:rPr lang="en-IN" dirty="0"/>
              <a:t>Production web servers </a:t>
            </a:r>
          </a:p>
          <a:p>
            <a:pPr>
              <a:buFont typeface="Arial" panose="020B0604020202020204" pitchFamily="34" charset="0"/>
              <a:buChar char="•"/>
            </a:pPr>
            <a:r>
              <a:rPr lang="en-IN" dirty="0"/>
              <a:t>SQL databases </a:t>
            </a:r>
          </a:p>
          <a:p>
            <a:pPr>
              <a:buFont typeface="Arial" panose="020B0604020202020204" pitchFamily="34" charset="0"/>
              <a:buChar char="•"/>
            </a:pPr>
            <a:r>
              <a:rPr lang="en-IN" dirty="0"/>
              <a:t>Domain controllers </a:t>
            </a:r>
          </a:p>
          <a:p>
            <a:pPr>
              <a:buFont typeface="Arial" panose="020B0604020202020204" pitchFamily="34" charset="0"/>
              <a:buChar char="•"/>
            </a:pPr>
            <a:r>
              <a:rPr lang="en-IN" dirty="0"/>
              <a:t>ERP systems </a:t>
            </a:r>
          </a:p>
          <a:p>
            <a:pPr>
              <a:buFont typeface="Arial" panose="020B0604020202020204" pitchFamily="34" charset="0"/>
              <a:buChar char="•"/>
            </a:pPr>
            <a:r>
              <a:rPr lang="en-IN" dirty="0"/>
              <a:t>Banking applications </a:t>
            </a:r>
          </a:p>
          <a:p>
            <a:pPr>
              <a:buFont typeface="Arial" panose="020B0604020202020204" pitchFamily="34" charset="0"/>
              <a:buChar char="•"/>
            </a:pPr>
            <a:r>
              <a:rPr lang="en-IN" dirty="0"/>
              <a:t>Real-time payment systems </a:t>
            </a:r>
          </a:p>
          <a:p>
            <a:pPr>
              <a:buNone/>
            </a:pPr>
            <a:r>
              <a:rPr lang="en-IN" dirty="0"/>
              <a:t>These workloads require guaranteed availability.</a:t>
            </a:r>
          </a:p>
          <a:p>
            <a:pPr>
              <a:buNone/>
            </a:pPr>
            <a:br>
              <a:rPr lang="en-IN" dirty="0"/>
            </a:br>
            <a:endParaRPr lang="en-IN" dirty="0"/>
          </a:p>
          <a:p>
            <a:pPr>
              <a:buNone/>
            </a:pPr>
            <a:r>
              <a:rPr lang="en-IN" b="1" dirty="0"/>
              <a:t>Eviction policies</a:t>
            </a:r>
          </a:p>
          <a:p>
            <a:pPr>
              <a:buNone/>
            </a:pPr>
            <a:r>
              <a:rPr lang="en-IN" dirty="0"/>
              <a:t>When Azure needs the capacity back, it can evict the Spot VM.</a:t>
            </a:r>
          </a:p>
          <a:p>
            <a:pPr>
              <a:buNone/>
            </a:pPr>
            <a:r>
              <a:rPr lang="en-IN" dirty="0"/>
              <a:t>You can choose what happens:</a:t>
            </a:r>
          </a:p>
          <a:p>
            <a:pPr>
              <a:buNone/>
            </a:pPr>
            <a:r>
              <a:rPr lang="en-IN" b="1" dirty="0"/>
              <a:t>Stop/Deallocate</a:t>
            </a:r>
          </a:p>
          <a:p>
            <a:pPr>
              <a:buFont typeface="Arial" panose="020B0604020202020204" pitchFamily="34" charset="0"/>
              <a:buChar char="•"/>
            </a:pPr>
            <a:r>
              <a:rPr lang="en-IN" dirty="0"/>
              <a:t>VM is stopped. </a:t>
            </a:r>
          </a:p>
          <a:p>
            <a:pPr>
              <a:buFont typeface="Arial" panose="020B0604020202020204" pitchFamily="34" charset="0"/>
              <a:buChar char="•"/>
            </a:pPr>
            <a:r>
              <a:rPr lang="en-IN" dirty="0"/>
              <a:t>OS and data disks remain. </a:t>
            </a:r>
          </a:p>
          <a:p>
            <a:pPr>
              <a:buFont typeface="Arial" panose="020B0604020202020204" pitchFamily="34" charset="0"/>
              <a:buChar char="•"/>
            </a:pPr>
            <a:r>
              <a:rPr lang="en-IN" dirty="0"/>
              <a:t>You can restart the VM later if capacity becomes available. </a:t>
            </a:r>
          </a:p>
          <a:p>
            <a:pPr>
              <a:buNone/>
            </a:pPr>
            <a:r>
              <a:rPr lang="en-IN" b="1" dirty="0"/>
              <a:t>Delete</a:t>
            </a:r>
          </a:p>
          <a:p>
            <a:pPr>
              <a:buFont typeface="Arial" panose="020B0604020202020204" pitchFamily="34" charset="0"/>
              <a:buChar char="•"/>
            </a:pPr>
            <a:r>
              <a:rPr lang="en-IN" dirty="0"/>
              <a:t>VM is deleted. </a:t>
            </a:r>
          </a:p>
          <a:p>
            <a:pPr>
              <a:buFont typeface="Arial" panose="020B0604020202020204" pitchFamily="34" charset="0"/>
              <a:buChar char="•"/>
            </a:pPr>
            <a:r>
              <a:rPr lang="en-IN" dirty="0"/>
              <a:t>Managed disks can optionally be retained, depending on your configuration. </a:t>
            </a:r>
          </a:p>
        </p:txBody>
      </p:sp>
    </p:spTree>
    <p:extLst>
      <p:ext uri="{BB962C8B-B14F-4D97-AF65-F5344CB8AC3E}">
        <p14:creationId xmlns:p14="http://schemas.microsoft.com/office/powerpoint/2010/main" val="317161322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0D929E-F172-EF2C-DA5A-CBB09B91BCE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951A36D-EFE5-881A-5067-73BC40573E6D}"/>
              </a:ext>
            </a:extLst>
          </p:cNvPr>
          <p:cNvSpPr txBox="1"/>
          <p:nvPr/>
        </p:nvSpPr>
        <p:spPr>
          <a:xfrm>
            <a:off x="617621" y="197346"/>
            <a:ext cx="11269579" cy="4801314"/>
          </a:xfrm>
          <a:prstGeom prst="rect">
            <a:avLst/>
          </a:prstGeom>
          <a:noFill/>
        </p:spPr>
        <p:txBody>
          <a:bodyPr wrap="square">
            <a:spAutoFit/>
          </a:bodyPr>
          <a:lstStyle/>
          <a:p>
            <a:pPr>
              <a:buNone/>
            </a:pPr>
            <a:r>
              <a:rPr lang="en-IN" dirty="0"/>
              <a:t>The option you're seeing is </a:t>
            </a:r>
            <a:r>
              <a:rPr lang="en-IN" b="1" dirty="0"/>
              <a:t>Ephemeral OS Disk</a:t>
            </a:r>
            <a:r>
              <a:rPr lang="en-IN" dirty="0"/>
              <a:t>. This is a special way to store the </a:t>
            </a:r>
            <a:r>
              <a:rPr lang="en-IN" b="1" dirty="0"/>
              <a:t>operating system disk</a:t>
            </a:r>
            <a:r>
              <a:rPr lang="en-IN" dirty="0"/>
              <a:t> of an Azure VM.</a:t>
            </a:r>
          </a:p>
          <a:p>
            <a:pPr>
              <a:buNone/>
            </a:pPr>
            <a:r>
              <a:rPr lang="en-IN" b="1" dirty="0"/>
              <a:t>What is an Ephemeral OS Disk?</a:t>
            </a:r>
          </a:p>
          <a:p>
            <a:pPr>
              <a:buNone/>
            </a:pPr>
            <a:r>
              <a:rPr lang="en-IN" dirty="0"/>
              <a:t>Normally, the operating system (Windows or Linux) is stored on a </a:t>
            </a:r>
            <a:r>
              <a:rPr lang="en-IN" b="1" dirty="0"/>
              <a:t>Managed Disk</a:t>
            </a:r>
            <a:r>
              <a:rPr lang="en-IN" dirty="0"/>
              <a:t>.</a:t>
            </a:r>
          </a:p>
          <a:p>
            <a:pPr rtl="0">
              <a:buNone/>
            </a:pPr>
            <a:r>
              <a:rPr lang="en-IN" dirty="0">
                <a:latin typeface="Courier New" panose="02070309020205020404" pitchFamily="49" charset="0"/>
              </a:rPr>
              <a:t>Managed Disk</a:t>
            </a:r>
          </a:p>
          <a:p>
            <a:pPr rtl="0">
              <a:buNone/>
            </a:pPr>
            <a:r>
              <a:rPr lang="en-IN" dirty="0">
                <a:latin typeface="Courier New" panose="02070309020205020404" pitchFamily="49" charset="0"/>
              </a:rPr>
              <a:t>     │</a:t>
            </a:r>
          </a:p>
          <a:p>
            <a:pPr rtl="0">
              <a:buNone/>
            </a:pPr>
            <a:r>
              <a:rPr lang="en-IN" dirty="0">
                <a:latin typeface="Courier New" panose="02070309020205020404" pitchFamily="49" charset="0"/>
              </a:rPr>
              <a:t>     ▼</a:t>
            </a:r>
          </a:p>
          <a:p>
            <a:pPr rtl="0">
              <a:buNone/>
            </a:pPr>
            <a:r>
              <a:rPr lang="en-IN" dirty="0">
                <a:latin typeface="Courier New" panose="02070309020205020404" pitchFamily="49" charset="0"/>
              </a:rPr>
              <a:t>Windows/Linux OS</a:t>
            </a:r>
          </a:p>
          <a:p>
            <a:pPr>
              <a:buNone/>
            </a:pPr>
            <a:r>
              <a:rPr lang="en-IN" dirty="0"/>
              <a:t>With an </a:t>
            </a:r>
            <a:r>
              <a:rPr lang="en-IN" b="1" dirty="0"/>
              <a:t>Ephemeral OS Disk</a:t>
            </a:r>
            <a:r>
              <a:rPr lang="en-IN" dirty="0"/>
              <a:t>, Azure stores the operating system on the </a:t>
            </a:r>
            <a:r>
              <a:rPr lang="en-IN" b="1" dirty="0"/>
              <a:t>physical disk inside the host server</a:t>
            </a:r>
            <a:r>
              <a:rPr lang="en-IN" dirty="0"/>
              <a:t> instead of a managed disk.</a:t>
            </a:r>
          </a:p>
          <a:p>
            <a:pPr rtl="0">
              <a:buNone/>
            </a:pPr>
            <a:r>
              <a:rPr lang="en-IN" dirty="0">
                <a:latin typeface="Courier New" panose="02070309020205020404" pitchFamily="49" charset="0"/>
              </a:rPr>
              <a:t>Azure Host Server</a:t>
            </a:r>
          </a:p>
          <a:p>
            <a:pPr rtl="0">
              <a:buNone/>
            </a:pPr>
            <a:r>
              <a:rPr lang="en-IN" dirty="0">
                <a:latin typeface="Courier New" panose="02070309020205020404" pitchFamily="49" charset="0"/>
              </a:rPr>
              <a:t>┌───────────────────────────┐</a:t>
            </a:r>
          </a:p>
          <a:p>
            <a:pPr rtl="0">
              <a:buNone/>
            </a:pPr>
            <a:r>
              <a:rPr lang="en-IN" dirty="0">
                <a:latin typeface="Courier New" panose="02070309020205020404" pitchFamily="49" charset="0"/>
              </a:rPr>
              <a:t>│ CPU                       │</a:t>
            </a:r>
          </a:p>
          <a:p>
            <a:pPr rtl="0">
              <a:buNone/>
            </a:pPr>
            <a:r>
              <a:rPr lang="en-IN" dirty="0">
                <a:latin typeface="Courier New" panose="02070309020205020404" pitchFamily="49" charset="0"/>
              </a:rPr>
              <a:t>│ Memory                    │</a:t>
            </a:r>
          </a:p>
          <a:p>
            <a:pPr rtl="0">
              <a:buNone/>
            </a:pPr>
            <a:r>
              <a:rPr lang="en-IN" dirty="0">
                <a:latin typeface="Courier New" panose="02070309020205020404" pitchFamily="49" charset="0"/>
              </a:rPr>
              <a:t>│ Local SSD / </a:t>
            </a:r>
            <a:r>
              <a:rPr lang="en-IN" dirty="0" err="1">
                <a:latin typeface="Courier New" panose="02070309020205020404" pitchFamily="49" charset="0"/>
              </a:rPr>
              <a:t>NVMe</a:t>
            </a:r>
            <a:r>
              <a:rPr lang="en-IN" dirty="0">
                <a:latin typeface="Courier New" panose="02070309020205020404" pitchFamily="49" charset="0"/>
              </a:rPr>
              <a:t>          │ ◄── Operating System stored here</a:t>
            </a:r>
          </a:p>
          <a:p>
            <a:pPr rtl="0">
              <a:buNone/>
            </a:pPr>
            <a:r>
              <a:rPr lang="en-IN" dirty="0">
                <a:latin typeface="Courier New" panose="02070309020205020404" pitchFamily="49" charset="0"/>
              </a:rPr>
              <a:t>└───────────────────────────┘</a:t>
            </a:r>
          </a:p>
          <a:p>
            <a:pPr>
              <a:buNone/>
            </a:pPr>
            <a:r>
              <a:rPr lang="en-IN" dirty="0"/>
              <a:t>There is </a:t>
            </a:r>
            <a:r>
              <a:rPr lang="en-IN" b="1" dirty="0"/>
              <a:t>no separate managed OS disk</a:t>
            </a:r>
            <a:r>
              <a:rPr lang="en-IN" dirty="0"/>
              <a:t>.</a:t>
            </a:r>
          </a:p>
        </p:txBody>
      </p:sp>
    </p:spTree>
    <p:extLst>
      <p:ext uri="{BB962C8B-B14F-4D97-AF65-F5344CB8AC3E}">
        <p14:creationId xmlns:p14="http://schemas.microsoft.com/office/powerpoint/2010/main" val="35712325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0C8BA9-4344-5F55-DBF4-D0AAFD0603F4}"/>
            </a:ext>
          </a:extLst>
        </p:cNvPr>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419B7EB9-A44D-9058-3381-BD1E9DF5A95D}"/>
              </a:ext>
            </a:extLst>
          </p:cNvPr>
          <p:cNvGraphicFramePr>
            <a:graphicFrameLocks noGrp="1"/>
          </p:cNvGraphicFramePr>
          <p:nvPr>
            <p:extLst>
              <p:ext uri="{D42A27DB-BD31-4B8C-83A1-F6EECF244321}">
                <p14:modId xmlns:p14="http://schemas.microsoft.com/office/powerpoint/2010/main" val="2672924051"/>
              </p:ext>
            </p:extLst>
          </p:nvPr>
        </p:nvGraphicFramePr>
        <p:xfrm>
          <a:off x="693821" y="1631875"/>
          <a:ext cx="10515600" cy="2926080"/>
        </p:xfrm>
        <a:graphic>
          <a:graphicData uri="http://schemas.openxmlformats.org/drawingml/2006/table">
            <a:tbl>
              <a:tblPr/>
              <a:tblGrid>
                <a:gridCol w="3505200">
                  <a:extLst>
                    <a:ext uri="{9D8B030D-6E8A-4147-A177-3AD203B41FA5}">
                      <a16:colId xmlns:a16="http://schemas.microsoft.com/office/drawing/2014/main" val="4249695137"/>
                    </a:ext>
                  </a:extLst>
                </a:gridCol>
                <a:gridCol w="3505200">
                  <a:extLst>
                    <a:ext uri="{9D8B030D-6E8A-4147-A177-3AD203B41FA5}">
                      <a16:colId xmlns:a16="http://schemas.microsoft.com/office/drawing/2014/main" val="4126113556"/>
                    </a:ext>
                  </a:extLst>
                </a:gridCol>
                <a:gridCol w="3505200">
                  <a:extLst>
                    <a:ext uri="{9D8B030D-6E8A-4147-A177-3AD203B41FA5}">
                      <a16:colId xmlns:a16="http://schemas.microsoft.com/office/drawing/2014/main" val="2172667585"/>
                    </a:ext>
                  </a:extLst>
                </a:gridCol>
              </a:tblGrid>
              <a:tr h="0">
                <a:tc>
                  <a:txBody>
                    <a:bodyPr/>
                    <a:lstStyle/>
                    <a:p>
                      <a:pPr>
                        <a:buNone/>
                      </a:pPr>
                      <a:r>
                        <a:rPr lang="en-IN"/>
                        <a:t>Feature</a:t>
                      </a:r>
                    </a:p>
                  </a:txBody>
                  <a:tcPr anchor="ctr">
                    <a:lnL>
                      <a:noFill/>
                    </a:lnL>
                    <a:lnR>
                      <a:noFill/>
                    </a:lnR>
                    <a:lnT>
                      <a:noFill/>
                    </a:lnT>
                    <a:lnB>
                      <a:noFill/>
                    </a:lnB>
                    <a:noFill/>
                  </a:tcPr>
                </a:tc>
                <a:tc>
                  <a:txBody>
                    <a:bodyPr/>
                    <a:lstStyle/>
                    <a:p>
                      <a:pPr>
                        <a:buNone/>
                      </a:pPr>
                      <a:r>
                        <a:rPr lang="en-IN"/>
                        <a:t>Managed OS Disk</a:t>
                      </a:r>
                    </a:p>
                  </a:txBody>
                  <a:tcPr anchor="ctr">
                    <a:lnL>
                      <a:noFill/>
                    </a:lnL>
                    <a:lnR>
                      <a:noFill/>
                    </a:lnR>
                    <a:lnT>
                      <a:noFill/>
                    </a:lnT>
                    <a:lnB>
                      <a:noFill/>
                    </a:lnB>
                    <a:noFill/>
                  </a:tcPr>
                </a:tc>
                <a:tc>
                  <a:txBody>
                    <a:bodyPr/>
                    <a:lstStyle/>
                    <a:p>
                      <a:pPr>
                        <a:buNone/>
                      </a:pPr>
                      <a:r>
                        <a:rPr lang="en-IN"/>
                        <a:t>Ephemeral OS Disk</a:t>
                      </a:r>
                    </a:p>
                  </a:txBody>
                  <a:tcPr anchor="ctr">
                    <a:lnL>
                      <a:noFill/>
                    </a:lnL>
                    <a:lnR>
                      <a:noFill/>
                    </a:lnR>
                    <a:lnT>
                      <a:noFill/>
                    </a:lnT>
                    <a:lnB>
                      <a:noFill/>
                    </a:lnB>
                    <a:noFill/>
                  </a:tcPr>
                </a:tc>
                <a:extLst>
                  <a:ext uri="{0D108BD9-81ED-4DB2-BD59-A6C34878D82A}">
                    <a16:rowId xmlns:a16="http://schemas.microsoft.com/office/drawing/2014/main" val="3529891327"/>
                  </a:ext>
                </a:extLst>
              </a:tr>
              <a:tr h="0">
                <a:tc>
                  <a:txBody>
                    <a:bodyPr/>
                    <a:lstStyle/>
                    <a:p>
                      <a:pPr>
                        <a:buNone/>
                      </a:pPr>
                      <a:r>
                        <a:rPr lang="en-IN" dirty="0"/>
                        <a:t>Stored on</a:t>
                      </a:r>
                    </a:p>
                  </a:txBody>
                  <a:tcPr anchor="ctr">
                    <a:lnL>
                      <a:noFill/>
                    </a:lnL>
                    <a:lnR>
                      <a:noFill/>
                    </a:lnR>
                    <a:lnT>
                      <a:noFill/>
                    </a:lnT>
                    <a:lnB>
                      <a:noFill/>
                    </a:lnB>
                    <a:noFill/>
                  </a:tcPr>
                </a:tc>
                <a:tc>
                  <a:txBody>
                    <a:bodyPr/>
                    <a:lstStyle/>
                    <a:p>
                      <a:pPr>
                        <a:buNone/>
                      </a:pPr>
                      <a:r>
                        <a:rPr lang="en-IN"/>
                        <a:t>Azure Managed Disk</a:t>
                      </a:r>
                    </a:p>
                  </a:txBody>
                  <a:tcPr anchor="ctr">
                    <a:lnL>
                      <a:noFill/>
                    </a:lnL>
                    <a:lnR>
                      <a:noFill/>
                    </a:lnR>
                    <a:lnT>
                      <a:noFill/>
                    </a:lnT>
                    <a:lnB>
                      <a:noFill/>
                    </a:lnB>
                    <a:noFill/>
                  </a:tcPr>
                </a:tc>
                <a:tc>
                  <a:txBody>
                    <a:bodyPr/>
                    <a:lstStyle/>
                    <a:p>
                      <a:pPr>
                        <a:buNone/>
                      </a:pPr>
                      <a:r>
                        <a:rPr lang="en-IN"/>
                        <a:t>Host local SSD / Cache / NVMe</a:t>
                      </a:r>
                    </a:p>
                  </a:txBody>
                  <a:tcPr anchor="ctr">
                    <a:lnL>
                      <a:noFill/>
                    </a:lnL>
                    <a:lnR>
                      <a:noFill/>
                    </a:lnR>
                    <a:lnT>
                      <a:noFill/>
                    </a:lnT>
                    <a:lnB>
                      <a:noFill/>
                    </a:lnB>
                    <a:noFill/>
                  </a:tcPr>
                </a:tc>
                <a:extLst>
                  <a:ext uri="{0D108BD9-81ED-4DB2-BD59-A6C34878D82A}">
                    <a16:rowId xmlns:a16="http://schemas.microsoft.com/office/drawing/2014/main" val="3557048501"/>
                  </a:ext>
                </a:extLst>
              </a:tr>
              <a:tr h="0">
                <a:tc>
                  <a:txBody>
                    <a:bodyPr/>
                    <a:lstStyle/>
                    <a:p>
                      <a:pPr>
                        <a:buNone/>
                      </a:pPr>
                      <a:r>
                        <a:rPr lang="en-IN"/>
                        <a:t>Persistent</a:t>
                      </a:r>
                    </a:p>
                  </a:txBody>
                  <a:tcPr anchor="ctr">
                    <a:lnL>
                      <a:noFill/>
                    </a:lnL>
                    <a:lnR>
                      <a:noFill/>
                    </a:lnR>
                    <a:lnT>
                      <a:noFill/>
                    </a:lnT>
                    <a:lnB>
                      <a:noFill/>
                    </a:lnB>
                    <a:noFill/>
                  </a:tcPr>
                </a:tc>
                <a:tc>
                  <a:txBody>
                    <a:bodyPr/>
                    <a:lstStyle/>
                    <a:p>
                      <a:pPr>
                        <a:buNone/>
                      </a:pPr>
                      <a:r>
                        <a:rPr lang="en-IN"/>
                        <a:t>✅ Yes</a:t>
                      </a:r>
                    </a:p>
                  </a:txBody>
                  <a:tcPr anchor="ctr">
                    <a:lnL>
                      <a:noFill/>
                    </a:lnL>
                    <a:lnR>
                      <a:noFill/>
                    </a:lnR>
                    <a:lnT>
                      <a:noFill/>
                    </a:lnT>
                    <a:lnB>
                      <a:noFill/>
                    </a:lnB>
                    <a:noFill/>
                  </a:tcPr>
                </a:tc>
                <a:tc>
                  <a:txBody>
                    <a:bodyPr/>
                    <a:lstStyle/>
                    <a:p>
                      <a:pPr>
                        <a:buNone/>
                      </a:pPr>
                      <a:r>
                        <a:rPr lang="en-IN"/>
                        <a:t>❌ No</a:t>
                      </a:r>
                    </a:p>
                  </a:txBody>
                  <a:tcPr anchor="ctr">
                    <a:lnL>
                      <a:noFill/>
                    </a:lnL>
                    <a:lnR>
                      <a:noFill/>
                    </a:lnR>
                    <a:lnT>
                      <a:noFill/>
                    </a:lnT>
                    <a:lnB>
                      <a:noFill/>
                    </a:lnB>
                    <a:noFill/>
                  </a:tcPr>
                </a:tc>
                <a:extLst>
                  <a:ext uri="{0D108BD9-81ED-4DB2-BD59-A6C34878D82A}">
                    <a16:rowId xmlns:a16="http://schemas.microsoft.com/office/drawing/2014/main" val="2441480814"/>
                  </a:ext>
                </a:extLst>
              </a:tr>
              <a:tr h="0">
                <a:tc>
                  <a:txBody>
                    <a:bodyPr/>
                    <a:lstStyle/>
                    <a:p>
                      <a:pPr>
                        <a:buNone/>
                      </a:pPr>
                      <a:r>
                        <a:rPr lang="en-IN"/>
                        <a:t>Survives host failure</a:t>
                      </a:r>
                    </a:p>
                  </a:txBody>
                  <a:tcPr anchor="ctr">
                    <a:lnL>
                      <a:noFill/>
                    </a:lnL>
                    <a:lnR>
                      <a:noFill/>
                    </a:lnR>
                    <a:lnT>
                      <a:noFill/>
                    </a:lnT>
                    <a:lnB>
                      <a:noFill/>
                    </a:lnB>
                    <a:noFill/>
                  </a:tcPr>
                </a:tc>
                <a:tc>
                  <a:txBody>
                    <a:bodyPr/>
                    <a:lstStyle/>
                    <a:p>
                      <a:pPr>
                        <a:buNone/>
                      </a:pPr>
                      <a:r>
                        <a:rPr lang="en-IN"/>
                        <a:t>✅ Yes</a:t>
                      </a:r>
                    </a:p>
                  </a:txBody>
                  <a:tcPr anchor="ctr">
                    <a:lnL>
                      <a:noFill/>
                    </a:lnL>
                    <a:lnR>
                      <a:noFill/>
                    </a:lnR>
                    <a:lnT>
                      <a:noFill/>
                    </a:lnT>
                    <a:lnB>
                      <a:noFill/>
                    </a:lnB>
                    <a:noFill/>
                  </a:tcPr>
                </a:tc>
                <a:tc>
                  <a:txBody>
                    <a:bodyPr/>
                    <a:lstStyle/>
                    <a:p>
                      <a:pPr>
                        <a:buNone/>
                      </a:pPr>
                      <a:r>
                        <a:rPr lang="en-IN"/>
                        <a:t>❌ No</a:t>
                      </a:r>
                    </a:p>
                  </a:txBody>
                  <a:tcPr anchor="ctr">
                    <a:lnL>
                      <a:noFill/>
                    </a:lnL>
                    <a:lnR>
                      <a:noFill/>
                    </a:lnR>
                    <a:lnT>
                      <a:noFill/>
                    </a:lnT>
                    <a:lnB>
                      <a:noFill/>
                    </a:lnB>
                    <a:noFill/>
                  </a:tcPr>
                </a:tc>
                <a:extLst>
                  <a:ext uri="{0D108BD9-81ED-4DB2-BD59-A6C34878D82A}">
                    <a16:rowId xmlns:a16="http://schemas.microsoft.com/office/drawing/2014/main" val="349578997"/>
                  </a:ext>
                </a:extLst>
              </a:tr>
              <a:tr h="0">
                <a:tc>
                  <a:txBody>
                    <a:bodyPr/>
                    <a:lstStyle/>
                    <a:p>
                      <a:pPr>
                        <a:buNone/>
                      </a:pPr>
                      <a:r>
                        <a:rPr lang="en-IN"/>
                        <a:t>Boot speed</a:t>
                      </a:r>
                    </a:p>
                  </a:txBody>
                  <a:tcPr anchor="ctr">
                    <a:lnL>
                      <a:noFill/>
                    </a:lnL>
                    <a:lnR>
                      <a:noFill/>
                    </a:lnR>
                    <a:lnT>
                      <a:noFill/>
                    </a:lnT>
                    <a:lnB>
                      <a:noFill/>
                    </a:lnB>
                    <a:noFill/>
                  </a:tcPr>
                </a:tc>
                <a:tc>
                  <a:txBody>
                    <a:bodyPr/>
                    <a:lstStyle/>
                    <a:p>
                      <a:pPr>
                        <a:buNone/>
                      </a:pPr>
                      <a:r>
                        <a:rPr lang="en-IN"/>
                        <a:t>Good</a:t>
                      </a:r>
                    </a:p>
                  </a:txBody>
                  <a:tcPr anchor="ctr">
                    <a:lnL>
                      <a:noFill/>
                    </a:lnL>
                    <a:lnR>
                      <a:noFill/>
                    </a:lnR>
                    <a:lnT>
                      <a:noFill/>
                    </a:lnT>
                    <a:lnB>
                      <a:noFill/>
                    </a:lnB>
                    <a:noFill/>
                  </a:tcPr>
                </a:tc>
                <a:tc>
                  <a:txBody>
                    <a:bodyPr/>
                    <a:lstStyle/>
                    <a:p>
                      <a:pPr>
                        <a:buNone/>
                      </a:pPr>
                      <a:r>
                        <a:rPr lang="en-IN"/>
                        <a:t>Excellent</a:t>
                      </a:r>
                    </a:p>
                  </a:txBody>
                  <a:tcPr anchor="ctr">
                    <a:lnL>
                      <a:noFill/>
                    </a:lnL>
                    <a:lnR>
                      <a:noFill/>
                    </a:lnR>
                    <a:lnT>
                      <a:noFill/>
                    </a:lnT>
                    <a:lnB>
                      <a:noFill/>
                    </a:lnB>
                    <a:noFill/>
                  </a:tcPr>
                </a:tc>
                <a:extLst>
                  <a:ext uri="{0D108BD9-81ED-4DB2-BD59-A6C34878D82A}">
                    <a16:rowId xmlns:a16="http://schemas.microsoft.com/office/drawing/2014/main" val="3183638520"/>
                  </a:ext>
                </a:extLst>
              </a:tr>
              <a:tr h="0">
                <a:tc>
                  <a:txBody>
                    <a:bodyPr/>
                    <a:lstStyle/>
                    <a:p>
                      <a:pPr>
                        <a:buNone/>
                      </a:pPr>
                      <a:r>
                        <a:rPr lang="en-IN"/>
                        <a:t>Reimage speed</a:t>
                      </a:r>
                    </a:p>
                  </a:txBody>
                  <a:tcPr anchor="ctr">
                    <a:lnL>
                      <a:noFill/>
                    </a:lnL>
                    <a:lnR>
                      <a:noFill/>
                    </a:lnR>
                    <a:lnT>
                      <a:noFill/>
                    </a:lnT>
                    <a:lnB>
                      <a:noFill/>
                    </a:lnB>
                    <a:noFill/>
                  </a:tcPr>
                </a:tc>
                <a:tc>
                  <a:txBody>
                    <a:bodyPr/>
                    <a:lstStyle/>
                    <a:p>
                      <a:pPr>
                        <a:buNone/>
                      </a:pPr>
                      <a:r>
                        <a:rPr lang="en-IN"/>
                        <a:t>Slower</a:t>
                      </a:r>
                    </a:p>
                  </a:txBody>
                  <a:tcPr anchor="ctr">
                    <a:lnL>
                      <a:noFill/>
                    </a:lnL>
                    <a:lnR>
                      <a:noFill/>
                    </a:lnR>
                    <a:lnT>
                      <a:noFill/>
                    </a:lnT>
                    <a:lnB>
                      <a:noFill/>
                    </a:lnB>
                    <a:noFill/>
                  </a:tcPr>
                </a:tc>
                <a:tc>
                  <a:txBody>
                    <a:bodyPr/>
                    <a:lstStyle/>
                    <a:p>
                      <a:pPr>
                        <a:buNone/>
                      </a:pPr>
                      <a:r>
                        <a:rPr lang="en-IN"/>
                        <a:t>Very fast</a:t>
                      </a:r>
                    </a:p>
                  </a:txBody>
                  <a:tcPr anchor="ctr">
                    <a:lnL>
                      <a:noFill/>
                    </a:lnL>
                    <a:lnR>
                      <a:noFill/>
                    </a:lnR>
                    <a:lnT>
                      <a:noFill/>
                    </a:lnT>
                    <a:lnB>
                      <a:noFill/>
                    </a:lnB>
                    <a:noFill/>
                  </a:tcPr>
                </a:tc>
                <a:extLst>
                  <a:ext uri="{0D108BD9-81ED-4DB2-BD59-A6C34878D82A}">
                    <a16:rowId xmlns:a16="http://schemas.microsoft.com/office/drawing/2014/main" val="1484170462"/>
                  </a:ext>
                </a:extLst>
              </a:tr>
              <a:tr h="0">
                <a:tc>
                  <a:txBody>
                    <a:bodyPr/>
                    <a:lstStyle/>
                    <a:p>
                      <a:pPr>
                        <a:buNone/>
                      </a:pPr>
                      <a:r>
                        <a:rPr lang="en-IN"/>
                        <a:t>Storage cost</a:t>
                      </a:r>
                    </a:p>
                  </a:txBody>
                  <a:tcPr anchor="ctr">
                    <a:lnL>
                      <a:noFill/>
                    </a:lnL>
                    <a:lnR>
                      <a:noFill/>
                    </a:lnR>
                    <a:lnT>
                      <a:noFill/>
                    </a:lnT>
                    <a:lnB>
                      <a:noFill/>
                    </a:lnB>
                    <a:noFill/>
                  </a:tcPr>
                </a:tc>
                <a:tc>
                  <a:txBody>
                    <a:bodyPr/>
                    <a:lstStyle/>
                    <a:p>
                      <a:pPr>
                        <a:buNone/>
                      </a:pPr>
                      <a:r>
                        <a:rPr lang="en-IN"/>
                        <a:t>Managed disk charges apply</a:t>
                      </a:r>
                    </a:p>
                  </a:txBody>
                  <a:tcPr anchor="ctr">
                    <a:lnL>
                      <a:noFill/>
                    </a:lnL>
                    <a:lnR>
                      <a:noFill/>
                    </a:lnR>
                    <a:lnT>
                      <a:noFill/>
                    </a:lnT>
                    <a:lnB>
                      <a:noFill/>
                    </a:lnB>
                    <a:noFill/>
                  </a:tcPr>
                </a:tc>
                <a:tc>
                  <a:txBody>
                    <a:bodyPr/>
                    <a:lstStyle/>
                    <a:p>
                      <a:pPr>
                        <a:buNone/>
                      </a:pPr>
                      <a:r>
                        <a:rPr lang="en-IN"/>
                        <a:t>No managed OS disk charge</a:t>
                      </a:r>
                    </a:p>
                  </a:txBody>
                  <a:tcPr anchor="ctr">
                    <a:lnL>
                      <a:noFill/>
                    </a:lnL>
                    <a:lnR>
                      <a:noFill/>
                    </a:lnR>
                    <a:lnT>
                      <a:noFill/>
                    </a:lnT>
                    <a:lnB>
                      <a:noFill/>
                    </a:lnB>
                    <a:noFill/>
                  </a:tcPr>
                </a:tc>
                <a:extLst>
                  <a:ext uri="{0D108BD9-81ED-4DB2-BD59-A6C34878D82A}">
                    <a16:rowId xmlns:a16="http://schemas.microsoft.com/office/drawing/2014/main" val="3302836334"/>
                  </a:ext>
                </a:extLst>
              </a:tr>
              <a:tr h="0">
                <a:tc>
                  <a:txBody>
                    <a:bodyPr/>
                    <a:lstStyle/>
                    <a:p>
                      <a:pPr>
                        <a:buNone/>
                      </a:pPr>
                      <a:r>
                        <a:rPr lang="en-IN" dirty="0"/>
                        <a:t>Best for</a:t>
                      </a:r>
                    </a:p>
                  </a:txBody>
                  <a:tcPr anchor="ctr">
                    <a:lnL>
                      <a:noFill/>
                    </a:lnL>
                    <a:lnR>
                      <a:noFill/>
                    </a:lnR>
                    <a:lnT>
                      <a:noFill/>
                    </a:lnT>
                    <a:lnB>
                      <a:noFill/>
                    </a:lnB>
                    <a:noFill/>
                  </a:tcPr>
                </a:tc>
                <a:tc>
                  <a:txBody>
                    <a:bodyPr/>
                    <a:lstStyle/>
                    <a:p>
                      <a:pPr>
                        <a:buNone/>
                      </a:pPr>
                      <a:r>
                        <a:rPr lang="en-IN"/>
                        <a:t>Production workloads</a:t>
                      </a:r>
                    </a:p>
                  </a:txBody>
                  <a:tcPr anchor="ctr">
                    <a:lnL>
                      <a:noFill/>
                    </a:lnL>
                    <a:lnR>
                      <a:noFill/>
                    </a:lnR>
                    <a:lnT>
                      <a:noFill/>
                    </a:lnT>
                    <a:lnB>
                      <a:noFill/>
                    </a:lnB>
                    <a:noFill/>
                  </a:tcPr>
                </a:tc>
                <a:tc>
                  <a:txBody>
                    <a:bodyPr/>
                    <a:lstStyle/>
                    <a:p>
                      <a:pPr>
                        <a:buNone/>
                      </a:pPr>
                      <a:r>
                        <a:rPr lang="en-IN" dirty="0"/>
                        <a:t>Stateless, disposable workloads</a:t>
                      </a:r>
                    </a:p>
                  </a:txBody>
                  <a:tcPr anchor="ctr">
                    <a:lnL>
                      <a:noFill/>
                    </a:lnL>
                    <a:lnR>
                      <a:noFill/>
                    </a:lnR>
                    <a:lnT>
                      <a:noFill/>
                    </a:lnT>
                    <a:lnB>
                      <a:noFill/>
                    </a:lnB>
                    <a:noFill/>
                  </a:tcPr>
                </a:tc>
                <a:extLst>
                  <a:ext uri="{0D108BD9-81ED-4DB2-BD59-A6C34878D82A}">
                    <a16:rowId xmlns:a16="http://schemas.microsoft.com/office/drawing/2014/main" val="1563973828"/>
                  </a:ext>
                </a:extLst>
              </a:tr>
            </a:tbl>
          </a:graphicData>
        </a:graphic>
      </p:graphicFrame>
    </p:spTree>
    <p:extLst>
      <p:ext uri="{BB962C8B-B14F-4D97-AF65-F5344CB8AC3E}">
        <p14:creationId xmlns:p14="http://schemas.microsoft.com/office/powerpoint/2010/main" val="143664302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1475C8-F2F4-6DB7-EC15-9E7AD2058F2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5CDBA93-6ABA-150E-6E19-EA3E247F00AA}"/>
              </a:ext>
            </a:extLst>
          </p:cNvPr>
          <p:cNvSpPr txBox="1"/>
          <p:nvPr/>
        </p:nvSpPr>
        <p:spPr>
          <a:xfrm>
            <a:off x="1556085" y="422987"/>
            <a:ext cx="8726905" cy="5632311"/>
          </a:xfrm>
          <a:prstGeom prst="rect">
            <a:avLst/>
          </a:prstGeom>
          <a:noFill/>
        </p:spPr>
        <p:txBody>
          <a:bodyPr wrap="square">
            <a:spAutoFit/>
          </a:bodyPr>
          <a:lstStyle/>
          <a:p>
            <a:pPr>
              <a:buNone/>
            </a:pPr>
            <a:r>
              <a:rPr lang="en-IN" dirty="0"/>
              <a:t>"So, don't think of a </a:t>
            </a:r>
            <a:r>
              <a:rPr lang="en-IN" b="1" dirty="0"/>
              <a:t>compromised web application</a:t>
            </a:r>
            <a:r>
              <a:rPr lang="en-IN" dirty="0"/>
              <a:t> as a different application. It's the </a:t>
            </a:r>
            <a:r>
              <a:rPr lang="en-IN" b="1" dirty="0"/>
              <a:t>same web application</a:t>
            </a:r>
            <a:r>
              <a:rPr lang="en-IN" dirty="0"/>
              <a:t> that was working normally, but an attacker has found a vulnerability, such as SQL Injection or Remote Code Execution, and is now using that application to run malicious commands. Normally, the web application only does its intended job, like displaying products, processing orders, or reading a specific secret from Azure Key Vault using its Managed Identity. But once it's compromised, the attacker may try to access sensitive Azure services like the </a:t>
            </a:r>
            <a:r>
              <a:rPr lang="en-IN" b="1" dirty="0"/>
              <a:t>Instance Metadata Service (IMDS)</a:t>
            </a:r>
            <a:r>
              <a:rPr lang="en-IN" dirty="0"/>
              <a:t> to obtain a Managed Identity access token, and then use that token to access other Azure resources such as Key Vault, Storage Accounts, or SQL databases. Azure doesn't simply label an application as 'compromised'; instead, security solutions like Microsoft Defender monitor its behaviour and look for suspicious activities, such as unexpected token requests, unusual network connections, or attempts to access resources the application has never used before. This is where the </a:t>
            </a:r>
            <a:r>
              <a:rPr lang="en-IN" b="1" dirty="0"/>
              <a:t>Metadata Security Protocol</a:t>
            </a:r>
            <a:r>
              <a:rPr lang="en-IN" dirty="0"/>
              <a:t> becomes important. It adds an extra security layer in front of IMDS and </a:t>
            </a:r>
            <a:r>
              <a:rPr lang="en-IN" dirty="0" err="1"/>
              <a:t>WireServer</a:t>
            </a:r>
            <a:r>
              <a:rPr lang="en-IN" dirty="0"/>
              <a:t> by using the </a:t>
            </a:r>
            <a:r>
              <a:rPr lang="en-IN" b="1" dirty="0"/>
              <a:t>Guest Proxy Agent</a:t>
            </a:r>
            <a:r>
              <a:rPr lang="en-IN" dirty="0"/>
              <a:t> and </a:t>
            </a:r>
            <a:r>
              <a:rPr lang="en-IN" b="1" dirty="0" err="1"/>
              <a:t>eBPF</a:t>
            </a:r>
            <a:r>
              <a:rPr lang="en-IN" dirty="0"/>
              <a:t> to verify that requests are coming from trusted and authorised applications. If an attacker tries to misuse the web application to steal Managed Identity tokens, the request can be blocked before it ever reaches IMDS. In simple words, Metadata Security Protocol helps ensure that even if an attacker manages to compromise a web application, they cannot easily use it as a stepping stone to gain access to the rest of your Azure environment."</a:t>
            </a:r>
          </a:p>
        </p:txBody>
      </p:sp>
    </p:spTree>
    <p:extLst>
      <p:ext uri="{BB962C8B-B14F-4D97-AF65-F5344CB8AC3E}">
        <p14:creationId xmlns:p14="http://schemas.microsoft.com/office/powerpoint/2010/main" val="18872226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2041</TotalTime>
  <Words>12044</Words>
  <Application>Microsoft Office PowerPoint</Application>
  <PresentationFormat>Widescreen</PresentationFormat>
  <Paragraphs>1913</Paragraphs>
  <Slides>95</Slides>
  <Notes>41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95</vt:i4>
      </vt:variant>
    </vt:vector>
  </HeadingPairs>
  <TitlesOfParts>
    <vt:vector size="100" baseType="lpstr">
      <vt:lpstr>Aptos</vt:lpstr>
      <vt:lpstr>Aptos Display</vt:lpstr>
      <vt:lpstr>Arial</vt:lpstr>
      <vt:lpstr>Courier New</vt:lpstr>
      <vt:lpstr>Office Theme</vt:lpstr>
      <vt:lpstr>Azure basics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Azure VM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Sanjay Dubey</dc:creator>
  <cp:lastModifiedBy>Sanjay Dubey</cp:lastModifiedBy>
  <cp:revision>4</cp:revision>
  <dcterms:created xsi:type="dcterms:W3CDTF">2026-07-12T07:38:25Z</dcterms:created>
  <dcterms:modified xsi:type="dcterms:W3CDTF">2026-07-26T07:47:32Z</dcterms:modified>
</cp:coreProperties>
</file>